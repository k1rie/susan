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 el equipo y el proyecto en una frase: un sistema que registra la asistencia a clase a partir del reconocimiento facial de los alumnos con cámaras en el aula.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pase de lista manual cuesta tiempo de clase, es fácil de falsear y deja los datos en papel. Los tres puntos de la derecha son los que el sistema ataca.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Punto clave: no es una foto del grupo. Durante la ventana de tolerancia las cámaras toman capturas cada pocos segundos, y la asistencia se decide consolidando varias lecturas del mismo alumno, no una sola.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almacenes con responsabilidades separadas. La base relacional no guarda ni vectores ni imágenes, solo el identificador del vector y la ruta del objeto.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Delimitar el alcance evita que el proyecto crezca sin control. Lo de la derecha no se descarta: queda fuera de esta primera versión.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Transición: de aquí en adelante se habla del modelo, que es el entregable de la actividad.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Doce entidades. Las cinco del bloque final son el módulo de captura: la plantilla, la versión del índice, la cámara, cada captura y cada rostro leído dentro de ella.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Primer bloque de atributos: el catálogo académico. Señalar las llaves primarias y foráneas de GRUPO, que es donde se amarran materia y docente.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Segundo bloque: la operación de la clase. En ASISTENCIA, conteo_detecciones es el número de lecturas válidas que respaldan el registro; es el dato que permite auditar una asistencia dudosa.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Tercer bloque. Aquí está la decisión de diseño: CAPTURA es cada muestra que toma una cámara y DETECCIÓN es cada rostro dentro de esa muestra. Una sesión acumula cientos de detecciones que luego se consolidan.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Recorrer el diagrama: arriba la línea de captura, abajo el alumno como punto de convergencia. La cadena SESIÓN → CAPTURA → DETECCIÓN es la que permite muchas lecturas por sesión; INSCRIPCIÓN resuelve el N:M.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Trece relaciones. Detenerse en la tres, que es la única N:M, y en la trece: varias detecciones respaldan un mismo registro de asistencia, por eso es N:1 y no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Reglas de registro. La RN-05 es la que responde a la imprecisión: no basta una lectura, hacen falta varias en capturas distintas. Los umbrales de la RN-03, RN-04 y RN-05 son parámetros que el equipo debe calibrar.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Reglas de control. La RN-10 y la RN-11 vienen del reglamento escolar y hay que confirmarlas; la RN-12 explica por qué el índice está versionado.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parte es la que más preguntas genera. La decisión de diseño clave: la base relacional no contiene ningún dato biométrico, solo referencias, y el consentimiento es una entidad del modelo.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con el plan y con las preguntas abiertas: el intervalo de muestreo, el umbral de similitud y el mínimo de detecciones son los parámetros que hay que calibrar con datos reales.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A5F"/>
        </a:solidFill>
      </p:bgPr>
    </p:bg>
    <p:spTree>
      <p:nvGrpSpPr>
        <p:cNvPr id="1" name=""/>
        <p:cNvGrpSpPr/>
        <p:nvPr/>
      </p:nvGrpSpPr>
      <p:grpSpPr>
        <a:xfrm>
          <a:off x="0" y="0"/>
          <a:ext cx="0" cy="0"/>
          <a:chOff x="0" y="0"/>
          <a:chExt cx="0" cy="0"/>
        </a:xfrm>
      </p:grpSpPr>
      <p:sp>
        <p:nvSpPr>
          <p:cNvPr id="2" name="Text 0"/>
          <p:cNvSpPr/>
          <p:nvPr/>
        </p:nvSpPr>
        <p:spPr>
          <a:xfrm>
            <a:off x="952500" y="952500"/>
            <a:ext cx="18021300" cy="3333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A8BBD6"/>
                </a:solidFill>
                <a:latin typeface="Courier New" pitchFamily="34" charset="0"/>
                <a:ea typeface="Courier New" pitchFamily="34" charset="-122"/>
                <a:cs typeface="Courier New" pitchFamily="34" charset="-120"/>
              </a:rPr>
              <a:t>DISEÑO DE BASES DE DATOS · PROYECTO INTEGRADOR</a:t>
            </a:r>
            <a:endParaRPr lang="en-US" sz="1800" dirty="0"/>
          </a:p>
        </p:txBody>
      </p:sp>
      <p:sp>
        <p:nvSpPr>
          <p:cNvPr id="3" name="Text 1"/>
          <p:cNvSpPr/>
          <p:nvPr/>
        </p:nvSpPr>
        <p:spPr>
          <a:xfrm>
            <a:off x="952500" y="2975372"/>
            <a:ext cx="14225588" cy="2013198"/>
          </a:xfrm>
          <a:prstGeom prst="rect">
            <a:avLst/>
          </a:prstGeom>
          <a:noFill/>
          <a:ln/>
        </p:spPr>
        <p:txBody>
          <a:bodyPr wrap="square" lIns="25400" tIns="25400" rIns="25400" bIns="25400" rtlCol="0" anchor="t">
            <a:normAutofit/>
          </a:bodyPr>
          <a:lstStyle/>
          <a:p>
            <a:pPr algn="l" indent="0" marL="0">
              <a:lnSpc>
                <a:spcPct val="95119"/>
              </a:lnSpc>
              <a:buNone/>
            </a:pPr>
            <a:r>
              <a:rPr lang="en-US" sz="7200" b="1" spc="-144" kern="0" dirty="0">
                <a:solidFill>
                  <a:srgbClr val="F7F8FA"/>
                </a:solidFill>
                <a:latin typeface="Georgia" pitchFamily="34" charset="0"/>
                <a:ea typeface="Georgia" pitchFamily="34" charset="-122"/>
                <a:cs typeface="Georgia" pitchFamily="34" charset="-120"/>
              </a:rPr>
              <a:t>Registro de asistencia por reconocimiento facial</a:t>
            </a:r>
            <a:endParaRPr lang="en-US" sz="7200" dirty="0"/>
          </a:p>
        </p:txBody>
      </p:sp>
      <p:sp>
        <p:nvSpPr>
          <p:cNvPr id="4" name="Text 2"/>
          <p:cNvSpPr/>
          <p:nvPr/>
        </p:nvSpPr>
        <p:spPr>
          <a:xfrm>
            <a:off x="952500" y="5293370"/>
            <a:ext cx="11282363" cy="1051471"/>
          </a:xfrm>
          <a:prstGeom prst="rect">
            <a:avLst/>
          </a:prstGeom>
          <a:noFill/>
          <a:ln/>
        </p:spPr>
        <p:txBody>
          <a:bodyPr wrap="square" lIns="25400" tIns="25400" rIns="25400" bIns="25400" rtlCol="0" anchor="t">
            <a:normAutofit/>
          </a:bodyPr>
          <a:lstStyle/>
          <a:p>
            <a:pPr algn="l" indent="0" marL="0">
              <a:lnSpc>
                <a:spcPct val="122299"/>
              </a:lnSpc>
              <a:buNone/>
            </a:pPr>
            <a:r>
              <a:rPr lang="en-US" sz="2850" dirty="0">
                <a:solidFill>
                  <a:srgbClr val="C6D3E5"/>
                </a:solidFill>
                <a:latin typeface="Arial" pitchFamily="34" charset="0"/>
                <a:ea typeface="Arial" pitchFamily="34" charset="-122"/>
                <a:cs typeface="Arial" pitchFamily="34" charset="-120"/>
              </a:rPr>
              <a:t>Definición del modelo de datos: entidades, atributos, relaciones y reglas de negocio.</a:t>
            </a:r>
            <a:endParaRPr lang="en-US" sz="2850" dirty="0"/>
          </a:p>
        </p:txBody>
      </p:sp>
      <p:sp>
        <p:nvSpPr>
          <p:cNvPr id="5" name="Text 3"/>
          <p:cNvSpPr/>
          <p:nvPr/>
        </p:nvSpPr>
        <p:spPr>
          <a:xfrm>
            <a:off x="952500" y="8034338"/>
            <a:ext cx="9889123" cy="333375"/>
          </a:xfrm>
          <a:prstGeom prst="rect">
            <a:avLst/>
          </a:prstGeom>
          <a:noFill/>
          <a:ln/>
        </p:spPr>
        <p:txBody>
          <a:bodyPr wrap="square" lIns="25400" tIns="25400" rIns="25400" bIns="25400" rtlCol="0" anchor="t">
            <a:normAutofit/>
          </a:bodyPr>
          <a:lstStyle/>
          <a:p>
            <a:pPr algn="l" indent="0" marL="0">
              <a:buNone/>
            </a:pPr>
            <a:r>
              <a:rPr lang="en-US" sz="1800" spc="216" kern="0" dirty="0">
                <a:solidFill>
                  <a:srgbClr val="8FA6C6"/>
                </a:solidFill>
                <a:latin typeface="Courier New" pitchFamily="34" charset="0"/>
                <a:ea typeface="Courier New" pitchFamily="34" charset="-122"/>
                <a:cs typeface="Courier New" pitchFamily="34" charset="-120"/>
              </a:rPr>
              <a:t>INTEGRANTES</a:t>
            </a:r>
            <a:endParaRPr lang="en-US" sz="1800" dirty="0"/>
          </a:p>
        </p:txBody>
      </p:sp>
      <p:sp>
        <p:nvSpPr>
          <p:cNvPr id="6" name="Text 4"/>
          <p:cNvSpPr/>
          <p:nvPr/>
        </p:nvSpPr>
        <p:spPr>
          <a:xfrm>
            <a:off x="952500" y="8462963"/>
            <a:ext cx="4525461" cy="328613"/>
          </a:xfrm>
          <a:prstGeom prst="rect">
            <a:avLst/>
          </a:prstGeom>
          <a:noFill/>
          <a:ln/>
        </p:spPr>
        <p:txBody>
          <a:bodyPr wrap="square" lIns="25400" tIns="25400" rIns="25400" bIns="25400" rtlCol="0" anchor="t">
            <a:normAutofit/>
          </a:bodyPr>
          <a:lstStyle/>
          <a:p>
            <a:pPr algn="l" indent="0" marL="0">
              <a:buNone/>
            </a:pPr>
            <a:r>
              <a:rPr lang="en-US" sz="2100" dirty="0">
                <a:solidFill>
                  <a:srgbClr val="F7F8FA"/>
                </a:solidFill>
                <a:latin typeface="Arial" pitchFamily="34" charset="0"/>
                <a:ea typeface="Arial" pitchFamily="34" charset="-122"/>
                <a:cs typeface="Arial" pitchFamily="34" charset="-120"/>
              </a:rPr>
              <a:t>Casanova Pérez Gabriela</a:t>
            </a:r>
            <a:endParaRPr lang="en-US" sz="2100" dirty="0"/>
          </a:p>
        </p:txBody>
      </p:sp>
      <p:sp>
        <p:nvSpPr>
          <p:cNvPr id="7" name="Text 5"/>
          <p:cNvSpPr/>
          <p:nvPr/>
        </p:nvSpPr>
        <p:spPr>
          <a:xfrm>
            <a:off x="5828556" y="8462963"/>
            <a:ext cx="4525461" cy="328613"/>
          </a:xfrm>
          <a:prstGeom prst="rect">
            <a:avLst/>
          </a:prstGeom>
          <a:noFill/>
          <a:ln/>
        </p:spPr>
        <p:txBody>
          <a:bodyPr wrap="square" lIns="25400" tIns="25400" rIns="25400" bIns="25400" rtlCol="0" anchor="t">
            <a:normAutofit/>
          </a:bodyPr>
          <a:lstStyle/>
          <a:p>
            <a:pPr algn="l" indent="0" marL="0">
              <a:buNone/>
            </a:pPr>
            <a:r>
              <a:rPr lang="en-US" sz="2100" dirty="0">
                <a:solidFill>
                  <a:srgbClr val="F7F8FA"/>
                </a:solidFill>
                <a:latin typeface="Arial" pitchFamily="34" charset="0"/>
                <a:ea typeface="Arial" pitchFamily="34" charset="-122"/>
                <a:cs typeface="Arial" pitchFamily="34" charset="-120"/>
              </a:rPr>
              <a:t>Gonzalez Guerrero Diego Enrique</a:t>
            </a:r>
            <a:endParaRPr lang="en-US" sz="2100" dirty="0"/>
          </a:p>
        </p:txBody>
      </p:sp>
      <p:sp>
        <p:nvSpPr>
          <p:cNvPr id="8" name="Text 6"/>
          <p:cNvSpPr/>
          <p:nvPr/>
        </p:nvSpPr>
        <p:spPr>
          <a:xfrm>
            <a:off x="952500" y="8848725"/>
            <a:ext cx="4525461" cy="328613"/>
          </a:xfrm>
          <a:prstGeom prst="rect">
            <a:avLst/>
          </a:prstGeom>
          <a:noFill/>
          <a:ln/>
        </p:spPr>
        <p:txBody>
          <a:bodyPr wrap="square" lIns="25400" tIns="25400" rIns="25400" bIns="25400" rtlCol="0" anchor="t">
            <a:normAutofit/>
          </a:bodyPr>
          <a:lstStyle/>
          <a:p>
            <a:pPr algn="l" indent="0" marL="0">
              <a:buNone/>
            </a:pPr>
            <a:r>
              <a:rPr lang="en-US" sz="2100" dirty="0">
                <a:solidFill>
                  <a:srgbClr val="F7F8FA"/>
                </a:solidFill>
                <a:latin typeface="Arial" pitchFamily="34" charset="0"/>
                <a:ea typeface="Arial" pitchFamily="34" charset="-122"/>
                <a:cs typeface="Arial" pitchFamily="34" charset="-120"/>
              </a:rPr>
              <a:t>Escobar Domínguez Josué Gabriel</a:t>
            </a:r>
            <a:endParaRPr lang="en-US" sz="2100" dirty="0"/>
          </a:p>
        </p:txBody>
      </p:sp>
      <p:sp>
        <p:nvSpPr>
          <p:cNvPr id="9" name="Text 7"/>
          <p:cNvSpPr/>
          <p:nvPr/>
        </p:nvSpPr>
        <p:spPr>
          <a:xfrm>
            <a:off x="5828556" y="8848725"/>
            <a:ext cx="4525461" cy="328613"/>
          </a:xfrm>
          <a:prstGeom prst="rect">
            <a:avLst/>
          </a:prstGeom>
          <a:noFill/>
          <a:ln/>
        </p:spPr>
        <p:txBody>
          <a:bodyPr wrap="square" lIns="25400" tIns="25400" rIns="25400" bIns="25400" rtlCol="0" anchor="t">
            <a:normAutofit/>
          </a:bodyPr>
          <a:lstStyle/>
          <a:p>
            <a:pPr algn="l" indent="0" marL="0">
              <a:buNone/>
            </a:pPr>
            <a:r>
              <a:rPr lang="en-US" sz="2100" dirty="0">
                <a:solidFill>
                  <a:srgbClr val="F7F8FA"/>
                </a:solidFill>
                <a:latin typeface="Arial" pitchFamily="34" charset="0"/>
                <a:ea typeface="Arial" pitchFamily="34" charset="-122"/>
                <a:cs typeface="Arial" pitchFamily="34" charset="-120"/>
              </a:rPr>
              <a:t>Peña Morales José Manuel</a:t>
            </a:r>
            <a:endParaRPr lang="en-US" sz="2100" dirty="0"/>
          </a:p>
        </p:txBody>
      </p:sp>
      <p:sp>
        <p:nvSpPr>
          <p:cNvPr id="10" name="Text 8"/>
          <p:cNvSpPr/>
          <p:nvPr/>
        </p:nvSpPr>
        <p:spPr>
          <a:xfrm>
            <a:off x="952500" y="9234488"/>
            <a:ext cx="4525461" cy="328613"/>
          </a:xfrm>
          <a:prstGeom prst="rect">
            <a:avLst/>
          </a:prstGeom>
          <a:noFill/>
          <a:ln/>
        </p:spPr>
        <p:txBody>
          <a:bodyPr wrap="square" lIns="25400" tIns="25400" rIns="25400" bIns="25400" rtlCol="0" anchor="t">
            <a:normAutofit/>
          </a:bodyPr>
          <a:lstStyle/>
          <a:p>
            <a:pPr algn="l" indent="0" marL="0">
              <a:buNone/>
            </a:pPr>
            <a:r>
              <a:rPr lang="en-US" sz="2100" dirty="0">
                <a:solidFill>
                  <a:srgbClr val="F7F8FA"/>
                </a:solidFill>
                <a:latin typeface="Arial" pitchFamily="34" charset="0"/>
                <a:ea typeface="Arial" pitchFamily="34" charset="-122"/>
                <a:cs typeface="Arial" pitchFamily="34" charset="-120"/>
              </a:rPr>
              <a:t>Gómez Delgado Ades Yasir</a:t>
            </a:r>
            <a:endParaRPr lang="en-US" sz="2100" dirty="0"/>
          </a:p>
        </p:txBody>
      </p:sp>
      <p:sp>
        <p:nvSpPr>
          <p:cNvPr id="11" name="Text 9"/>
          <p:cNvSpPr/>
          <p:nvPr/>
        </p:nvSpPr>
        <p:spPr>
          <a:xfrm>
            <a:off x="5828556" y="9234488"/>
            <a:ext cx="4525461" cy="328613"/>
          </a:xfrm>
          <a:prstGeom prst="rect">
            <a:avLst/>
          </a:prstGeom>
          <a:noFill/>
          <a:ln/>
        </p:spPr>
        <p:txBody>
          <a:bodyPr wrap="square" lIns="25400" tIns="25400" rIns="25400" bIns="25400" rtlCol="0" anchor="t">
            <a:normAutofit/>
          </a:bodyPr>
          <a:lstStyle/>
          <a:p>
            <a:pPr algn="l" indent="0" marL="0">
              <a:buNone/>
            </a:pPr>
            <a:r>
              <a:rPr lang="en-US" sz="2100" dirty="0">
                <a:solidFill>
                  <a:srgbClr val="F7F8FA"/>
                </a:solidFill>
                <a:latin typeface="Arial" pitchFamily="34" charset="0"/>
                <a:ea typeface="Arial" pitchFamily="34" charset="-122"/>
                <a:cs typeface="Arial" pitchFamily="34" charset="-120"/>
              </a:rPr>
              <a:t>Pérez Hernández Alan Eduardo</a:t>
            </a:r>
            <a:endParaRPr lang="en-US" sz="2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952500" y="952500"/>
            <a:ext cx="18021300" cy="3333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1F3A5F"/>
                </a:solidFill>
                <a:latin typeface="Courier New" pitchFamily="34" charset="0"/>
                <a:ea typeface="Courier New" pitchFamily="34" charset="-122"/>
                <a:cs typeface="Courier New" pitchFamily="34" charset="-120"/>
              </a:rPr>
              <a:t>PROBLEMÁTICA</a:t>
            </a:r>
            <a:endParaRPr lang="en-US" sz="1800" dirty="0"/>
          </a:p>
        </p:txBody>
      </p:sp>
      <p:sp>
        <p:nvSpPr>
          <p:cNvPr id="3" name="Text 1"/>
          <p:cNvSpPr/>
          <p:nvPr/>
        </p:nvSpPr>
        <p:spPr>
          <a:xfrm>
            <a:off x="952500" y="1476375"/>
            <a:ext cx="13735050" cy="1427857"/>
          </a:xfrm>
          <a:prstGeom prst="rect">
            <a:avLst/>
          </a:prstGeom>
          <a:noFill/>
          <a:ln/>
        </p:spPr>
        <p:txBody>
          <a:bodyPr wrap="square" lIns="25400" tIns="25400" rIns="25400" bIns="25400" rtlCol="0" anchor="t">
            <a:normAutofit/>
          </a:bodyPr>
          <a:lstStyle/>
          <a:p>
            <a:pPr algn="l" indent="0" marL="0">
              <a:lnSpc>
                <a:spcPct val="100634"/>
              </a:lnSpc>
              <a:buNone/>
            </a:pPr>
            <a:r>
              <a:rPr lang="en-US" sz="4800" b="1" spc="-72" kern="0" dirty="0">
                <a:solidFill>
                  <a:srgbClr val="16181D"/>
                </a:solidFill>
                <a:latin typeface="Georgia" pitchFamily="34" charset="0"/>
                <a:ea typeface="Georgia" pitchFamily="34" charset="-122"/>
                <a:cs typeface="Georgia" pitchFamily="34" charset="-120"/>
              </a:rPr>
              <a:t>El pase de lista manual consume tiempo de clase y produce registros poco confiables</a:t>
            </a:r>
            <a:endParaRPr lang="en-US" sz="4800" dirty="0"/>
          </a:p>
        </p:txBody>
      </p:sp>
      <p:sp>
        <p:nvSpPr>
          <p:cNvPr id="4" name="Text 2"/>
          <p:cNvSpPr/>
          <p:nvPr/>
        </p:nvSpPr>
        <p:spPr>
          <a:xfrm>
            <a:off x="952500" y="3475732"/>
            <a:ext cx="7392247" cy="1981200"/>
          </a:xfrm>
          <a:prstGeom prst="rect">
            <a:avLst/>
          </a:prstGeom>
          <a:noFill/>
          <a:ln/>
        </p:spPr>
        <p:txBody>
          <a:bodyPr wrap="square" lIns="25400" tIns="25400" rIns="25400" bIns="25400" rtlCol="0" anchor="t">
            <a:normAutofit/>
          </a:bodyPr>
          <a:lstStyle/>
          <a:p>
            <a:pPr algn="l" indent="0" marL="0">
              <a:lnSpc>
                <a:spcPct val="130769"/>
              </a:lnSpc>
              <a:buNone/>
            </a:pPr>
            <a:r>
              <a:rPr lang="en-US" sz="2550" dirty="0">
                <a:solidFill>
                  <a:srgbClr val="3C4250"/>
                </a:solidFill>
                <a:latin typeface="Arial" pitchFamily="34" charset="0"/>
                <a:ea typeface="Arial" pitchFamily="34" charset="-122"/>
                <a:cs typeface="Arial" pitchFamily="34" charset="-120"/>
              </a:rPr>
              <a:t>Hoy el docente nombra a cada alumno al inicio de la sesión y anota el resultado en una lista impresa. El conteo final se captura otra vez, a mano, al cierre del periodo.</a:t>
            </a:r>
            <a:endParaRPr lang="en-US" sz="2550" dirty="0"/>
          </a:p>
        </p:txBody>
      </p:sp>
      <p:sp>
        <p:nvSpPr>
          <p:cNvPr id="5" name="Shape 3"/>
          <p:cNvSpPr/>
          <p:nvPr/>
        </p:nvSpPr>
        <p:spPr>
          <a:xfrm>
            <a:off x="952500" y="5704582"/>
            <a:ext cx="7176939" cy="2242096"/>
          </a:xfrm>
          <a:prstGeom prst="rect">
            <a:avLst/>
          </a:prstGeom>
          <a:solidFill>
            <a:srgbClr val="FFFFFF"/>
          </a:solidFill>
          <a:ln w="14288">
            <a:solidFill>
              <a:srgbClr val="D5D9E0"/>
            </a:solidFill>
            <a:prstDash val="solid"/>
          </a:ln>
        </p:spPr>
      </p:sp>
      <p:sp>
        <p:nvSpPr>
          <p:cNvPr id="6" name="Text 4"/>
          <p:cNvSpPr/>
          <p:nvPr/>
        </p:nvSpPr>
        <p:spPr>
          <a:xfrm>
            <a:off x="1328738" y="6042720"/>
            <a:ext cx="7066910" cy="762000"/>
          </a:xfrm>
          <a:prstGeom prst="rect">
            <a:avLst/>
          </a:prstGeom>
          <a:noFill/>
          <a:ln/>
        </p:spPr>
        <p:txBody>
          <a:bodyPr wrap="square" lIns="25400" tIns="25400" rIns="25400" bIns="25400" rtlCol="0" anchor="t">
            <a:normAutofit/>
          </a:bodyPr>
          <a:lstStyle/>
          <a:p>
            <a:pPr algn="l" indent="0" marL="0">
              <a:lnSpc>
                <a:spcPct val="88372"/>
              </a:lnSpc>
              <a:buNone/>
            </a:pPr>
            <a:r>
              <a:rPr lang="en-US" sz="5700" b="1" dirty="0">
                <a:solidFill>
                  <a:srgbClr val="1F3A5F"/>
                </a:solidFill>
                <a:latin typeface="Georgia" pitchFamily="34" charset="0"/>
                <a:ea typeface="Georgia" pitchFamily="34" charset="-122"/>
                <a:cs typeface="Georgia" pitchFamily="34" charset="-120"/>
              </a:rPr>
              <a:t>4 h</a:t>
            </a:r>
            <a:endParaRPr lang="en-US" sz="5700" dirty="0"/>
          </a:p>
        </p:txBody>
      </p:sp>
      <p:sp>
        <p:nvSpPr>
          <p:cNvPr id="7" name="Text 5"/>
          <p:cNvSpPr/>
          <p:nvPr/>
        </p:nvSpPr>
        <p:spPr>
          <a:xfrm>
            <a:off x="1328738" y="6861870"/>
            <a:ext cx="6617198" cy="784771"/>
          </a:xfrm>
          <a:prstGeom prst="rect">
            <a:avLst/>
          </a:prstGeom>
          <a:noFill/>
          <a:ln/>
        </p:spPr>
        <p:txBody>
          <a:bodyPr wrap="square" lIns="25400" tIns="25400" rIns="25400" bIns="25400" rtlCol="0" anchor="t">
            <a:normAutofit/>
          </a:bodyPr>
          <a:lstStyle/>
          <a:p>
            <a:pPr algn="l" indent="0" marL="0">
              <a:lnSpc>
                <a:spcPct val="120615"/>
              </a:lnSpc>
              <a:buNone/>
            </a:pPr>
            <a:r>
              <a:rPr lang="en-US" sz="2100" dirty="0">
                <a:solidFill>
                  <a:srgbClr val="5A6070"/>
                </a:solidFill>
                <a:latin typeface="Arial" pitchFamily="34" charset="0"/>
                <a:ea typeface="Arial" pitchFamily="34" charset="-122"/>
                <a:cs typeface="Arial" pitchFamily="34" charset="-120"/>
              </a:rPr>
              <a:t>de clase por grupo al semestre, con 5 minutos de pase de lista en 3 sesiones semanales durante 16 semanas.</a:t>
            </a:r>
            <a:endParaRPr lang="en-US" sz="2100" dirty="0"/>
          </a:p>
        </p:txBody>
      </p:sp>
      <p:sp>
        <p:nvSpPr>
          <p:cNvPr id="8" name="Shape 6"/>
          <p:cNvSpPr/>
          <p:nvPr/>
        </p:nvSpPr>
        <p:spPr>
          <a:xfrm>
            <a:off x="9081939" y="3475732"/>
            <a:ext cx="8253487" cy="14288"/>
          </a:xfrm>
          <a:prstGeom prst="rect">
            <a:avLst/>
          </a:prstGeom>
          <a:solidFill>
            <a:srgbClr val="1F3A5F"/>
          </a:solidFill>
          <a:ln/>
        </p:spPr>
      </p:sp>
      <p:sp>
        <p:nvSpPr>
          <p:cNvPr id="9" name="Text 7"/>
          <p:cNvSpPr/>
          <p:nvPr/>
        </p:nvSpPr>
        <p:spPr>
          <a:xfrm>
            <a:off x="9081939" y="3785295"/>
            <a:ext cx="373410" cy="357188"/>
          </a:xfrm>
          <a:prstGeom prst="rect">
            <a:avLst/>
          </a:prstGeom>
          <a:noFill/>
          <a:ln/>
        </p:spPr>
        <p:txBody>
          <a:bodyPr wrap="square" lIns="25400" tIns="25400" rIns="25400" bIns="25400" rtlCol="0" anchor="t">
            <a:normAutofit/>
          </a:bodyPr>
          <a:lstStyle/>
          <a:p>
            <a:pPr algn="l" indent="0" marL="0">
              <a:buNone/>
            </a:pPr>
            <a:r>
              <a:rPr lang="en-US" sz="1950" dirty="0">
                <a:solidFill>
                  <a:srgbClr val="1F3A5F"/>
                </a:solidFill>
                <a:latin typeface="Courier New" pitchFamily="34" charset="0"/>
                <a:ea typeface="Courier New" pitchFamily="34" charset="-122"/>
                <a:cs typeface="Courier New" pitchFamily="34" charset="-120"/>
              </a:rPr>
              <a:t>01</a:t>
            </a:r>
            <a:endParaRPr lang="en-US" sz="1950" dirty="0"/>
          </a:p>
        </p:txBody>
      </p:sp>
      <p:sp>
        <p:nvSpPr>
          <p:cNvPr id="10" name="Text 8"/>
          <p:cNvSpPr/>
          <p:nvPr/>
        </p:nvSpPr>
        <p:spPr>
          <a:xfrm>
            <a:off x="9626798" y="3718620"/>
            <a:ext cx="7939886" cy="921990"/>
          </a:xfrm>
          <a:prstGeom prst="rect">
            <a:avLst/>
          </a:prstGeom>
          <a:noFill/>
          <a:ln/>
        </p:spPr>
        <p:txBody>
          <a:bodyPr wrap="square" lIns="25400" tIns="25400" rIns="25400" bIns="25400" rtlCol="0" anchor="t">
            <a:normAutofit/>
          </a:bodyPr>
          <a:lstStyle/>
          <a:p>
            <a:pPr algn="l" indent="0" marL="0">
              <a:lnSpc>
                <a:spcPct val="125405"/>
              </a:lnSpc>
              <a:buNone/>
            </a:pPr>
            <a:r>
              <a:rPr lang="en-US" sz="2400" dirty="0">
                <a:solidFill>
                  <a:srgbClr val="16181D"/>
                </a:solidFill>
                <a:latin typeface="Arial" pitchFamily="34" charset="0"/>
                <a:ea typeface="Arial" pitchFamily="34" charset="-122"/>
                <a:cs typeface="Arial" pitchFamily="34" charset="-120"/>
              </a:rPr>
              <a:t>El registro depende de que el alumno responda: se presta a suplantación y a errores de captura.</a:t>
            </a:r>
            <a:endParaRPr lang="en-US" sz="2400" dirty="0"/>
          </a:p>
        </p:txBody>
      </p:sp>
      <p:sp>
        <p:nvSpPr>
          <p:cNvPr id="11" name="Shape 9"/>
          <p:cNvSpPr/>
          <p:nvPr/>
        </p:nvSpPr>
        <p:spPr>
          <a:xfrm>
            <a:off x="9081939" y="4869210"/>
            <a:ext cx="8253487" cy="14288"/>
          </a:xfrm>
          <a:prstGeom prst="rect">
            <a:avLst/>
          </a:prstGeom>
          <a:solidFill>
            <a:srgbClr val="1F3A5F"/>
          </a:solidFill>
          <a:ln/>
        </p:spPr>
      </p:sp>
      <p:sp>
        <p:nvSpPr>
          <p:cNvPr id="12" name="Text 10"/>
          <p:cNvSpPr/>
          <p:nvPr/>
        </p:nvSpPr>
        <p:spPr>
          <a:xfrm>
            <a:off x="9081939" y="5178772"/>
            <a:ext cx="373410" cy="357188"/>
          </a:xfrm>
          <a:prstGeom prst="rect">
            <a:avLst/>
          </a:prstGeom>
          <a:noFill/>
          <a:ln/>
        </p:spPr>
        <p:txBody>
          <a:bodyPr wrap="square" lIns="25400" tIns="25400" rIns="25400" bIns="25400" rtlCol="0" anchor="t">
            <a:normAutofit/>
          </a:bodyPr>
          <a:lstStyle/>
          <a:p>
            <a:pPr algn="l" indent="0" marL="0">
              <a:buNone/>
            </a:pPr>
            <a:r>
              <a:rPr lang="en-US" sz="1950" dirty="0">
                <a:solidFill>
                  <a:srgbClr val="1F3A5F"/>
                </a:solidFill>
                <a:latin typeface="Courier New" pitchFamily="34" charset="0"/>
                <a:ea typeface="Courier New" pitchFamily="34" charset="-122"/>
                <a:cs typeface="Courier New" pitchFamily="34" charset="-120"/>
              </a:rPr>
              <a:t>02</a:t>
            </a:r>
            <a:endParaRPr lang="en-US" sz="1950" dirty="0"/>
          </a:p>
        </p:txBody>
      </p:sp>
      <p:sp>
        <p:nvSpPr>
          <p:cNvPr id="13" name="Text 11"/>
          <p:cNvSpPr/>
          <p:nvPr/>
        </p:nvSpPr>
        <p:spPr>
          <a:xfrm>
            <a:off x="9626798" y="5112097"/>
            <a:ext cx="7939886" cy="921990"/>
          </a:xfrm>
          <a:prstGeom prst="rect">
            <a:avLst/>
          </a:prstGeom>
          <a:noFill/>
          <a:ln/>
        </p:spPr>
        <p:txBody>
          <a:bodyPr wrap="square" lIns="25400" tIns="25400" rIns="25400" bIns="25400" rtlCol="0" anchor="t">
            <a:normAutofit/>
          </a:bodyPr>
          <a:lstStyle/>
          <a:p>
            <a:pPr algn="l" indent="0" marL="0">
              <a:lnSpc>
                <a:spcPct val="125405"/>
              </a:lnSpc>
              <a:buNone/>
            </a:pPr>
            <a:r>
              <a:rPr lang="en-US" sz="2400" dirty="0">
                <a:solidFill>
                  <a:srgbClr val="16181D"/>
                </a:solidFill>
                <a:latin typeface="Arial" pitchFamily="34" charset="0"/>
                <a:ea typeface="Arial" pitchFamily="34" charset="-122"/>
                <a:cs typeface="Arial" pitchFamily="34" charset="-120"/>
              </a:rPr>
              <a:t>No hay historial consultable: el alumno no sabe cuántas faltas acumula hasta que es tarde.</a:t>
            </a:r>
            <a:endParaRPr lang="en-US" sz="2400" dirty="0"/>
          </a:p>
        </p:txBody>
      </p:sp>
      <p:sp>
        <p:nvSpPr>
          <p:cNvPr id="14" name="Shape 12"/>
          <p:cNvSpPr/>
          <p:nvPr/>
        </p:nvSpPr>
        <p:spPr>
          <a:xfrm>
            <a:off x="9081939" y="6262688"/>
            <a:ext cx="8253487" cy="14288"/>
          </a:xfrm>
          <a:prstGeom prst="rect">
            <a:avLst/>
          </a:prstGeom>
          <a:solidFill>
            <a:srgbClr val="1F3A5F"/>
          </a:solidFill>
          <a:ln/>
        </p:spPr>
      </p:sp>
      <p:sp>
        <p:nvSpPr>
          <p:cNvPr id="15" name="Text 13"/>
          <p:cNvSpPr/>
          <p:nvPr/>
        </p:nvSpPr>
        <p:spPr>
          <a:xfrm>
            <a:off x="9081939" y="6572250"/>
            <a:ext cx="373410" cy="357188"/>
          </a:xfrm>
          <a:prstGeom prst="rect">
            <a:avLst/>
          </a:prstGeom>
          <a:noFill/>
          <a:ln/>
        </p:spPr>
        <p:txBody>
          <a:bodyPr wrap="square" lIns="25400" tIns="25400" rIns="25400" bIns="25400" rtlCol="0" anchor="t">
            <a:normAutofit/>
          </a:bodyPr>
          <a:lstStyle/>
          <a:p>
            <a:pPr algn="l" indent="0" marL="0">
              <a:buNone/>
            </a:pPr>
            <a:r>
              <a:rPr lang="en-US" sz="1950" dirty="0">
                <a:solidFill>
                  <a:srgbClr val="1F3A5F"/>
                </a:solidFill>
                <a:latin typeface="Courier New" pitchFamily="34" charset="0"/>
                <a:ea typeface="Courier New" pitchFamily="34" charset="-122"/>
                <a:cs typeface="Courier New" pitchFamily="34" charset="-120"/>
              </a:rPr>
              <a:t>03</a:t>
            </a:r>
            <a:endParaRPr lang="en-US" sz="1950" dirty="0"/>
          </a:p>
        </p:txBody>
      </p:sp>
      <p:sp>
        <p:nvSpPr>
          <p:cNvPr id="16" name="Text 14"/>
          <p:cNvSpPr/>
          <p:nvPr/>
        </p:nvSpPr>
        <p:spPr>
          <a:xfrm>
            <a:off x="9626798" y="6505575"/>
            <a:ext cx="7939886" cy="921990"/>
          </a:xfrm>
          <a:prstGeom prst="rect">
            <a:avLst/>
          </a:prstGeom>
          <a:noFill/>
          <a:ln/>
        </p:spPr>
        <p:txBody>
          <a:bodyPr wrap="square" lIns="25400" tIns="25400" rIns="25400" bIns="25400" rtlCol="0" anchor="t">
            <a:normAutofit/>
          </a:bodyPr>
          <a:lstStyle/>
          <a:p>
            <a:pPr algn="l" indent="0" marL="0">
              <a:lnSpc>
                <a:spcPct val="125405"/>
              </a:lnSpc>
              <a:buNone/>
            </a:pPr>
            <a:r>
              <a:rPr lang="en-US" sz="2400" dirty="0">
                <a:solidFill>
                  <a:srgbClr val="16181D"/>
                </a:solidFill>
                <a:latin typeface="Arial" pitchFamily="34" charset="0"/>
                <a:ea typeface="Arial" pitchFamily="34" charset="-122"/>
                <a:cs typeface="Arial" pitchFamily="34" charset="-120"/>
              </a:rPr>
              <a:t>Los datos en papel no permiten reportes por materia, grupo o periodo sin trabajo manual.</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952500" y="952500"/>
            <a:ext cx="18021300" cy="3333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1F3A5F"/>
                </a:solidFill>
                <a:latin typeface="Courier New" pitchFamily="34" charset="0"/>
                <a:ea typeface="Courier New" pitchFamily="34" charset="-122"/>
                <a:cs typeface="Courier New" pitchFamily="34" charset="-120"/>
              </a:rPr>
              <a:t>DESCRIPCIÓN GENERAL</a:t>
            </a:r>
            <a:endParaRPr lang="en-US" sz="1800" dirty="0"/>
          </a:p>
        </p:txBody>
      </p:sp>
      <p:sp>
        <p:nvSpPr>
          <p:cNvPr id="3" name="Text 1"/>
          <p:cNvSpPr/>
          <p:nvPr/>
        </p:nvSpPr>
        <p:spPr>
          <a:xfrm>
            <a:off x="952500" y="1476375"/>
            <a:ext cx="14225588" cy="1427857"/>
          </a:xfrm>
          <a:prstGeom prst="rect">
            <a:avLst/>
          </a:prstGeom>
          <a:noFill/>
          <a:ln/>
        </p:spPr>
        <p:txBody>
          <a:bodyPr wrap="square" lIns="25400" tIns="25400" rIns="25400" bIns="25400" rtlCol="0" anchor="t">
            <a:normAutofit/>
          </a:bodyPr>
          <a:lstStyle/>
          <a:p>
            <a:pPr algn="l" indent="0" marL="0">
              <a:lnSpc>
                <a:spcPct val="100634"/>
              </a:lnSpc>
              <a:buNone/>
            </a:pPr>
            <a:r>
              <a:rPr lang="en-US" sz="4800" b="1" spc="-72" kern="0" dirty="0">
                <a:solidFill>
                  <a:srgbClr val="16181D"/>
                </a:solidFill>
                <a:latin typeface="Georgia" pitchFamily="34" charset="0"/>
                <a:ea typeface="Georgia" pitchFamily="34" charset="-122"/>
                <a:cs typeface="Georgia" pitchFamily="34" charset="-120"/>
              </a:rPr>
              <a:t>La asistencia no se decide con una foto, sino con muchas lecturas del mismo rostro</a:t>
            </a:r>
            <a:endParaRPr lang="en-US" sz="4800" dirty="0"/>
          </a:p>
        </p:txBody>
      </p:sp>
      <p:sp>
        <p:nvSpPr>
          <p:cNvPr id="4" name="Text 2"/>
          <p:cNvSpPr/>
          <p:nvPr/>
        </p:nvSpPr>
        <p:spPr>
          <a:xfrm>
            <a:off x="952500" y="3285232"/>
            <a:ext cx="14225588" cy="1981200"/>
          </a:xfrm>
          <a:prstGeom prst="rect">
            <a:avLst/>
          </a:prstGeom>
          <a:noFill/>
          <a:ln/>
        </p:spPr>
        <p:txBody>
          <a:bodyPr wrap="square" lIns="25400" tIns="25400" rIns="25400" bIns="25400" rtlCol="0" anchor="t">
            <a:normAutofit/>
          </a:bodyPr>
          <a:lstStyle/>
          <a:p>
            <a:pPr algn="l" indent="0" marL="0">
              <a:lnSpc>
                <a:spcPct val="130769"/>
              </a:lnSpc>
              <a:buNone/>
            </a:pPr>
            <a:r>
              <a:rPr lang="en-US" sz="2550" dirty="0">
                <a:solidFill>
                  <a:srgbClr val="3C4250"/>
                </a:solidFill>
                <a:latin typeface="Arial" pitchFamily="34" charset="0"/>
                <a:ea typeface="Arial" pitchFamily="34" charset="-122"/>
                <a:cs typeface="Arial" pitchFamily="34" charset="-120"/>
              </a:rPr>
              <a:t>Durante la ventana de tolerancia, las cámaras del aula toman capturas cada pocos segundos. Cada rostro de cada captura se convierte en un vector y se busca en el índice de los alumnos inscritos en el grupo. La asistencia se marca cuando el mismo alumno acumula varias lecturas válidas en capturas distintas, lo que absorbe los rostros de perfil, tapados o mal iluminados.</a:t>
            </a:r>
            <a:endParaRPr lang="en-US" sz="2550" dirty="0"/>
          </a:p>
        </p:txBody>
      </p:sp>
      <p:sp>
        <p:nvSpPr>
          <p:cNvPr id="5" name="Shape 3"/>
          <p:cNvSpPr/>
          <p:nvPr/>
        </p:nvSpPr>
        <p:spPr>
          <a:xfrm>
            <a:off x="952500" y="5837932"/>
            <a:ext cx="2747814" cy="2855416"/>
          </a:xfrm>
          <a:prstGeom prst="rect">
            <a:avLst/>
          </a:prstGeom>
          <a:solidFill>
            <a:srgbClr val="FFFFFF"/>
          </a:solidFill>
          <a:ln w="14288">
            <a:solidFill>
              <a:srgbClr val="D5D9E0"/>
            </a:solidFill>
            <a:prstDash val="solid"/>
          </a:ln>
        </p:spPr>
      </p:sp>
      <p:sp>
        <p:nvSpPr>
          <p:cNvPr id="6" name="Text 4"/>
          <p:cNvSpPr/>
          <p:nvPr/>
        </p:nvSpPr>
        <p:spPr>
          <a:xfrm>
            <a:off x="1214438" y="6137970"/>
            <a:ext cx="2446333"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1F3A5F"/>
                </a:solidFill>
                <a:latin typeface="Courier New" pitchFamily="34" charset="0"/>
                <a:ea typeface="Courier New" pitchFamily="34" charset="-122"/>
                <a:cs typeface="Courier New" pitchFamily="34" charset="-120"/>
              </a:rPr>
              <a:t>01</a:t>
            </a:r>
            <a:endParaRPr lang="en-US" sz="1800" dirty="0"/>
          </a:p>
        </p:txBody>
      </p:sp>
      <p:sp>
        <p:nvSpPr>
          <p:cNvPr id="7" name="Text 5"/>
          <p:cNvSpPr/>
          <p:nvPr/>
        </p:nvSpPr>
        <p:spPr>
          <a:xfrm>
            <a:off x="1214438" y="6547545"/>
            <a:ext cx="2446333" cy="423863"/>
          </a:xfrm>
          <a:prstGeom prst="rect">
            <a:avLst/>
          </a:prstGeom>
          <a:noFill/>
          <a:ln/>
        </p:spPr>
        <p:txBody>
          <a:bodyPr wrap="square" lIns="25400" tIns="25400" rIns="25400" bIns="25400" rtlCol="0" anchor="t">
            <a:normAutofit/>
          </a:bodyPr>
          <a:lstStyle/>
          <a:p>
            <a:pPr algn="l" indent="0" marL="0">
              <a:lnSpc>
                <a:spcPct val="117391"/>
              </a:lnSpc>
              <a:buNone/>
            </a:pPr>
            <a:r>
              <a:rPr lang="en-US" sz="2250" dirty="0">
                <a:solidFill>
                  <a:srgbClr val="16181D"/>
                </a:solidFill>
                <a:latin typeface="Arial" pitchFamily="34" charset="0"/>
                <a:ea typeface="Arial" pitchFamily="34" charset="-122"/>
                <a:cs typeface="Arial" pitchFamily="34" charset="-120"/>
              </a:rPr>
              <a:t>Muestreo</a:t>
            </a:r>
            <a:endParaRPr lang="en-US" sz="2250" dirty="0"/>
          </a:p>
        </p:txBody>
      </p:sp>
      <p:sp>
        <p:nvSpPr>
          <p:cNvPr id="8" name="Text 6"/>
          <p:cNvSpPr/>
          <p:nvPr/>
        </p:nvSpPr>
        <p:spPr>
          <a:xfrm>
            <a:off x="1214438" y="7047607"/>
            <a:ext cx="2300139" cy="998041"/>
          </a:xfrm>
          <a:prstGeom prst="rect">
            <a:avLst/>
          </a:prstGeom>
          <a:noFill/>
          <a:ln/>
        </p:spPr>
        <p:txBody>
          <a:bodyPr wrap="square" lIns="25400" tIns="25400" rIns="25400" bIns="25400" rtlCol="0" anchor="t">
            <a:normAutofit/>
          </a:bodyPr>
          <a:lstStyle/>
          <a:p>
            <a:pPr algn="l" indent="0" marL="0">
              <a:lnSpc>
                <a:spcPct val="122182"/>
              </a:lnSpc>
              <a:buNone/>
            </a:pPr>
            <a:r>
              <a:rPr lang="en-US" sz="1800" dirty="0">
                <a:solidFill>
                  <a:srgbClr val="5A6070"/>
                </a:solidFill>
                <a:latin typeface="Arial" pitchFamily="34" charset="0"/>
                <a:ea typeface="Arial" pitchFamily="34" charset="-122"/>
                <a:cs typeface="Arial" pitchFamily="34" charset="-120"/>
              </a:rPr>
              <a:t>Capturas periódicas desde una o dos cámaras del aula.</a:t>
            </a:r>
            <a:endParaRPr lang="en-US" sz="1800" dirty="0"/>
          </a:p>
        </p:txBody>
      </p:sp>
      <p:sp>
        <p:nvSpPr>
          <p:cNvPr id="9" name="Text 7"/>
          <p:cNvSpPr/>
          <p:nvPr/>
        </p:nvSpPr>
        <p:spPr>
          <a:xfrm>
            <a:off x="3890814" y="5837932"/>
            <a:ext cx="356146" cy="2893516"/>
          </a:xfrm>
          <a:prstGeom prst="rect">
            <a:avLst/>
          </a:prstGeom>
          <a:noFill/>
          <a:ln/>
        </p:spPr>
        <p:txBody>
          <a:bodyPr wrap="square" lIns="25400" tIns="25400" rIns="25400" bIns="25400" rtlCol="0" anchor="ctr">
            <a:normAutofit/>
          </a:bodyPr>
          <a:lstStyle/>
          <a:p>
            <a:pPr algn="l" indent="0" marL="0">
              <a:buNone/>
            </a:pPr>
            <a:r>
              <a:rPr lang="en-US" sz="2400" dirty="0">
                <a:solidFill>
                  <a:srgbClr val="1F3A5F"/>
                </a:solidFill>
                <a:latin typeface="Arial" pitchFamily="34" charset="0"/>
                <a:ea typeface="Arial" pitchFamily="34" charset="-122"/>
                <a:cs typeface="Arial" pitchFamily="34" charset="-120"/>
              </a:rPr>
              <a:t>→</a:t>
            </a:r>
            <a:endParaRPr lang="en-US" sz="2400" dirty="0"/>
          </a:p>
        </p:txBody>
      </p:sp>
      <p:sp>
        <p:nvSpPr>
          <p:cNvPr id="10" name="Shape 8"/>
          <p:cNvSpPr/>
          <p:nvPr/>
        </p:nvSpPr>
        <p:spPr>
          <a:xfrm>
            <a:off x="4361259" y="5837932"/>
            <a:ext cx="2747888" cy="2855416"/>
          </a:xfrm>
          <a:prstGeom prst="rect">
            <a:avLst/>
          </a:prstGeom>
          <a:solidFill>
            <a:srgbClr val="FFFFFF"/>
          </a:solidFill>
          <a:ln w="14288">
            <a:solidFill>
              <a:srgbClr val="D5D9E0"/>
            </a:solidFill>
            <a:prstDash val="solid"/>
          </a:ln>
        </p:spPr>
      </p:sp>
      <p:sp>
        <p:nvSpPr>
          <p:cNvPr id="11" name="Text 9"/>
          <p:cNvSpPr/>
          <p:nvPr/>
        </p:nvSpPr>
        <p:spPr>
          <a:xfrm>
            <a:off x="4623197" y="6137970"/>
            <a:ext cx="2446414"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1F3A5F"/>
                </a:solidFill>
                <a:latin typeface="Courier New" pitchFamily="34" charset="0"/>
                <a:ea typeface="Courier New" pitchFamily="34" charset="-122"/>
                <a:cs typeface="Courier New" pitchFamily="34" charset="-120"/>
              </a:rPr>
              <a:t>02</a:t>
            </a:r>
            <a:endParaRPr lang="en-US" sz="1800" dirty="0"/>
          </a:p>
        </p:txBody>
      </p:sp>
      <p:sp>
        <p:nvSpPr>
          <p:cNvPr id="12" name="Text 10"/>
          <p:cNvSpPr/>
          <p:nvPr/>
        </p:nvSpPr>
        <p:spPr>
          <a:xfrm>
            <a:off x="4623197" y="6547545"/>
            <a:ext cx="2446414" cy="423863"/>
          </a:xfrm>
          <a:prstGeom prst="rect">
            <a:avLst/>
          </a:prstGeom>
          <a:noFill/>
          <a:ln/>
        </p:spPr>
        <p:txBody>
          <a:bodyPr wrap="square" lIns="25400" tIns="25400" rIns="25400" bIns="25400" rtlCol="0" anchor="t">
            <a:normAutofit/>
          </a:bodyPr>
          <a:lstStyle/>
          <a:p>
            <a:pPr algn="l" indent="0" marL="0">
              <a:lnSpc>
                <a:spcPct val="117391"/>
              </a:lnSpc>
              <a:buNone/>
            </a:pPr>
            <a:r>
              <a:rPr lang="en-US" sz="2250" dirty="0">
                <a:solidFill>
                  <a:srgbClr val="16181D"/>
                </a:solidFill>
                <a:latin typeface="Arial" pitchFamily="34" charset="0"/>
                <a:ea typeface="Arial" pitchFamily="34" charset="-122"/>
                <a:cs typeface="Arial" pitchFamily="34" charset="-120"/>
              </a:rPr>
              <a:t>Vectorización</a:t>
            </a:r>
            <a:endParaRPr lang="en-US" sz="2250" dirty="0"/>
          </a:p>
        </p:txBody>
      </p:sp>
      <p:sp>
        <p:nvSpPr>
          <p:cNvPr id="13" name="Text 11"/>
          <p:cNvSpPr/>
          <p:nvPr/>
        </p:nvSpPr>
        <p:spPr>
          <a:xfrm>
            <a:off x="4623197" y="7047607"/>
            <a:ext cx="2300213" cy="998041"/>
          </a:xfrm>
          <a:prstGeom prst="rect">
            <a:avLst/>
          </a:prstGeom>
          <a:noFill/>
          <a:ln/>
        </p:spPr>
        <p:txBody>
          <a:bodyPr wrap="square" lIns="25400" tIns="25400" rIns="25400" bIns="25400" rtlCol="0" anchor="t">
            <a:normAutofit/>
          </a:bodyPr>
          <a:lstStyle/>
          <a:p>
            <a:pPr algn="l" indent="0" marL="0">
              <a:lnSpc>
                <a:spcPct val="122182"/>
              </a:lnSpc>
              <a:buNone/>
            </a:pPr>
            <a:r>
              <a:rPr lang="en-US" sz="1800" dirty="0">
                <a:solidFill>
                  <a:srgbClr val="5A6070"/>
                </a:solidFill>
                <a:latin typeface="Arial" pitchFamily="34" charset="0"/>
                <a:ea typeface="Arial" pitchFamily="34" charset="-122"/>
                <a:cs typeface="Arial" pitchFamily="34" charset="-120"/>
              </a:rPr>
              <a:t>Cada rostro de cada captura genera un vector.</a:t>
            </a:r>
            <a:endParaRPr lang="en-US" sz="1800" dirty="0"/>
          </a:p>
        </p:txBody>
      </p:sp>
      <p:sp>
        <p:nvSpPr>
          <p:cNvPr id="14" name="Text 12"/>
          <p:cNvSpPr/>
          <p:nvPr/>
        </p:nvSpPr>
        <p:spPr>
          <a:xfrm>
            <a:off x="7299647" y="5837932"/>
            <a:ext cx="356146" cy="2893516"/>
          </a:xfrm>
          <a:prstGeom prst="rect">
            <a:avLst/>
          </a:prstGeom>
          <a:noFill/>
          <a:ln/>
        </p:spPr>
        <p:txBody>
          <a:bodyPr wrap="square" lIns="25400" tIns="25400" rIns="25400" bIns="25400" rtlCol="0" anchor="ctr">
            <a:normAutofit/>
          </a:bodyPr>
          <a:lstStyle/>
          <a:p>
            <a:pPr algn="l" indent="0" marL="0">
              <a:buNone/>
            </a:pPr>
            <a:r>
              <a:rPr lang="en-US" sz="2400" dirty="0">
                <a:solidFill>
                  <a:srgbClr val="1F3A5F"/>
                </a:solidFill>
                <a:latin typeface="Arial" pitchFamily="34" charset="0"/>
                <a:ea typeface="Arial" pitchFamily="34" charset="-122"/>
                <a:cs typeface="Arial" pitchFamily="34" charset="-120"/>
              </a:rPr>
              <a:t>→</a:t>
            </a:r>
            <a:endParaRPr lang="en-US" sz="2400" dirty="0"/>
          </a:p>
        </p:txBody>
      </p:sp>
      <p:sp>
        <p:nvSpPr>
          <p:cNvPr id="15" name="Shape 13"/>
          <p:cNvSpPr/>
          <p:nvPr/>
        </p:nvSpPr>
        <p:spPr>
          <a:xfrm>
            <a:off x="7770093" y="5837932"/>
            <a:ext cx="2747814" cy="2855416"/>
          </a:xfrm>
          <a:prstGeom prst="rect">
            <a:avLst/>
          </a:prstGeom>
          <a:solidFill>
            <a:srgbClr val="FFFFFF"/>
          </a:solidFill>
          <a:ln w="14288">
            <a:solidFill>
              <a:srgbClr val="1F3A5F"/>
            </a:solidFill>
            <a:prstDash val="solid"/>
          </a:ln>
        </p:spPr>
      </p:sp>
      <p:sp>
        <p:nvSpPr>
          <p:cNvPr id="16" name="Text 14"/>
          <p:cNvSpPr/>
          <p:nvPr/>
        </p:nvSpPr>
        <p:spPr>
          <a:xfrm>
            <a:off x="8032031" y="6137970"/>
            <a:ext cx="2446333"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1F3A5F"/>
                </a:solidFill>
                <a:latin typeface="Courier New" pitchFamily="34" charset="0"/>
                <a:ea typeface="Courier New" pitchFamily="34" charset="-122"/>
                <a:cs typeface="Courier New" pitchFamily="34" charset="-120"/>
              </a:rPr>
              <a:t>03</a:t>
            </a:r>
            <a:endParaRPr lang="en-US" sz="1800" dirty="0"/>
          </a:p>
        </p:txBody>
      </p:sp>
      <p:sp>
        <p:nvSpPr>
          <p:cNvPr id="17" name="Text 15"/>
          <p:cNvSpPr/>
          <p:nvPr/>
        </p:nvSpPr>
        <p:spPr>
          <a:xfrm>
            <a:off x="8032031" y="6547545"/>
            <a:ext cx="2300139" cy="809625"/>
          </a:xfrm>
          <a:prstGeom prst="rect">
            <a:avLst/>
          </a:prstGeom>
          <a:noFill/>
          <a:ln/>
        </p:spPr>
        <p:txBody>
          <a:bodyPr wrap="square" lIns="25400" tIns="25400" rIns="25400" bIns="25400" rtlCol="0" anchor="t">
            <a:normAutofit/>
          </a:bodyPr>
          <a:lstStyle/>
          <a:p>
            <a:pPr algn="l" indent="0" marL="0">
              <a:lnSpc>
                <a:spcPct val="117391"/>
              </a:lnSpc>
              <a:buNone/>
            </a:pPr>
            <a:r>
              <a:rPr lang="en-US" sz="2250" dirty="0">
                <a:solidFill>
                  <a:srgbClr val="16181D"/>
                </a:solidFill>
                <a:latin typeface="Arial" pitchFamily="34" charset="0"/>
                <a:ea typeface="Arial" pitchFamily="34" charset="-122"/>
                <a:cs typeface="Arial" pitchFamily="34" charset="-120"/>
              </a:rPr>
              <a:t>Búsqueda en FAISS</a:t>
            </a:r>
            <a:endParaRPr lang="en-US" sz="2250" dirty="0"/>
          </a:p>
        </p:txBody>
      </p:sp>
      <p:sp>
        <p:nvSpPr>
          <p:cNvPr id="18" name="Text 16"/>
          <p:cNvSpPr/>
          <p:nvPr/>
        </p:nvSpPr>
        <p:spPr>
          <a:xfrm>
            <a:off x="8032031" y="7433370"/>
            <a:ext cx="2300139" cy="998041"/>
          </a:xfrm>
          <a:prstGeom prst="rect">
            <a:avLst/>
          </a:prstGeom>
          <a:noFill/>
          <a:ln/>
        </p:spPr>
        <p:txBody>
          <a:bodyPr wrap="square" lIns="25400" tIns="25400" rIns="25400" bIns="25400" rtlCol="0" anchor="t">
            <a:normAutofit/>
          </a:bodyPr>
          <a:lstStyle/>
          <a:p>
            <a:pPr algn="l" indent="0" marL="0">
              <a:lnSpc>
                <a:spcPct val="122182"/>
              </a:lnSpc>
              <a:buNone/>
            </a:pPr>
            <a:r>
              <a:rPr lang="en-US" sz="1800" dirty="0">
                <a:solidFill>
                  <a:srgbClr val="5A6070"/>
                </a:solidFill>
                <a:latin typeface="Arial" pitchFamily="34" charset="0"/>
                <a:ea typeface="Arial" pitchFamily="34" charset="-122"/>
                <a:cs typeface="Arial" pitchFamily="34" charset="-120"/>
              </a:rPr>
              <a:t>El índice devuelve el vecino más cercano y su score.</a:t>
            </a:r>
            <a:endParaRPr lang="en-US" sz="1800" dirty="0"/>
          </a:p>
        </p:txBody>
      </p:sp>
      <p:sp>
        <p:nvSpPr>
          <p:cNvPr id="19" name="Text 17"/>
          <p:cNvSpPr/>
          <p:nvPr/>
        </p:nvSpPr>
        <p:spPr>
          <a:xfrm>
            <a:off x="10708407" y="5837932"/>
            <a:ext cx="356146" cy="2893516"/>
          </a:xfrm>
          <a:prstGeom prst="rect">
            <a:avLst/>
          </a:prstGeom>
          <a:noFill/>
          <a:ln/>
        </p:spPr>
        <p:txBody>
          <a:bodyPr wrap="square" lIns="25400" tIns="25400" rIns="25400" bIns="25400" rtlCol="0" anchor="ctr">
            <a:normAutofit/>
          </a:bodyPr>
          <a:lstStyle/>
          <a:p>
            <a:pPr algn="l" indent="0" marL="0">
              <a:buNone/>
            </a:pPr>
            <a:r>
              <a:rPr lang="en-US" sz="2400" dirty="0">
                <a:solidFill>
                  <a:srgbClr val="1F3A5F"/>
                </a:solidFill>
                <a:latin typeface="Arial" pitchFamily="34" charset="0"/>
                <a:ea typeface="Arial" pitchFamily="34" charset="-122"/>
                <a:cs typeface="Arial" pitchFamily="34" charset="-120"/>
              </a:rPr>
              <a:t>→</a:t>
            </a:r>
            <a:endParaRPr lang="en-US" sz="2400" dirty="0"/>
          </a:p>
        </p:txBody>
      </p:sp>
      <p:sp>
        <p:nvSpPr>
          <p:cNvPr id="20" name="Shape 18"/>
          <p:cNvSpPr/>
          <p:nvPr/>
        </p:nvSpPr>
        <p:spPr>
          <a:xfrm>
            <a:off x="11178853" y="5837932"/>
            <a:ext cx="2747888" cy="2855416"/>
          </a:xfrm>
          <a:prstGeom prst="rect">
            <a:avLst/>
          </a:prstGeom>
          <a:solidFill>
            <a:srgbClr val="FFFFFF"/>
          </a:solidFill>
          <a:ln w="14288">
            <a:solidFill>
              <a:srgbClr val="1F3A5F"/>
            </a:solidFill>
            <a:prstDash val="solid"/>
          </a:ln>
        </p:spPr>
      </p:sp>
      <p:sp>
        <p:nvSpPr>
          <p:cNvPr id="21" name="Text 19"/>
          <p:cNvSpPr/>
          <p:nvPr/>
        </p:nvSpPr>
        <p:spPr>
          <a:xfrm>
            <a:off x="11440790" y="6137970"/>
            <a:ext cx="2446414"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1F3A5F"/>
                </a:solidFill>
                <a:latin typeface="Courier New" pitchFamily="34" charset="0"/>
                <a:ea typeface="Courier New" pitchFamily="34" charset="-122"/>
                <a:cs typeface="Courier New" pitchFamily="34" charset="-120"/>
              </a:rPr>
              <a:t>04</a:t>
            </a:r>
            <a:endParaRPr lang="en-US" sz="1800" dirty="0"/>
          </a:p>
        </p:txBody>
      </p:sp>
      <p:sp>
        <p:nvSpPr>
          <p:cNvPr id="22" name="Text 20"/>
          <p:cNvSpPr/>
          <p:nvPr/>
        </p:nvSpPr>
        <p:spPr>
          <a:xfrm>
            <a:off x="11440790" y="6547545"/>
            <a:ext cx="2446414" cy="423863"/>
          </a:xfrm>
          <a:prstGeom prst="rect">
            <a:avLst/>
          </a:prstGeom>
          <a:noFill/>
          <a:ln/>
        </p:spPr>
        <p:txBody>
          <a:bodyPr wrap="square" lIns="25400" tIns="25400" rIns="25400" bIns="25400" rtlCol="0" anchor="t">
            <a:normAutofit/>
          </a:bodyPr>
          <a:lstStyle/>
          <a:p>
            <a:pPr algn="l" indent="0" marL="0">
              <a:lnSpc>
                <a:spcPct val="117391"/>
              </a:lnSpc>
              <a:buNone/>
            </a:pPr>
            <a:r>
              <a:rPr lang="en-US" sz="2250" dirty="0">
                <a:solidFill>
                  <a:srgbClr val="16181D"/>
                </a:solidFill>
                <a:latin typeface="Arial" pitchFamily="34" charset="0"/>
                <a:ea typeface="Arial" pitchFamily="34" charset="-122"/>
                <a:cs typeface="Arial" pitchFamily="34" charset="-120"/>
              </a:rPr>
              <a:t>Consolidación</a:t>
            </a:r>
            <a:endParaRPr lang="en-US" sz="2250" dirty="0"/>
          </a:p>
        </p:txBody>
      </p:sp>
      <p:sp>
        <p:nvSpPr>
          <p:cNvPr id="23" name="Text 21"/>
          <p:cNvSpPr/>
          <p:nvPr/>
        </p:nvSpPr>
        <p:spPr>
          <a:xfrm>
            <a:off x="11440790" y="7047607"/>
            <a:ext cx="2300213" cy="1318022"/>
          </a:xfrm>
          <a:prstGeom prst="rect">
            <a:avLst/>
          </a:prstGeom>
          <a:noFill/>
          <a:ln/>
        </p:spPr>
        <p:txBody>
          <a:bodyPr wrap="square" lIns="25400" tIns="25400" rIns="25400" bIns="25400" rtlCol="0" anchor="t">
            <a:normAutofit/>
          </a:bodyPr>
          <a:lstStyle/>
          <a:p>
            <a:pPr algn="l" indent="0" marL="0">
              <a:lnSpc>
                <a:spcPct val="122182"/>
              </a:lnSpc>
              <a:buNone/>
            </a:pPr>
            <a:r>
              <a:rPr lang="en-US" sz="1800" dirty="0">
                <a:solidFill>
                  <a:srgbClr val="5A6070"/>
                </a:solidFill>
                <a:latin typeface="Arial" pitchFamily="34" charset="0"/>
                <a:ea typeface="Arial" pitchFamily="34" charset="-122"/>
                <a:cs typeface="Arial" pitchFamily="34" charset="-120"/>
              </a:rPr>
              <a:t>Varias lecturas del mismo alumno confirman su presencia.</a:t>
            </a:r>
            <a:endParaRPr lang="en-US" sz="1800" dirty="0"/>
          </a:p>
        </p:txBody>
      </p:sp>
      <p:sp>
        <p:nvSpPr>
          <p:cNvPr id="24" name="Text 22"/>
          <p:cNvSpPr/>
          <p:nvPr/>
        </p:nvSpPr>
        <p:spPr>
          <a:xfrm>
            <a:off x="14117241" y="5837932"/>
            <a:ext cx="356146" cy="2893516"/>
          </a:xfrm>
          <a:prstGeom prst="rect">
            <a:avLst/>
          </a:prstGeom>
          <a:noFill/>
          <a:ln/>
        </p:spPr>
        <p:txBody>
          <a:bodyPr wrap="square" lIns="25400" tIns="25400" rIns="25400" bIns="25400" rtlCol="0" anchor="ctr">
            <a:normAutofit/>
          </a:bodyPr>
          <a:lstStyle/>
          <a:p>
            <a:pPr algn="l" indent="0" marL="0">
              <a:buNone/>
            </a:pPr>
            <a:r>
              <a:rPr lang="en-US" sz="2400" dirty="0">
                <a:solidFill>
                  <a:srgbClr val="1F3A5F"/>
                </a:solidFill>
                <a:latin typeface="Arial" pitchFamily="34" charset="0"/>
                <a:ea typeface="Arial" pitchFamily="34" charset="-122"/>
                <a:cs typeface="Arial" pitchFamily="34" charset="-120"/>
              </a:rPr>
              <a:t>→</a:t>
            </a:r>
            <a:endParaRPr lang="en-US" sz="2400" dirty="0"/>
          </a:p>
        </p:txBody>
      </p:sp>
      <p:sp>
        <p:nvSpPr>
          <p:cNvPr id="25" name="Shape 23"/>
          <p:cNvSpPr/>
          <p:nvPr/>
        </p:nvSpPr>
        <p:spPr>
          <a:xfrm>
            <a:off x="14587686" y="5837932"/>
            <a:ext cx="2747814" cy="2855416"/>
          </a:xfrm>
          <a:prstGeom prst="rect">
            <a:avLst/>
          </a:prstGeom>
          <a:solidFill>
            <a:srgbClr val="1F3A5F"/>
          </a:solidFill>
          <a:ln w="14288">
            <a:solidFill>
              <a:srgbClr val="1F3A5F"/>
            </a:solidFill>
            <a:prstDash val="solid"/>
          </a:ln>
        </p:spPr>
      </p:sp>
      <p:sp>
        <p:nvSpPr>
          <p:cNvPr id="26" name="Text 24"/>
          <p:cNvSpPr/>
          <p:nvPr/>
        </p:nvSpPr>
        <p:spPr>
          <a:xfrm>
            <a:off x="14849624" y="6137970"/>
            <a:ext cx="2446333"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A8BBD6"/>
                </a:solidFill>
                <a:latin typeface="Courier New" pitchFamily="34" charset="0"/>
                <a:ea typeface="Courier New" pitchFamily="34" charset="-122"/>
                <a:cs typeface="Courier New" pitchFamily="34" charset="-120"/>
              </a:rPr>
              <a:t>05</a:t>
            </a:r>
            <a:endParaRPr lang="en-US" sz="1800" dirty="0"/>
          </a:p>
        </p:txBody>
      </p:sp>
      <p:sp>
        <p:nvSpPr>
          <p:cNvPr id="27" name="Text 25"/>
          <p:cNvSpPr/>
          <p:nvPr/>
        </p:nvSpPr>
        <p:spPr>
          <a:xfrm>
            <a:off x="14849624" y="6547545"/>
            <a:ext cx="2446333" cy="423863"/>
          </a:xfrm>
          <a:prstGeom prst="rect">
            <a:avLst/>
          </a:prstGeom>
          <a:noFill/>
          <a:ln/>
        </p:spPr>
        <p:txBody>
          <a:bodyPr wrap="square" lIns="25400" tIns="25400" rIns="25400" bIns="25400" rtlCol="0" anchor="t">
            <a:normAutofit/>
          </a:bodyPr>
          <a:lstStyle/>
          <a:p>
            <a:pPr algn="l" indent="0" marL="0">
              <a:lnSpc>
                <a:spcPct val="117391"/>
              </a:lnSpc>
              <a:buNone/>
            </a:pPr>
            <a:r>
              <a:rPr lang="en-US" sz="2250" dirty="0">
                <a:solidFill>
                  <a:srgbClr val="F7F8FA"/>
                </a:solidFill>
                <a:latin typeface="Arial" pitchFamily="34" charset="0"/>
                <a:ea typeface="Arial" pitchFamily="34" charset="-122"/>
                <a:cs typeface="Arial" pitchFamily="34" charset="-120"/>
              </a:rPr>
              <a:t>Registro</a:t>
            </a:r>
            <a:endParaRPr lang="en-US" sz="2250" dirty="0"/>
          </a:p>
        </p:txBody>
      </p:sp>
      <p:sp>
        <p:nvSpPr>
          <p:cNvPr id="28" name="Text 26"/>
          <p:cNvSpPr/>
          <p:nvPr/>
        </p:nvSpPr>
        <p:spPr>
          <a:xfrm>
            <a:off x="14849624" y="7047607"/>
            <a:ext cx="2300139" cy="998041"/>
          </a:xfrm>
          <a:prstGeom prst="rect">
            <a:avLst/>
          </a:prstGeom>
          <a:noFill/>
          <a:ln/>
        </p:spPr>
        <p:txBody>
          <a:bodyPr wrap="square" lIns="25400" tIns="25400" rIns="25400" bIns="25400" rtlCol="0" anchor="t">
            <a:normAutofit/>
          </a:bodyPr>
          <a:lstStyle/>
          <a:p>
            <a:pPr algn="l" indent="0" marL="0">
              <a:lnSpc>
                <a:spcPct val="122182"/>
              </a:lnSpc>
              <a:buNone/>
            </a:pPr>
            <a:r>
              <a:rPr lang="en-US" sz="1800" dirty="0">
                <a:solidFill>
                  <a:srgbClr val="C6D3E5"/>
                </a:solidFill>
                <a:latin typeface="Arial" pitchFamily="34" charset="0"/>
                <a:ea typeface="Arial" pitchFamily="34" charset="-122"/>
                <a:cs typeface="Arial" pitchFamily="34" charset="-120"/>
              </a:rPr>
              <a:t>Un solo registro por alumno, revisable por el docente.</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952500" y="952500"/>
            <a:ext cx="18021300" cy="3333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1F3A5F"/>
                </a:solidFill>
                <a:latin typeface="Courier New" pitchFamily="34" charset="0"/>
                <a:ea typeface="Courier New" pitchFamily="34" charset="-122"/>
                <a:cs typeface="Courier New" pitchFamily="34" charset="-120"/>
              </a:rPr>
              <a:t>ARQUITECTURA DE ALMACENAMIENTO</a:t>
            </a:r>
            <a:endParaRPr lang="en-US" sz="1800" dirty="0"/>
          </a:p>
        </p:txBody>
      </p:sp>
      <p:sp>
        <p:nvSpPr>
          <p:cNvPr id="3" name="Text 1"/>
          <p:cNvSpPr/>
          <p:nvPr/>
        </p:nvSpPr>
        <p:spPr>
          <a:xfrm>
            <a:off x="952500" y="1476375"/>
            <a:ext cx="14225588" cy="1341090"/>
          </a:xfrm>
          <a:prstGeom prst="rect">
            <a:avLst/>
          </a:prstGeom>
          <a:noFill/>
          <a:ln/>
        </p:spPr>
        <p:txBody>
          <a:bodyPr wrap="square" lIns="25400" tIns="25400" rIns="25400" bIns="25400" rtlCol="0" anchor="t">
            <a:normAutofit/>
          </a:bodyPr>
          <a:lstStyle/>
          <a:p>
            <a:pPr algn="l" indent="0" marL="0">
              <a:lnSpc>
                <a:spcPct val="100588"/>
              </a:lnSpc>
              <a:buNone/>
            </a:pPr>
            <a:r>
              <a:rPr lang="en-US" sz="4500" b="1" spc="-67" kern="0" dirty="0">
                <a:solidFill>
                  <a:srgbClr val="16181D"/>
                </a:solidFill>
                <a:latin typeface="Georgia" pitchFamily="34" charset="0"/>
                <a:ea typeface="Georgia" pitchFamily="34" charset="-122"/>
                <a:cs typeface="Georgia" pitchFamily="34" charset="-120"/>
              </a:rPr>
              <a:t>Tres almacenes: la base relacional guarda referencias, no rostros</a:t>
            </a:r>
            <a:endParaRPr lang="en-US" sz="4500" dirty="0"/>
          </a:p>
        </p:txBody>
      </p:sp>
      <p:sp>
        <p:nvSpPr>
          <p:cNvPr id="4" name="Shape 2"/>
          <p:cNvSpPr/>
          <p:nvPr/>
        </p:nvSpPr>
        <p:spPr>
          <a:xfrm>
            <a:off x="952500" y="3465165"/>
            <a:ext cx="5232350" cy="3208734"/>
          </a:xfrm>
          <a:prstGeom prst="rect">
            <a:avLst/>
          </a:prstGeom>
          <a:solidFill>
            <a:srgbClr val="FFFFFF"/>
          </a:solidFill>
          <a:ln w="14288">
            <a:solidFill>
              <a:srgbClr val="D5D9E0"/>
            </a:solidFill>
            <a:prstDash val="solid"/>
          </a:ln>
        </p:spPr>
      </p:sp>
      <p:sp>
        <p:nvSpPr>
          <p:cNvPr id="5" name="Text 3"/>
          <p:cNvSpPr/>
          <p:nvPr/>
        </p:nvSpPr>
        <p:spPr>
          <a:xfrm>
            <a:off x="1290638" y="3822353"/>
            <a:ext cx="5011683" cy="357188"/>
          </a:xfrm>
          <a:prstGeom prst="rect">
            <a:avLst/>
          </a:prstGeom>
          <a:noFill/>
          <a:ln/>
        </p:spPr>
        <p:txBody>
          <a:bodyPr wrap="square" lIns="25400" tIns="25400" rIns="25400" bIns="25400" rtlCol="0" anchor="t">
            <a:normAutofit/>
          </a:bodyPr>
          <a:lstStyle/>
          <a:p>
            <a:pPr algn="l" indent="0" marL="0">
              <a:buNone/>
            </a:pPr>
            <a:r>
              <a:rPr lang="en-US" sz="1950" spc="78" kern="0" dirty="0">
                <a:solidFill>
                  <a:srgbClr val="1F3A5F"/>
                </a:solidFill>
                <a:latin typeface="Courier New" pitchFamily="34" charset="0"/>
                <a:ea typeface="Courier New" pitchFamily="34" charset="-122"/>
                <a:cs typeface="Courier New" pitchFamily="34" charset="-120"/>
              </a:rPr>
              <a:t>POSTGRES · SUPABASE</a:t>
            </a:r>
            <a:endParaRPr lang="en-US" sz="1950" dirty="0"/>
          </a:p>
        </p:txBody>
      </p:sp>
      <p:sp>
        <p:nvSpPr>
          <p:cNvPr id="6" name="Text 4"/>
          <p:cNvSpPr/>
          <p:nvPr/>
        </p:nvSpPr>
        <p:spPr>
          <a:xfrm>
            <a:off x="1290638" y="4312890"/>
            <a:ext cx="5011683" cy="434280"/>
          </a:xfrm>
          <a:prstGeom prst="rect">
            <a:avLst/>
          </a:prstGeom>
          <a:noFill/>
          <a:ln/>
        </p:spPr>
        <p:txBody>
          <a:bodyPr wrap="square" lIns="25400" tIns="25400" rIns="25400" bIns="25400" rtlCol="0" anchor="t">
            <a:normAutofit/>
          </a:bodyPr>
          <a:lstStyle/>
          <a:p>
            <a:pPr algn="l" indent="0" marL="0">
              <a:lnSpc>
                <a:spcPct val="112432"/>
              </a:lnSpc>
              <a:buNone/>
            </a:pPr>
            <a:r>
              <a:rPr lang="en-US" sz="2400" dirty="0">
                <a:solidFill>
                  <a:srgbClr val="16181D"/>
                </a:solidFill>
                <a:latin typeface="Arial" pitchFamily="34" charset="0"/>
                <a:ea typeface="Arial" pitchFamily="34" charset="-122"/>
                <a:cs typeface="Arial" pitchFamily="34" charset="-120"/>
              </a:rPr>
              <a:t>Base relacional</a:t>
            </a:r>
            <a:endParaRPr lang="en-US" sz="2400" dirty="0"/>
          </a:p>
        </p:txBody>
      </p:sp>
      <p:sp>
        <p:nvSpPr>
          <p:cNvPr id="7" name="Text 5"/>
          <p:cNvSpPr/>
          <p:nvPr/>
        </p:nvSpPr>
        <p:spPr>
          <a:xfrm>
            <a:off x="1290638" y="4880521"/>
            <a:ext cx="4692758" cy="1474291"/>
          </a:xfrm>
          <a:prstGeom prst="rect">
            <a:avLst/>
          </a:prstGeom>
          <a:noFill/>
          <a:ln/>
        </p:spPr>
        <p:txBody>
          <a:bodyPr wrap="square" lIns="25400" tIns="25400" rIns="25400" bIns="25400" rtlCol="0" anchor="t">
            <a:normAutofit/>
          </a:bodyPr>
          <a:lstStyle/>
          <a:p>
            <a:pPr algn="l" indent="0" marL="0">
              <a:lnSpc>
                <a:spcPct val="125667"/>
              </a:lnSpc>
              <a:buNone/>
            </a:pPr>
            <a:r>
              <a:rPr lang="en-US" sz="1950" dirty="0">
                <a:solidFill>
                  <a:srgbClr val="5A6070"/>
                </a:solidFill>
                <a:latin typeface="Arial" pitchFamily="34" charset="0"/>
                <a:ea typeface="Arial" pitchFamily="34" charset="-122"/>
                <a:cs typeface="Arial" pitchFamily="34" charset="-120"/>
              </a:rPr>
              <a:t>Alumnos, grupos, sesiones, capturas, detecciones y asistencias. De cada rostro guarda únicamente su identificador en el índice y la ruta del objeto en el bucket.</a:t>
            </a:r>
            <a:endParaRPr lang="en-US" sz="1950" dirty="0"/>
          </a:p>
        </p:txBody>
      </p:sp>
      <p:sp>
        <p:nvSpPr>
          <p:cNvPr id="8" name="Shape 6"/>
          <p:cNvSpPr/>
          <p:nvPr/>
        </p:nvSpPr>
        <p:spPr>
          <a:xfrm>
            <a:off x="6527750" y="3465165"/>
            <a:ext cx="5232425" cy="3208734"/>
          </a:xfrm>
          <a:prstGeom prst="rect">
            <a:avLst/>
          </a:prstGeom>
          <a:solidFill>
            <a:srgbClr val="FFFFFF"/>
          </a:solidFill>
          <a:ln w="14288">
            <a:solidFill>
              <a:srgbClr val="1F3A5F"/>
            </a:solidFill>
            <a:prstDash val="solid"/>
          </a:ln>
        </p:spPr>
      </p:sp>
      <p:sp>
        <p:nvSpPr>
          <p:cNvPr id="9" name="Text 7"/>
          <p:cNvSpPr/>
          <p:nvPr/>
        </p:nvSpPr>
        <p:spPr>
          <a:xfrm>
            <a:off x="6865888" y="3822353"/>
            <a:ext cx="5011765" cy="357188"/>
          </a:xfrm>
          <a:prstGeom prst="rect">
            <a:avLst/>
          </a:prstGeom>
          <a:noFill/>
          <a:ln/>
        </p:spPr>
        <p:txBody>
          <a:bodyPr wrap="square" lIns="25400" tIns="25400" rIns="25400" bIns="25400" rtlCol="0" anchor="t">
            <a:normAutofit/>
          </a:bodyPr>
          <a:lstStyle/>
          <a:p>
            <a:pPr algn="l" indent="0" marL="0">
              <a:buNone/>
            </a:pPr>
            <a:r>
              <a:rPr lang="en-US" sz="1950" spc="78" kern="0" dirty="0">
                <a:solidFill>
                  <a:srgbClr val="1F3A5F"/>
                </a:solidFill>
                <a:latin typeface="Courier New" pitchFamily="34" charset="0"/>
                <a:ea typeface="Courier New" pitchFamily="34" charset="-122"/>
                <a:cs typeface="Courier New" pitchFamily="34" charset="-120"/>
              </a:rPr>
              <a:t>FAISS</a:t>
            </a:r>
            <a:endParaRPr lang="en-US" sz="1950" dirty="0"/>
          </a:p>
        </p:txBody>
      </p:sp>
      <p:sp>
        <p:nvSpPr>
          <p:cNvPr id="10" name="Text 8"/>
          <p:cNvSpPr/>
          <p:nvPr/>
        </p:nvSpPr>
        <p:spPr>
          <a:xfrm>
            <a:off x="6865888" y="4312890"/>
            <a:ext cx="5011765" cy="434280"/>
          </a:xfrm>
          <a:prstGeom prst="rect">
            <a:avLst/>
          </a:prstGeom>
          <a:noFill/>
          <a:ln/>
        </p:spPr>
        <p:txBody>
          <a:bodyPr wrap="square" lIns="25400" tIns="25400" rIns="25400" bIns="25400" rtlCol="0" anchor="t">
            <a:normAutofit/>
          </a:bodyPr>
          <a:lstStyle/>
          <a:p>
            <a:pPr algn="l" indent="0" marL="0">
              <a:lnSpc>
                <a:spcPct val="112432"/>
              </a:lnSpc>
              <a:buNone/>
            </a:pPr>
            <a:r>
              <a:rPr lang="en-US" sz="2400" dirty="0">
                <a:solidFill>
                  <a:srgbClr val="16181D"/>
                </a:solidFill>
                <a:latin typeface="Arial" pitchFamily="34" charset="0"/>
                <a:ea typeface="Arial" pitchFamily="34" charset="-122"/>
                <a:cs typeface="Arial" pitchFamily="34" charset="-120"/>
              </a:rPr>
              <a:t>Índice vectorial</a:t>
            </a:r>
            <a:endParaRPr lang="en-US" sz="2400" dirty="0"/>
          </a:p>
        </p:txBody>
      </p:sp>
      <p:sp>
        <p:nvSpPr>
          <p:cNvPr id="11" name="Text 9"/>
          <p:cNvSpPr/>
          <p:nvPr/>
        </p:nvSpPr>
        <p:spPr>
          <a:xfrm>
            <a:off x="6865888" y="4880521"/>
            <a:ext cx="4692834" cy="1474291"/>
          </a:xfrm>
          <a:prstGeom prst="rect">
            <a:avLst/>
          </a:prstGeom>
          <a:noFill/>
          <a:ln/>
        </p:spPr>
        <p:txBody>
          <a:bodyPr wrap="square" lIns="25400" tIns="25400" rIns="25400" bIns="25400" rtlCol="0" anchor="t">
            <a:normAutofit/>
          </a:bodyPr>
          <a:lstStyle/>
          <a:p>
            <a:pPr algn="l" indent="0" marL="0">
              <a:lnSpc>
                <a:spcPct val="125667"/>
              </a:lnSpc>
              <a:buNone/>
            </a:pPr>
            <a:r>
              <a:rPr lang="en-US" sz="1950" dirty="0">
                <a:solidFill>
                  <a:srgbClr val="5A6070"/>
                </a:solidFill>
                <a:latin typeface="Arial" pitchFamily="34" charset="0"/>
                <a:ea typeface="Arial" pitchFamily="34" charset="-122"/>
                <a:cs typeface="Arial" pitchFamily="34" charset="-120"/>
              </a:rPr>
              <a:t>Contiene los vectores de los rostros registrados y resuelve la búsqueda por similitud de cada lectura. Devuelve el vecino más cercano y su score.</a:t>
            </a:r>
            <a:endParaRPr lang="en-US" sz="1950" dirty="0"/>
          </a:p>
        </p:txBody>
      </p:sp>
      <p:sp>
        <p:nvSpPr>
          <p:cNvPr id="12" name="Shape 10"/>
          <p:cNvSpPr/>
          <p:nvPr/>
        </p:nvSpPr>
        <p:spPr>
          <a:xfrm>
            <a:off x="12103075" y="3465165"/>
            <a:ext cx="5232350" cy="3208734"/>
          </a:xfrm>
          <a:prstGeom prst="rect">
            <a:avLst/>
          </a:prstGeom>
          <a:solidFill>
            <a:srgbClr val="FFFFFF"/>
          </a:solidFill>
          <a:ln w="14288">
            <a:solidFill>
              <a:srgbClr val="D5D9E0"/>
            </a:solidFill>
            <a:prstDash val="solid"/>
          </a:ln>
        </p:spPr>
      </p:sp>
      <p:sp>
        <p:nvSpPr>
          <p:cNvPr id="13" name="Text 11"/>
          <p:cNvSpPr/>
          <p:nvPr/>
        </p:nvSpPr>
        <p:spPr>
          <a:xfrm>
            <a:off x="12441213" y="3822353"/>
            <a:ext cx="5011683" cy="357188"/>
          </a:xfrm>
          <a:prstGeom prst="rect">
            <a:avLst/>
          </a:prstGeom>
          <a:noFill/>
          <a:ln/>
        </p:spPr>
        <p:txBody>
          <a:bodyPr wrap="square" lIns="25400" tIns="25400" rIns="25400" bIns="25400" rtlCol="0" anchor="t">
            <a:normAutofit/>
          </a:bodyPr>
          <a:lstStyle/>
          <a:p>
            <a:pPr algn="l" indent="0" marL="0">
              <a:buNone/>
            </a:pPr>
            <a:r>
              <a:rPr lang="en-US" sz="1950" spc="78" kern="0" dirty="0">
                <a:solidFill>
                  <a:srgbClr val="1F3A5F"/>
                </a:solidFill>
                <a:latin typeface="Courier New" pitchFamily="34" charset="0"/>
                <a:ea typeface="Courier New" pitchFamily="34" charset="-122"/>
                <a:cs typeface="Courier New" pitchFamily="34" charset="-120"/>
              </a:rPr>
              <a:t>SUPABASE STORAGE</a:t>
            </a:r>
            <a:endParaRPr lang="en-US" sz="1950" dirty="0"/>
          </a:p>
        </p:txBody>
      </p:sp>
      <p:sp>
        <p:nvSpPr>
          <p:cNvPr id="14" name="Text 12"/>
          <p:cNvSpPr/>
          <p:nvPr/>
        </p:nvSpPr>
        <p:spPr>
          <a:xfrm>
            <a:off x="12441213" y="4312890"/>
            <a:ext cx="5011683" cy="434280"/>
          </a:xfrm>
          <a:prstGeom prst="rect">
            <a:avLst/>
          </a:prstGeom>
          <a:noFill/>
          <a:ln/>
        </p:spPr>
        <p:txBody>
          <a:bodyPr wrap="square" lIns="25400" tIns="25400" rIns="25400" bIns="25400" rtlCol="0" anchor="t">
            <a:normAutofit/>
          </a:bodyPr>
          <a:lstStyle/>
          <a:p>
            <a:pPr algn="l" indent="0" marL="0">
              <a:lnSpc>
                <a:spcPct val="112432"/>
              </a:lnSpc>
              <a:buNone/>
            </a:pPr>
            <a:r>
              <a:rPr lang="en-US" sz="2400" dirty="0">
                <a:solidFill>
                  <a:srgbClr val="16181D"/>
                </a:solidFill>
                <a:latin typeface="Arial" pitchFamily="34" charset="0"/>
                <a:ea typeface="Arial" pitchFamily="34" charset="-122"/>
                <a:cs typeface="Arial" pitchFamily="34" charset="-120"/>
              </a:rPr>
              <a:t>Bucket privado</a:t>
            </a:r>
            <a:endParaRPr lang="en-US" sz="2400" dirty="0"/>
          </a:p>
        </p:txBody>
      </p:sp>
      <p:sp>
        <p:nvSpPr>
          <p:cNvPr id="15" name="Text 13"/>
          <p:cNvSpPr/>
          <p:nvPr/>
        </p:nvSpPr>
        <p:spPr>
          <a:xfrm>
            <a:off x="12441213" y="4880521"/>
            <a:ext cx="4692758" cy="1474291"/>
          </a:xfrm>
          <a:prstGeom prst="rect">
            <a:avLst/>
          </a:prstGeom>
          <a:noFill/>
          <a:ln/>
        </p:spPr>
        <p:txBody>
          <a:bodyPr wrap="square" lIns="25400" tIns="25400" rIns="25400" bIns="25400" rtlCol="0" anchor="t">
            <a:normAutofit/>
          </a:bodyPr>
          <a:lstStyle/>
          <a:p>
            <a:pPr algn="l" indent="0" marL="0">
              <a:lnSpc>
                <a:spcPct val="125667"/>
              </a:lnSpc>
              <a:buNone/>
            </a:pPr>
            <a:r>
              <a:rPr lang="en-US" sz="1950" dirty="0">
                <a:solidFill>
                  <a:srgbClr val="5A6070"/>
                </a:solidFill>
                <a:latin typeface="Arial" pitchFamily="34" charset="0"/>
                <a:ea typeface="Arial" pitchFamily="34" charset="-122"/>
                <a:cs typeface="Arial" pitchFamily="34" charset="-120"/>
              </a:rPr>
              <a:t>Fotos de registro, el archivo del índice versionado y los recortes de rostro de cada lectura, con retención definida y acceso por URL firmada.</a:t>
            </a:r>
            <a:endParaRPr lang="en-US" sz="1950" dirty="0"/>
          </a:p>
        </p:txBody>
      </p:sp>
      <p:sp>
        <p:nvSpPr>
          <p:cNvPr id="16" name="Shape 14"/>
          <p:cNvSpPr/>
          <p:nvPr/>
        </p:nvSpPr>
        <p:spPr>
          <a:xfrm>
            <a:off x="952500" y="7207300"/>
            <a:ext cx="13811250" cy="14288"/>
          </a:xfrm>
          <a:prstGeom prst="rect">
            <a:avLst/>
          </a:prstGeom>
          <a:solidFill>
            <a:srgbClr val="D5D9E0"/>
          </a:solidFill>
          <a:ln/>
        </p:spPr>
      </p:sp>
      <p:sp>
        <p:nvSpPr>
          <p:cNvPr id="17" name="Text 15"/>
          <p:cNvSpPr/>
          <p:nvPr/>
        </p:nvSpPr>
        <p:spPr>
          <a:xfrm>
            <a:off x="952500" y="7488287"/>
            <a:ext cx="14225588" cy="811411"/>
          </a:xfrm>
          <a:prstGeom prst="rect">
            <a:avLst/>
          </a:prstGeom>
          <a:noFill/>
          <a:ln/>
        </p:spPr>
        <p:txBody>
          <a:bodyPr wrap="square" lIns="25400" tIns="25400" rIns="25400" bIns="25400" rtlCol="0" anchor="t">
            <a:normAutofit/>
          </a:bodyPr>
          <a:lstStyle/>
          <a:p>
            <a:pPr algn="l" indent="0" marL="0">
              <a:lnSpc>
                <a:spcPct val="124923"/>
              </a:lnSpc>
              <a:buNone/>
            </a:pPr>
            <a:r>
              <a:rPr lang="en-US" sz="2100" dirty="0">
                <a:solidFill>
                  <a:srgbClr val="5A6070"/>
                </a:solidFill>
                <a:latin typeface="Arial" pitchFamily="34" charset="0"/>
                <a:ea typeface="Arial" pitchFamily="34" charset="-122"/>
                <a:cs typeface="Arial" pitchFamily="34" charset="-120"/>
              </a:rPr>
              <a:t>El lenguaje y el framework del servicio de reconocimiento se definen en la siguiente etapa. El modelo de datos no depende de esa decisión.</a:t>
            </a:r>
            <a:endParaRPr lang="en-US" sz="2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952500" y="952500"/>
            <a:ext cx="18021300" cy="3333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1F3A5F"/>
                </a:solidFill>
                <a:latin typeface="Courier New" pitchFamily="34" charset="0"/>
                <a:ea typeface="Courier New" pitchFamily="34" charset="-122"/>
                <a:cs typeface="Courier New" pitchFamily="34" charset="-120"/>
              </a:rPr>
              <a:t>ALCANCE Y SUPUESTOS</a:t>
            </a:r>
            <a:endParaRPr lang="en-US" sz="1800" dirty="0"/>
          </a:p>
        </p:txBody>
      </p:sp>
      <p:sp>
        <p:nvSpPr>
          <p:cNvPr id="3" name="Text 1"/>
          <p:cNvSpPr/>
          <p:nvPr/>
        </p:nvSpPr>
        <p:spPr>
          <a:xfrm>
            <a:off x="952500" y="1476375"/>
            <a:ext cx="14668500" cy="732979"/>
          </a:xfrm>
          <a:prstGeom prst="rect">
            <a:avLst/>
          </a:prstGeom>
          <a:noFill/>
          <a:ln/>
        </p:spPr>
        <p:txBody>
          <a:bodyPr wrap="square" lIns="25400" tIns="25400" rIns="25400" bIns="25400" rtlCol="0" anchor="t">
            <a:normAutofit/>
          </a:bodyPr>
          <a:lstStyle/>
          <a:p>
            <a:pPr algn="l" indent="0" marL="0">
              <a:lnSpc>
                <a:spcPct val="100634"/>
              </a:lnSpc>
              <a:buNone/>
            </a:pPr>
            <a:r>
              <a:rPr lang="en-US" sz="4800" b="1" spc="-72" kern="0" dirty="0">
                <a:solidFill>
                  <a:srgbClr val="16181D"/>
                </a:solidFill>
                <a:latin typeface="Georgia" pitchFamily="34" charset="0"/>
                <a:ea typeface="Georgia" pitchFamily="34" charset="-122"/>
                <a:cs typeface="Georgia" pitchFamily="34" charset="-120"/>
              </a:rPr>
              <a:t>Qué cubre la primera versión del sistema</a:t>
            </a:r>
            <a:endParaRPr lang="en-US" sz="4800" dirty="0"/>
          </a:p>
        </p:txBody>
      </p:sp>
      <p:sp>
        <p:nvSpPr>
          <p:cNvPr id="4" name="Shape 2"/>
          <p:cNvSpPr/>
          <p:nvPr/>
        </p:nvSpPr>
        <p:spPr>
          <a:xfrm>
            <a:off x="952500" y="3233291"/>
            <a:ext cx="7810500" cy="19050"/>
          </a:xfrm>
          <a:prstGeom prst="rect">
            <a:avLst/>
          </a:prstGeom>
          <a:solidFill>
            <a:srgbClr val="1F3A5F"/>
          </a:solidFill>
          <a:ln/>
        </p:spPr>
      </p:sp>
      <p:sp>
        <p:nvSpPr>
          <p:cNvPr id="5" name="Text 3"/>
          <p:cNvSpPr/>
          <p:nvPr/>
        </p:nvSpPr>
        <p:spPr>
          <a:xfrm>
            <a:off x="952500" y="2742754"/>
            <a:ext cx="8044815" cy="357187"/>
          </a:xfrm>
          <a:prstGeom prst="rect">
            <a:avLst/>
          </a:prstGeom>
          <a:noFill/>
          <a:ln/>
        </p:spPr>
        <p:txBody>
          <a:bodyPr wrap="square" lIns="25400" tIns="25400" rIns="25400" bIns="25400" rtlCol="0" anchor="t">
            <a:normAutofit/>
          </a:bodyPr>
          <a:lstStyle/>
          <a:p>
            <a:pPr algn="l" indent="0" marL="0">
              <a:buNone/>
            </a:pPr>
            <a:r>
              <a:rPr lang="en-US" sz="1950" spc="195" kern="0" dirty="0">
                <a:solidFill>
                  <a:srgbClr val="1F3A5F"/>
                </a:solidFill>
                <a:latin typeface="Courier New" pitchFamily="34" charset="0"/>
                <a:ea typeface="Courier New" pitchFamily="34" charset="-122"/>
                <a:cs typeface="Courier New" pitchFamily="34" charset="-120"/>
              </a:rPr>
              <a:t>INCLUYE</a:t>
            </a:r>
            <a:endParaRPr lang="en-US" sz="1950" dirty="0"/>
          </a:p>
        </p:txBody>
      </p:sp>
      <p:sp>
        <p:nvSpPr>
          <p:cNvPr id="6" name="Text 4"/>
          <p:cNvSpPr/>
          <p:nvPr/>
        </p:nvSpPr>
        <p:spPr>
          <a:xfrm>
            <a:off x="952500" y="3480941"/>
            <a:ext cx="8044815" cy="866775"/>
          </a:xfrm>
          <a:prstGeom prst="rect">
            <a:avLst/>
          </a:prstGeom>
          <a:noFill/>
          <a:ln/>
        </p:spPr>
        <p:txBody>
          <a:bodyPr wrap="square" lIns="25400" tIns="25400" rIns="25400" bIns="25400" rtlCol="0" anchor="t">
            <a:normAutofit/>
          </a:bodyPr>
          <a:lstStyle/>
          <a:p>
            <a:pPr algn="l" indent="0" marL="0">
              <a:lnSpc>
                <a:spcPct val="126087"/>
              </a:lnSpc>
              <a:buNone/>
            </a:pPr>
            <a:r>
              <a:rPr lang="en-US" sz="2250" dirty="0">
                <a:solidFill>
                  <a:srgbClr val="16181D"/>
                </a:solidFill>
                <a:latin typeface="Arial" pitchFamily="34" charset="0"/>
                <a:ea typeface="Arial" pitchFamily="34" charset="-122"/>
                <a:cs typeface="Arial" pitchFamily="34" charset="-120"/>
              </a:rPr>
              <a:t>Alta de alumnos, docentes, materias y grupos por periodo escolar.</a:t>
            </a:r>
            <a:endParaRPr lang="en-US" sz="2250" dirty="0"/>
          </a:p>
        </p:txBody>
      </p:sp>
      <p:sp>
        <p:nvSpPr>
          <p:cNvPr id="7" name="Text 5"/>
          <p:cNvSpPr/>
          <p:nvPr/>
        </p:nvSpPr>
        <p:spPr>
          <a:xfrm>
            <a:off x="952500" y="4538216"/>
            <a:ext cx="8044815" cy="866775"/>
          </a:xfrm>
          <a:prstGeom prst="rect">
            <a:avLst/>
          </a:prstGeom>
          <a:noFill/>
          <a:ln/>
        </p:spPr>
        <p:txBody>
          <a:bodyPr wrap="square" lIns="25400" tIns="25400" rIns="25400" bIns="25400" rtlCol="0" anchor="t">
            <a:normAutofit/>
          </a:bodyPr>
          <a:lstStyle/>
          <a:p>
            <a:pPr algn="l" indent="0" marL="0">
              <a:lnSpc>
                <a:spcPct val="126087"/>
              </a:lnSpc>
              <a:buNone/>
            </a:pPr>
            <a:r>
              <a:rPr lang="en-US" sz="2250" dirty="0">
                <a:solidFill>
                  <a:srgbClr val="16181D"/>
                </a:solidFill>
                <a:latin typeface="Arial" pitchFamily="34" charset="0"/>
                <a:ea typeface="Arial" pitchFamily="34" charset="-122"/>
                <a:cs typeface="Arial" pitchFamily="34" charset="-120"/>
              </a:rPr>
              <a:t>Registro de una plantilla facial por alumno, previo consentimiento.</a:t>
            </a:r>
            <a:endParaRPr lang="en-US" sz="2250" dirty="0"/>
          </a:p>
        </p:txBody>
      </p:sp>
      <p:sp>
        <p:nvSpPr>
          <p:cNvPr id="8" name="Text 6"/>
          <p:cNvSpPr/>
          <p:nvPr/>
        </p:nvSpPr>
        <p:spPr>
          <a:xfrm>
            <a:off x="952500" y="5595491"/>
            <a:ext cx="8044815" cy="866775"/>
          </a:xfrm>
          <a:prstGeom prst="rect">
            <a:avLst/>
          </a:prstGeom>
          <a:noFill/>
          <a:ln/>
        </p:spPr>
        <p:txBody>
          <a:bodyPr wrap="square" lIns="25400" tIns="25400" rIns="25400" bIns="25400" rtlCol="0" anchor="t">
            <a:normAutofit/>
          </a:bodyPr>
          <a:lstStyle/>
          <a:p>
            <a:pPr algn="l" indent="0" marL="0">
              <a:lnSpc>
                <a:spcPct val="126087"/>
              </a:lnSpc>
              <a:buNone/>
            </a:pPr>
            <a:r>
              <a:rPr lang="en-US" sz="2250" dirty="0">
                <a:solidFill>
                  <a:srgbClr val="16181D"/>
                </a:solidFill>
                <a:latin typeface="Arial" pitchFamily="34" charset="0"/>
                <a:ea typeface="Arial" pitchFamily="34" charset="-122"/>
                <a:cs typeface="Arial" pitchFamily="34" charset="-120"/>
              </a:rPr>
              <a:t>Muestreo periódico durante la ventana de tolerancia y consolidación de lecturas.</a:t>
            </a:r>
            <a:endParaRPr lang="en-US" sz="2250" dirty="0"/>
          </a:p>
        </p:txBody>
      </p:sp>
      <p:sp>
        <p:nvSpPr>
          <p:cNvPr id="9" name="Text 7"/>
          <p:cNvSpPr/>
          <p:nvPr/>
        </p:nvSpPr>
        <p:spPr>
          <a:xfrm>
            <a:off x="952500" y="6652766"/>
            <a:ext cx="8044815" cy="866775"/>
          </a:xfrm>
          <a:prstGeom prst="rect">
            <a:avLst/>
          </a:prstGeom>
          <a:noFill/>
          <a:ln/>
        </p:spPr>
        <p:txBody>
          <a:bodyPr wrap="square" lIns="25400" tIns="25400" rIns="25400" bIns="25400" rtlCol="0" anchor="t">
            <a:normAutofit/>
          </a:bodyPr>
          <a:lstStyle/>
          <a:p>
            <a:pPr algn="l" indent="0" marL="0">
              <a:lnSpc>
                <a:spcPct val="126087"/>
              </a:lnSpc>
              <a:buNone/>
            </a:pPr>
            <a:r>
              <a:rPr lang="en-US" sz="2250" dirty="0">
                <a:solidFill>
                  <a:srgbClr val="16181D"/>
                </a:solidFill>
                <a:latin typeface="Arial" pitchFamily="34" charset="0"/>
                <a:ea typeface="Arial" pitchFamily="34" charset="-122"/>
                <a:cs typeface="Arial" pitchFamily="34" charset="-120"/>
              </a:rPr>
              <a:t>Cola de revisión del docente para los casos dudosos y los justificantes.</a:t>
            </a:r>
            <a:endParaRPr lang="en-US" sz="2250" dirty="0"/>
          </a:p>
        </p:txBody>
      </p:sp>
      <p:sp>
        <p:nvSpPr>
          <p:cNvPr id="10" name="Text 8"/>
          <p:cNvSpPr/>
          <p:nvPr/>
        </p:nvSpPr>
        <p:spPr>
          <a:xfrm>
            <a:off x="952500" y="7710041"/>
            <a:ext cx="8591550" cy="452438"/>
          </a:xfrm>
          <a:prstGeom prst="rect">
            <a:avLst/>
          </a:prstGeom>
          <a:noFill/>
          <a:ln/>
        </p:spPr>
        <p:txBody>
          <a:bodyPr wrap="square" lIns="25400" tIns="25400" rIns="25400" bIns="25400" rtlCol="0" anchor="t">
            <a:normAutofit/>
          </a:bodyPr>
          <a:lstStyle/>
          <a:p>
            <a:pPr algn="l" indent="0" marL="0">
              <a:lnSpc>
                <a:spcPct val="126087"/>
              </a:lnSpc>
              <a:buNone/>
            </a:pPr>
            <a:r>
              <a:rPr lang="en-US" sz="2250" dirty="0">
                <a:solidFill>
                  <a:srgbClr val="16181D"/>
                </a:solidFill>
                <a:latin typeface="Arial" pitchFamily="34" charset="0"/>
                <a:ea typeface="Arial" pitchFamily="34" charset="-122"/>
                <a:cs typeface="Arial" pitchFamily="34" charset="-120"/>
              </a:rPr>
              <a:t>Reportes de asistencia por alumno, grupo y periodo.</a:t>
            </a:r>
            <a:endParaRPr lang="en-US" sz="2250" dirty="0"/>
          </a:p>
        </p:txBody>
      </p:sp>
      <p:sp>
        <p:nvSpPr>
          <p:cNvPr id="11" name="Shape 9"/>
          <p:cNvSpPr/>
          <p:nvPr/>
        </p:nvSpPr>
        <p:spPr>
          <a:xfrm>
            <a:off x="9525000" y="3233291"/>
            <a:ext cx="7810500" cy="19050"/>
          </a:xfrm>
          <a:prstGeom prst="rect">
            <a:avLst/>
          </a:prstGeom>
          <a:solidFill>
            <a:srgbClr val="D5D9E0"/>
          </a:solidFill>
          <a:ln/>
        </p:spPr>
      </p:sp>
      <p:sp>
        <p:nvSpPr>
          <p:cNvPr id="12" name="Text 10"/>
          <p:cNvSpPr/>
          <p:nvPr/>
        </p:nvSpPr>
        <p:spPr>
          <a:xfrm>
            <a:off x="9525000" y="2742754"/>
            <a:ext cx="8044815" cy="357187"/>
          </a:xfrm>
          <a:prstGeom prst="rect">
            <a:avLst/>
          </a:prstGeom>
          <a:noFill/>
          <a:ln/>
        </p:spPr>
        <p:txBody>
          <a:bodyPr wrap="square" lIns="25400" tIns="25400" rIns="25400" bIns="25400" rtlCol="0" anchor="t">
            <a:normAutofit/>
          </a:bodyPr>
          <a:lstStyle/>
          <a:p>
            <a:pPr algn="l" indent="0" marL="0">
              <a:buNone/>
            </a:pPr>
            <a:r>
              <a:rPr lang="en-US" sz="1950" spc="195" kern="0" dirty="0">
                <a:solidFill>
                  <a:srgbClr val="8B93A3"/>
                </a:solidFill>
                <a:latin typeface="Courier New" pitchFamily="34" charset="0"/>
                <a:ea typeface="Courier New" pitchFamily="34" charset="-122"/>
                <a:cs typeface="Courier New" pitchFamily="34" charset="-120"/>
              </a:rPr>
              <a:t>QUEDA FUERA DE ESTA VERSIÓN</a:t>
            </a:r>
            <a:endParaRPr lang="en-US" sz="1950" dirty="0"/>
          </a:p>
        </p:txBody>
      </p:sp>
      <p:sp>
        <p:nvSpPr>
          <p:cNvPr id="13" name="Text 11"/>
          <p:cNvSpPr/>
          <p:nvPr/>
        </p:nvSpPr>
        <p:spPr>
          <a:xfrm>
            <a:off x="9525000" y="3480941"/>
            <a:ext cx="8044815" cy="866775"/>
          </a:xfrm>
          <a:prstGeom prst="rect">
            <a:avLst/>
          </a:prstGeom>
          <a:noFill/>
          <a:ln/>
        </p:spPr>
        <p:txBody>
          <a:bodyPr wrap="square" lIns="25400" tIns="25400" rIns="25400" bIns="25400" rtlCol="0" anchor="t">
            <a:normAutofit/>
          </a:bodyPr>
          <a:lstStyle/>
          <a:p>
            <a:pPr algn="l" indent="0" marL="0">
              <a:lnSpc>
                <a:spcPct val="126087"/>
              </a:lnSpc>
              <a:buNone/>
            </a:pPr>
            <a:r>
              <a:rPr lang="en-US" sz="2250" dirty="0">
                <a:solidFill>
                  <a:srgbClr val="5A6070"/>
                </a:solidFill>
                <a:latin typeface="Arial" pitchFamily="34" charset="0"/>
                <a:ea typeface="Arial" pitchFamily="34" charset="-122"/>
                <a:cs typeface="Arial" pitchFamily="34" charset="-120"/>
              </a:rPr>
              <a:t>Entrenamiento del modelo de visión: se usa una librería existente.</a:t>
            </a:r>
            <a:endParaRPr lang="en-US" sz="2250" dirty="0"/>
          </a:p>
        </p:txBody>
      </p:sp>
      <p:sp>
        <p:nvSpPr>
          <p:cNvPr id="14" name="Text 12"/>
          <p:cNvSpPr/>
          <p:nvPr/>
        </p:nvSpPr>
        <p:spPr>
          <a:xfrm>
            <a:off x="9525000" y="4538216"/>
            <a:ext cx="8591550" cy="452438"/>
          </a:xfrm>
          <a:prstGeom prst="rect">
            <a:avLst/>
          </a:prstGeom>
          <a:noFill/>
          <a:ln/>
        </p:spPr>
        <p:txBody>
          <a:bodyPr wrap="square" lIns="25400" tIns="25400" rIns="25400" bIns="25400" rtlCol="0" anchor="t">
            <a:normAutofit/>
          </a:bodyPr>
          <a:lstStyle/>
          <a:p>
            <a:pPr algn="l" indent="0" marL="0">
              <a:lnSpc>
                <a:spcPct val="126087"/>
              </a:lnSpc>
              <a:buNone/>
            </a:pPr>
            <a:r>
              <a:rPr lang="en-US" sz="2250" dirty="0">
                <a:solidFill>
                  <a:srgbClr val="5A6070"/>
                </a:solidFill>
                <a:latin typeface="Arial" pitchFamily="34" charset="0"/>
                <a:ea typeface="Arial" pitchFamily="34" charset="-122"/>
                <a:cs typeface="Arial" pitchFamily="34" charset="-120"/>
              </a:rPr>
              <a:t>Control de acceso físico a edificios o laboratorios.</a:t>
            </a:r>
            <a:endParaRPr lang="en-US" sz="2250" dirty="0"/>
          </a:p>
        </p:txBody>
      </p:sp>
      <p:sp>
        <p:nvSpPr>
          <p:cNvPr id="15" name="Text 13"/>
          <p:cNvSpPr/>
          <p:nvPr/>
        </p:nvSpPr>
        <p:spPr>
          <a:xfrm>
            <a:off x="9525000" y="5181154"/>
            <a:ext cx="8044815" cy="866775"/>
          </a:xfrm>
          <a:prstGeom prst="rect">
            <a:avLst/>
          </a:prstGeom>
          <a:noFill/>
          <a:ln/>
        </p:spPr>
        <p:txBody>
          <a:bodyPr wrap="square" lIns="25400" tIns="25400" rIns="25400" bIns="25400" rtlCol="0" anchor="t">
            <a:normAutofit/>
          </a:bodyPr>
          <a:lstStyle/>
          <a:p>
            <a:pPr algn="l" indent="0" marL="0">
              <a:lnSpc>
                <a:spcPct val="126087"/>
              </a:lnSpc>
              <a:buNone/>
            </a:pPr>
            <a:r>
              <a:rPr lang="en-US" sz="2250" dirty="0">
                <a:solidFill>
                  <a:srgbClr val="5A6070"/>
                </a:solidFill>
                <a:latin typeface="Arial" pitchFamily="34" charset="0"/>
                <a:ea typeface="Arial" pitchFamily="34" charset="-122"/>
                <a:cs typeface="Arial" pitchFamily="34" charset="-120"/>
              </a:rPr>
              <a:t>Calificaciones, kárdex y cualquier dato académico distinto a la asistencia.</a:t>
            </a:r>
            <a:endParaRPr lang="en-US" sz="2250" dirty="0"/>
          </a:p>
        </p:txBody>
      </p:sp>
      <p:sp>
        <p:nvSpPr>
          <p:cNvPr id="16" name="Text 14"/>
          <p:cNvSpPr/>
          <p:nvPr/>
        </p:nvSpPr>
        <p:spPr>
          <a:xfrm>
            <a:off x="9525000" y="6238429"/>
            <a:ext cx="8591550" cy="452438"/>
          </a:xfrm>
          <a:prstGeom prst="rect">
            <a:avLst/>
          </a:prstGeom>
          <a:noFill/>
          <a:ln/>
        </p:spPr>
        <p:txBody>
          <a:bodyPr wrap="square" lIns="25400" tIns="25400" rIns="25400" bIns="25400" rtlCol="0" anchor="t">
            <a:normAutofit/>
          </a:bodyPr>
          <a:lstStyle/>
          <a:p>
            <a:pPr algn="l" indent="0" marL="0">
              <a:lnSpc>
                <a:spcPct val="126087"/>
              </a:lnSpc>
              <a:buNone/>
            </a:pPr>
            <a:r>
              <a:rPr lang="en-US" sz="2250" dirty="0">
                <a:solidFill>
                  <a:srgbClr val="5A6070"/>
                </a:solidFill>
                <a:latin typeface="Arial" pitchFamily="34" charset="0"/>
                <a:ea typeface="Arial" pitchFamily="34" charset="-122"/>
                <a:cs typeface="Arial" pitchFamily="34" charset="-120"/>
              </a:rPr>
              <a:t>Aplicación móvil para el alumno.</a:t>
            </a:r>
            <a:endParaRPr lang="en-US" sz="2250" dirty="0"/>
          </a:p>
        </p:txBody>
      </p:sp>
      <p:sp>
        <p:nvSpPr>
          <p:cNvPr id="17" name="Text 15"/>
          <p:cNvSpPr/>
          <p:nvPr/>
        </p:nvSpPr>
        <p:spPr>
          <a:xfrm>
            <a:off x="9525000" y="6881366"/>
            <a:ext cx="8591550" cy="452438"/>
          </a:xfrm>
          <a:prstGeom prst="rect">
            <a:avLst/>
          </a:prstGeom>
          <a:noFill/>
          <a:ln/>
        </p:spPr>
        <p:txBody>
          <a:bodyPr wrap="square" lIns="25400" tIns="25400" rIns="25400" bIns="25400" rtlCol="0" anchor="t">
            <a:normAutofit/>
          </a:bodyPr>
          <a:lstStyle/>
          <a:p>
            <a:pPr algn="l" indent="0" marL="0">
              <a:lnSpc>
                <a:spcPct val="126087"/>
              </a:lnSpc>
              <a:buNone/>
            </a:pPr>
            <a:r>
              <a:rPr lang="en-US" sz="2250" dirty="0">
                <a:solidFill>
                  <a:srgbClr val="5A6070"/>
                </a:solidFill>
                <a:latin typeface="Arial" pitchFamily="34" charset="0"/>
                <a:ea typeface="Arial" pitchFamily="34" charset="-122"/>
                <a:cs typeface="Arial" pitchFamily="34" charset="-120"/>
              </a:rPr>
              <a:t>Detección de vida para evitar el uso de fotografías.</a:t>
            </a:r>
            <a:endParaRPr lang="en-US" sz="2250" dirty="0"/>
          </a:p>
        </p:txBody>
      </p:sp>
      <p:sp>
        <p:nvSpPr>
          <p:cNvPr id="18" name="Shape 16"/>
          <p:cNvSpPr/>
          <p:nvPr/>
        </p:nvSpPr>
        <p:spPr>
          <a:xfrm>
            <a:off x="952500" y="8543479"/>
            <a:ext cx="16383000" cy="9525"/>
          </a:xfrm>
          <a:prstGeom prst="rect">
            <a:avLst/>
          </a:prstGeom>
          <a:solidFill>
            <a:srgbClr val="D5D9E0"/>
          </a:solidFill>
          <a:ln/>
        </p:spPr>
      </p:sp>
      <p:sp>
        <p:nvSpPr>
          <p:cNvPr id="19" name="Text 17"/>
          <p:cNvSpPr/>
          <p:nvPr/>
        </p:nvSpPr>
        <p:spPr>
          <a:xfrm>
            <a:off x="952500" y="8800654"/>
            <a:ext cx="16874490" cy="397148"/>
          </a:xfrm>
          <a:prstGeom prst="rect">
            <a:avLst/>
          </a:prstGeom>
          <a:noFill/>
          <a:ln/>
        </p:spPr>
        <p:txBody>
          <a:bodyPr wrap="square" lIns="25400" tIns="25400" rIns="25400" bIns="25400" rtlCol="0" anchor="t">
            <a:normAutofit/>
          </a:bodyPr>
          <a:lstStyle/>
          <a:p>
            <a:pPr algn="l" indent="0" marL="0">
              <a:lnSpc>
                <a:spcPct val="125667"/>
              </a:lnSpc>
              <a:buNone/>
            </a:pPr>
            <a:r>
              <a:rPr lang="en-US" sz="1950" dirty="0">
                <a:solidFill>
                  <a:srgbClr val="8B93A3"/>
                </a:solidFill>
                <a:latin typeface="Arial" pitchFamily="34" charset="0"/>
                <a:ea typeface="Arial" pitchFamily="34" charset="-122"/>
                <a:cs typeface="Arial" pitchFamily="34" charset="-120"/>
              </a:rPr>
              <a:t>Supuesto: una o dos cámaras fijas por aula, colocadas al frente y al fondo para cubrir los ángulos del grupo, con conexión a la red del plantel.</a:t>
            </a:r>
            <a:endParaRPr lang="en-US" sz="1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F3A5F"/>
        </a:solidFill>
      </p:bgPr>
    </p:bg>
    <p:spTree>
      <p:nvGrpSpPr>
        <p:cNvPr id="1" name=""/>
        <p:cNvGrpSpPr/>
        <p:nvPr/>
      </p:nvGrpSpPr>
      <p:grpSpPr>
        <a:xfrm>
          <a:off x="0" y="0"/>
          <a:ext cx="0" cy="0"/>
          <a:chOff x="0" y="0"/>
          <a:chExt cx="0" cy="0"/>
        </a:xfrm>
      </p:grpSpPr>
      <p:sp>
        <p:nvSpPr>
          <p:cNvPr id="2" name="Text 0"/>
          <p:cNvSpPr/>
          <p:nvPr/>
        </p:nvSpPr>
        <p:spPr>
          <a:xfrm>
            <a:off x="952500" y="5816947"/>
            <a:ext cx="18021300" cy="1752600"/>
          </a:xfrm>
          <a:prstGeom prst="rect">
            <a:avLst/>
          </a:prstGeom>
          <a:noFill/>
          <a:ln/>
        </p:spPr>
        <p:txBody>
          <a:bodyPr wrap="square" lIns="25400" tIns="25400" rIns="25400" bIns="25400" rtlCol="0" anchor="t">
            <a:normAutofit/>
          </a:bodyPr>
          <a:lstStyle/>
          <a:p>
            <a:pPr algn="l" indent="0" marL="0">
              <a:lnSpc>
                <a:spcPct val="88020"/>
              </a:lnSpc>
              <a:buNone/>
            </a:pPr>
            <a:r>
              <a:rPr lang="en-US" sz="13500" b="1" dirty="0">
                <a:solidFill>
                  <a:srgbClr val="3C5A85"/>
                </a:solidFill>
                <a:latin typeface="Georgia" pitchFamily="34" charset="0"/>
                <a:ea typeface="Georgia" pitchFamily="34" charset="-122"/>
                <a:cs typeface="Georgia" pitchFamily="34" charset="-120"/>
              </a:rPr>
              <a:t>01</a:t>
            </a:r>
            <a:endParaRPr lang="en-US" sz="13500" dirty="0"/>
          </a:p>
        </p:txBody>
      </p:sp>
      <p:sp>
        <p:nvSpPr>
          <p:cNvPr id="3" name="Text 1"/>
          <p:cNvSpPr/>
          <p:nvPr/>
        </p:nvSpPr>
        <p:spPr>
          <a:xfrm>
            <a:off x="952500" y="7912447"/>
            <a:ext cx="18021300" cy="876300"/>
          </a:xfrm>
          <a:prstGeom prst="rect">
            <a:avLst/>
          </a:prstGeom>
          <a:noFill/>
          <a:ln/>
        </p:spPr>
        <p:txBody>
          <a:bodyPr wrap="square" lIns="25400" tIns="25400" rIns="25400" bIns="25400" rtlCol="0" anchor="t">
            <a:normAutofit/>
          </a:bodyPr>
          <a:lstStyle/>
          <a:p>
            <a:pPr algn="l" indent="0" marL="0">
              <a:lnSpc>
                <a:spcPct val="96703"/>
              </a:lnSpc>
              <a:buNone/>
            </a:pPr>
            <a:r>
              <a:rPr lang="en-US" sz="6000" b="1" spc="-120" kern="0" dirty="0">
                <a:solidFill>
                  <a:srgbClr val="F7F8FA"/>
                </a:solidFill>
                <a:latin typeface="Georgia" pitchFamily="34" charset="0"/>
                <a:ea typeface="Georgia" pitchFamily="34" charset="-122"/>
                <a:cs typeface="Georgia" pitchFamily="34" charset="-120"/>
              </a:rPr>
              <a:t>Modelo de datos</a:t>
            </a:r>
            <a:endParaRPr lang="en-US" sz="6000" dirty="0"/>
          </a:p>
        </p:txBody>
      </p:sp>
      <p:sp>
        <p:nvSpPr>
          <p:cNvPr id="4" name="Text 2"/>
          <p:cNvSpPr/>
          <p:nvPr/>
        </p:nvSpPr>
        <p:spPr>
          <a:xfrm>
            <a:off x="952500" y="9055447"/>
            <a:ext cx="12049125" cy="507653"/>
          </a:xfrm>
          <a:prstGeom prst="rect">
            <a:avLst/>
          </a:prstGeom>
          <a:noFill/>
          <a:ln/>
        </p:spPr>
        <p:txBody>
          <a:bodyPr wrap="square" lIns="25400" tIns="25400" rIns="25400" bIns="25400" rtlCol="0" anchor="t">
            <a:normAutofit/>
          </a:bodyPr>
          <a:lstStyle/>
          <a:p>
            <a:pPr algn="l" indent="0" marL="0">
              <a:lnSpc>
                <a:spcPct val="126410"/>
              </a:lnSpc>
              <a:buNone/>
            </a:pPr>
            <a:r>
              <a:rPr lang="en-US" sz="2550" dirty="0">
                <a:solidFill>
                  <a:srgbClr val="C6D3E5"/>
                </a:solidFill>
                <a:latin typeface="Arial" pitchFamily="34" charset="0"/>
                <a:ea typeface="Arial" pitchFamily="34" charset="-122"/>
                <a:cs typeface="Arial" pitchFamily="34" charset="-120"/>
              </a:rPr>
              <a:t>Entidades principales, atributos, relaciones y cardinalidades.</a:t>
            </a:r>
            <a:endParaRPr lang="en-US" sz="2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952500" y="952500"/>
            <a:ext cx="18021300" cy="3333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1F3A5F"/>
                </a:solidFill>
                <a:latin typeface="Courier New" pitchFamily="34" charset="0"/>
                <a:ea typeface="Courier New" pitchFamily="34" charset="-122"/>
                <a:cs typeface="Courier New" pitchFamily="34" charset="-120"/>
              </a:rPr>
              <a:t>ENTIDADES PRINCIPALES</a:t>
            </a:r>
            <a:endParaRPr lang="en-US" sz="1800" dirty="0"/>
          </a:p>
        </p:txBody>
      </p:sp>
      <p:sp>
        <p:nvSpPr>
          <p:cNvPr id="3" name="Text 1"/>
          <p:cNvSpPr/>
          <p:nvPr/>
        </p:nvSpPr>
        <p:spPr>
          <a:xfrm>
            <a:off x="952500" y="1476375"/>
            <a:ext cx="18021300" cy="646137"/>
          </a:xfrm>
          <a:prstGeom prst="rect">
            <a:avLst/>
          </a:prstGeom>
          <a:noFill/>
          <a:ln/>
        </p:spPr>
        <p:txBody>
          <a:bodyPr wrap="square" lIns="25400" tIns="25400" rIns="25400" bIns="25400" rtlCol="0" anchor="t">
            <a:normAutofit/>
          </a:bodyPr>
          <a:lstStyle/>
          <a:p>
            <a:pPr algn="l" indent="0" marL="0">
              <a:lnSpc>
                <a:spcPct val="99750"/>
              </a:lnSpc>
              <a:buNone/>
            </a:pPr>
            <a:r>
              <a:rPr lang="en-US" sz="4200" b="1" spc="-63" kern="0" dirty="0">
                <a:solidFill>
                  <a:srgbClr val="16181D"/>
                </a:solidFill>
                <a:latin typeface="Georgia" pitchFamily="34" charset="0"/>
                <a:ea typeface="Georgia" pitchFamily="34" charset="-122"/>
                <a:cs typeface="Georgia" pitchFamily="34" charset="-120"/>
              </a:rPr>
              <a:t>Doce entidades sostienen el registro de asistencia</a:t>
            </a:r>
            <a:endParaRPr lang="en-US" sz="4200" dirty="0"/>
          </a:p>
        </p:txBody>
      </p:sp>
      <p:sp>
        <p:nvSpPr>
          <p:cNvPr id="4" name="Shape 2"/>
          <p:cNvSpPr/>
          <p:nvPr/>
        </p:nvSpPr>
        <p:spPr>
          <a:xfrm>
            <a:off x="952500" y="2655912"/>
            <a:ext cx="3938588" cy="1526381"/>
          </a:xfrm>
          <a:prstGeom prst="rect">
            <a:avLst/>
          </a:prstGeom>
          <a:solidFill>
            <a:srgbClr val="FFFFFF"/>
          </a:solidFill>
          <a:ln w="14288">
            <a:solidFill>
              <a:srgbClr val="D5D9E0"/>
            </a:solidFill>
            <a:prstDash val="solid"/>
          </a:ln>
        </p:spPr>
      </p:sp>
      <p:sp>
        <p:nvSpPr>
          <p:cNvPr id="5" name="Text 3"/>
          <p:cNvSpPr/>
          <p:nvPr/>
        </p:nvSpPr>
        <p:spPr>
          <a:xfrm>
            <a:off x="1214438" y="2879750"/>
            <a:ext cx="3756184" cy="357188"/>
          </a:xfrm>
          <a:prstGeom prst="rect">
            <a:avLst/>
          </a:prstGeom>
          <a:noFill/>
          <a:ln/>
        </p:spPr>
        <p:txBody>
          <a:bodyPr wrap="square" lIns="25400" tIns="25400" rIns="25400" bIns="25400" rtlCol="0" anchor="t">
            <a:normAutofit/>
          </a:bodyPr>
          <a:lstStyle/>
          <a:p>
            <a:pPr algn="l" indent="0" marL="0">
              <a:buNone/>
            </a:pPr>
            <a:r>
              <a:rPr lang="en-US" sz="1950" spc="78" kern="0" dirty="0">
                <a:solidFill>
                  <a:srgbClr val="1F3A5F"/>
                </a:solidFill>
                <a:latin typeface="Courier New" pitchFamily="34" charset="0"/>
                <a:ea typeface="Courier New" pitchFamily="34" charset="-122"/>
                <a:cs typeface="Courier New" pitchFamily="34" charset="-120"/>
              </a:rPr>
              <a:t>ALUMNO</a:t>
            </a:r>
            <a:endParaRPr lang="en-US" sz="1950" dirty="0"/>
          </a:p>
        </p:txBody>
      </p:sp>
      <p:sp>
        <p:nvSpPr>
          <p:cNvPr id="6" name="Text 4"/>
          <p:cNvSpPr/>
          <p:nvPr/>
        </p:nvSpPr>
        <p:spPr>
          <a:xfrm>
            <a:off x="1214438" y="3275037"/>
            <a:ext cx="3517154" cy="721519"/>
          </a:xfrm>
          <a:prstGeom prst="rect">
            <a:avLst/>
          </a:prstGeom>
          <a:noFill/>
          <a:ln/>
        </p:spPr>
        <p:txBody>
          <a:bodyPr wrap="square" lIns="25400" tIns="25400" rIns="25400" bIns="25400" rtlCol="0" anchor="t">
            <a:normAutofit/>
          </a:bodyPr>
          <a:lstStyle/>
          <a:p>
            <a:pPr algn="l" indent="0" marL="0">
              <a:lnSpc>
                <a:spcPct val="119600"/>
              </a:lnSpc>
              <a:buNone/>
            </a:pPr>
            <a:r>
              <a:rPr lang="en-US" sz="1950" dirty="0">
                <a:solidFill>
                  <a:srgbClr val="5A6070"/>
                </a:solidFill>
                <a:latin typeface="Arial" pitchFamily="34" charset="0"/>
                <a:ea typeface="Arial" pitchFamily="34" charset="-122"/>
                <a:cs typeface="Arial" pitchFamily="34" charset="-120"/>
              </a:rPr>
              <a:t>Persona cuya asistencia se registra.</a:t>
            </a:r>
            <a:endParaRPr lang="en-US" sz="1950" dirty="0"/>
          </a:p>
        </p:txBody>
      </p:sp>
      <p:sp>
        <p:nvSpPr>
          <p:cNvPr id="7" name="Shape 5"/>
          <p:cNvSpPr/>
          <p:nvPr/>
        </p:nvSpPr>
        <p:spPr>
          <a:xfrm>
            <a:off x="5100638" y="2655912"/>
            <a:ext cx="3938588" cy="1526381"/>
          </a:xfrm>
          <a:prstGeom prst="rect">
            <a:avLst/>
          </a:prstGeom>
          <a:solidFill>
            <a:srgbClr val="FFFFFF"/>
          </a:solidFill>
          <a:ln w="14288">
            <a:solidFill>
              <a:srgbClr val="D5D9E0"/>
            </a:solidFill>
            <a:prstDash val="solid"/>
          </a:ln>
        </p:spPr>
      </p:sp>
      <p:sp>
        <p:nvSpPr>
          <p:cNvPr id="8" name="Text 6"/>
          <p:cNvSpPr/>
          <p:nvPr/>
        </p:nvSpPr>
        <p:spPr>
          <a:xfrm>
            <a:off x="5362575" y="2879750"/>
            <a:ext cx="3756184" cy="357188"/>
          </a:xfrm>
          <a:prstGeom prst="rect">
            <a:avLst/>
          </a:prstGeom>
          <a:noFill/>
          <a:ln/>
        </p:spPr>
        <p:txBody>
          <a:bodyPr wrap="square" lIns="25400" tIns="25400" rIns="25400" bIns="25400" rtlCol="0" anchor="t">
            <a:normAutofit/>
          </a:bodyPr>
          <a:lstStyle/>
          <a:p>
            <a:pPr algn="l" indent="0" marL="0">
              <a:buNone/>
            </a:pPr>
            <a:r>
              <a:rPr lang="en-US" sz="1950" spc="78" kern="0" dirty="0">
                <a:solidFill>
                  <a:srgbClr val="1F3A5F"/>
                </a:solidFill>
                <a:latin typeface="Courier New" pitchFamily="34" charset="0"/>
                <a:ea typeface="Courier New" pitchFamily="34" charset="-122"/>
                <a:cs typeface="Courier New" pitchFamily="34" charset="-120"/>
              </a:rPr>
              <a:t>DOCENTE</a:t>
            </a:r>
            <a:endParaRPr lang="en-US" sz="1950" dirty="0"/>
          </a:p>
        </p:txBody>
      </p:sp>
      <p:sp>
        <p:nvSpPr>
          <p:cNvPr id="9" name="Text 7"/>
          <p:cNvSpPr/>
          <p:nvPr/>
        </p:nvSpPr>
        <p:spPr>
          <a:xfrm>
            <a:off x="5362575" y="3275037"/>
            <a:ext cx="3517154" cy="721519"/>
          </a:xfrm>
          <a:prstGeom prst="rect">
            <a:avLst/>
          </a:prstGeom>
          <a:noFill/>
          <a:ln/>
        </p:spPr>
        <p:txBody>
          <a:bodyPr wrap="square" lIns="25400" tIns="25400" rIns="25400" bIns="25400" rtlCol="0" anchor="t">
            <a:normAutofit/>
          </a:bodyPr>
          <a:lstStyle/>
          <a:p>
            <a:pPr algn="l" indent="0" marL="0">
              <a:lnSpc>
                <a:spcPct val="119600"/>
              </a:lnSpc>
              <a:buNone/>
            </a:pPr>
            <a:r>
              <a:rPr lang="en-US" sz="1950" dirty="0">
                <a:solidFill>
                  <a:srgbClr val="5A6070"/>
                </a:solidFill>
                <a:latin typeface="Arial" pitchFamily="34" charset="0"/>
                <a:ea typeface="Arial" pitchFamily="34" charset="-122"/>
                <a:cs typeface="Arial" pitchFamily="34" charset="-120"/>
              </a:rPr>
              <a:t>Responsable del grupo y de las correcciones.</a:t>
            </a:r>
            <a:endParaRPr lang="en-US" sz="1950" dirty="0"/>
          </a:p>
        </p:txBody>
      </p:sp>
      <p:sp>
        <p:nvSpPr>
          <p:cNvPr id="10" name="Shape 8"/>
          <p:cNvSpPr/>
          <p:nvPr/>
        </p:nvSpPr>
        <p:spPr>
          <a:xfrm>
            <a:off x="9248775" y="2655912"/>
            <a:ext cx="3938588" cy="1526381"/>
          </a:xfrm>
          <a:prstGeom prst="rect">
            <a:avLst/>
          </a:prstGeom>
          <a:solidFill>
            <a:srgbClr val="FFFFFF"/>
          </a:solidFill>
          <a:ln w="14288">
            <a:solidFill>
              <a:srgbClr val="D5D9E0"/>
            </a:solidFill>
            <a:prstDash val="solid"/>
          </a:ln>
        </p:spPr>
      </p:sp>
      <p:sp>
        <p:nvSpPr>
          <p:cNvPr id="11" name="Text 9"/>
          <p:cNvSpPr/>
          <p:nvPr/>
        </p:nvSpPr>
        <p:spPr>
          <a:xfrm>
            <a:off x="9510713" y="2879750"/>
            <a:ext cx="3756184" cy="357188"/>
          </a:xfrm>
          <a:prstGeom prst="rect">
            <a:avLst/>
          </a:prstGeom>
          <a:noFill/>
          <a:ln/>
        </p:spPr>
        <p:txBody>
          <a:bodyPr wrap="square" lIns="25400" tIns="25400" rIns="25400" bIns="25400" rtlCol="0" anchor="t">
            <a:normAutofit/>
          </a:bodyPr>
          <a:lstStyle/>
          <a:p>
            <a:pPr algn="l" indent="0" marL="0">
              <a:buNone/>
            </a:pPr>
            <a:r>
              <a:rPr lang="en-US" sz="1950" spc="78" kern="0" dirty="0">
                <a:solidFill>
                  <a:srgbClr val="1F3A5F"/>
                </a:solidFill>
                <a:latin typeface="Courier New" pitchFamily="34" charset="0"/>
                <a:ea typeface="Courier New" pitchFamily="34" charset="-122"/>
                <a:cs typeface="Courier New" pitchFamily="34" charset="-120"/>
              </a:rPr>
              <a:t>MATERIA</a:t>
            </a:r>
            <a:endParaRPr lang="en-US" sz="1950" dirty="0"/>
          </a:p>
        </p:txBody>
      </p:sp>
      <p:sp>
        <p:nvSpPr>
          <p:cNvPr id="12" name="Text 10"/>
          <p:cNvSpPr/>
          <p:nvPr/>
        </p:nvSpPr>
        <p:spPr>
          <a:xfrm>
            <a:off x="9510713" y="3275037"/>
            <a:ext cx="3517154" cy="721519"/>
          </a:xfrm>
          <a:prstGeom prst="rect">
            <a:avLst/>
          </a:prstGeom>
          <a:noFill/>
          <a:ln/>
        </p:spPr>
        <p:txBody>
          <a:bodyPr wrap="square" lIns="25400" tIns="25400" rIns="25400" bIns="25400" rtlCol="0" anchor="t">
            <a:normAutofit/>
          </a:bodyPr>
          <a:lstStyle/>
          <a:p>
            <a:pPr algn="l" indent="0" marL="0">
              <a:lnSpc>
                <a:spcPct val="119600"/>
              </a:lnSpc>
              <a:buNone/>
            </a:pPr>
            <a:r>
              <a:rPr lang="en-US" sz="1950" dirty="0">
                <a:solidFill>
                  <a:srgbClr val="5A6070"/>
                </a:solidFill>
                <a:latin typeface="Arial" pitchFamily="34" charset="0"/>
                <a:ea typeface="Arial" pitchFamily="34" charset="-122"/>
                <a:cs typeface="Arial" pitchFamily="34" charset="-120"/>
              </a:rPr>
              <a:t>Asignatura del plan de estudios.</a:t>
            </a:r>
            <a:endParaRPr lang="en-US" sz="1950" dirty="0"/>
          </a:p>
        </p:txBody>
      </p:sp>
      <p:sp>
        <p:nvSpPr>
          <p:cNvPr id="13" name="Shape 11"/>
          <p:cNvSpPr/>
          <p:nvPr/>
        </p:nvSpPr>
        <p:spPr>
          <a:xfrm>
            <a:off x="13396913" y="2655912"/>
            <a:ext cx="3938588" cy="1526381"/>
          </a:xfrm>
          <a:prstGeom prst="rect">
            <a:avLst/>
          </a:prstGeom>
          <a:solidFill>
            <a:srgbClr val="FFFFFF"/>
          </a:solidFill>
          <a:ln w="14288">
            <a:solidFill>
              <a:srgbClr val="D5D9E0"/>
            </a:solidFill>
            <a:prstDash val="solid"/>
          </a:ln>
        </p:spPr>
      </p:sp>
      <p:sp>
        <p:nvSpPr>
          <p:cNvPr id="14" name="Text 12"/>
          <p:cNvSpPr/>
          <p:nvPr/>
        </p:nvSpPr>
        <p:spPr>
          <a:xfrm>
            <a:off x="13658850" y="2879750"/>
            <a:ext cx="3756184" cy="357188"/>
          </a:xfrm>
          <a:prstGeom prst="rect">
            <a:avLst/>
          </a:prstGeom>
          <a:noFill/>
          <a:ln/>
        </p:spPr>
        <p:txBody>
          <a:bodyPr wrap="square" lIns="25400" tIns="25400" rIns="25400" bIns="25400" rtlCol="0" anchor="t">
            <a:normAutofit/>
          </a:bodyPr>
          <a:lstStyle/>
          <a:p>
            <a:pPr algn="l" indent="0" marL="0">
              <a:buNone/>
            </a:pPr>
            <a:r>
              <a:rPr lang="en-US" sz="1950" spc="78" kern="0" dirty="0">
                <a:solidFill>
                  <a:srgbClr val="1F3A5F"/>
                </a:solidFill>
                <a:latin typeface="Courier New" pitchFamily="34" charset="0"/>
                <a:ea typeface="Courier New" pitchFamily="34" charset="-122"/>
                <a:cs typeface="Courier New" pitchFamily="34" charset="-120"/>
              </a:rPr>
              <a:t>GRUPO</a:t>
            </a:r>
            <a:endParaRPr lang="en-US" sz="1950" dirty="0"/>
          </a:p>
        </p:txBody>
      </p:sp>
      <p:sp>
        <p:nvSpPr>
          <p:cNvPr id="15" name="Text 13"/>
          <p:cNvSpPr/>
          <p:nvPr/>
        </p:nvSpPr>
        <p:spPr>
          <a:xfrm>
            <a:off x="13658850" y="3275037"/>
            <a:ext cx="3517154" cy="721519"/>
          </a:xfrm>
          <a:prstGeom prst="rect">
            <a:avLst/>
          </a:prstGeom>
          <a:noFill/>
          <a:ln/>
        </p:spPr>
        <p:txBody>
          <a:bodyPr wrap="square" lIns="25400" tIns="25400" rIns="25400" bIns="25400" rtlCol="0" anchor="t">
            <a:normAutofit/>
          </a:bodyPr>
          <a:lstStyle/>
          <a:p>
            <a:pPr algn="l" indent="0" marL="0">
              <a:lnSpc>
                <a:spcPct val="119600"/>
              </a:lnSpc>
              <a:buNone/>
            </a:pPr>
            <a:r>
              <a:rPr lang="en-US" sz="1950" dirty="0">
                <a:solidFill>
                  <a:srgbClr val="5A6070"/>
                </a:solidFill>
                <a:latin typeface="Arial" pitchFamily="34" charset="0"/>
                <a:ea typeface="Arial" pitchFamily="34" charset="-122"/>
                <a:cs typeface="Arial" pitchFamily="34" charset="-120"/>
              </a:rPr>
              <a:t>Materia impartida en un periodo y un aula.</a:t>
            </a:r>
            <a:endParaRPr lang="en-US" sz="1950" dirty="0"/>
          </a:p>
        </p:txBody>
      </p:sp>
      <p:sp>
        <p:nvSpPr>
          <p:cNvPr id="16" name="Shape 14"/>
          <p:cNvSpPr/>
          <p:nvPr/>
        </p:nvSpPr>
        <p:spPr>
          <a:xfrm>
            <a:off x="952500" y="4391844"/>
            <a:ext cx="3938588" cy="1526381"/>
          </a:xfrm>
          <a:prstGeom prst="rect">
            <a:avLst/>
          </a:prstGeom>
          <a:solidFill>
            <a:srgbClr val="FFFFFF"/>
          </a:solidFill>
          <a:ln w="14288">
            <a:solidFill>
              <a:srgbClr val="D5D9E0"/>
            </a:solidFill>
            <a:prstDash val="solid"/>
          </a:ln>
        </p:spPr>
      </p:sp>
      <p:sp>
        <p:nvSpPr>
          <p:cNvPr id="17" name="Text 15"/>
          <p:cNvSpPr/>
          <p:nvPr/>
        </p:nvSpPr>
        <p:spPr>
          <a:xfrm>
            <a:off x="1214438" y="4615681"/>
            <a:ext cx="3756184" cy="357188"/>
          </a:xfrm>
          <a:prstGeom prst="rect">
            <a:avLst/>
          </a:prstGeom>
          <a:noFill/>
          <a:ln/>
        </p:spPr>
        <p:txBody>
          <a:bodyPr wrap="square" lIns="25400" tIns="25400" rIns="25400" bIns="25400" rtlCol="0" anchor="t">
            <a:normAutofit/>
          </a:bodyPr>
          <a:lstStyle/>
          <a:p>
            <a:pPr algn="l" indent="0" marL="0">
              <a:buNone/>
            </a:pPr>
            <a:r>
              <a:rPr lang="en-US" sz="1950" spc="78" kern="0" dirty="0">
                <a:solidFill>
                  <a:srgbClr val="1F3A5F"/>
                </a:solidFill>
                <a:latin typeface="Courier New" pitchFamily="34" charset="0"/>
                <a:ea typeface="Courier New" pitchFamily="34" charset="-122"/>
                <a:cs typeface="Courier New" pitchFamily="34" charset="-120"/>
              </a:rPr>
              <a:t>INSCRIPCIÓN</a:t>
            </a:r>
            <a:endParaRPr lang="en-US" sz="1950" dirty="0"/>
          </a:p>
        </p:txBody>
      </p:sp>
      <p:sp>
        <p:nvSpPr>
          <p:cNvPr id="18" name="Text 16"/>
          <p:cNvSpPr/>
          <p:nvPr/>
        </p:nvSpPr>
        <p:spPr>
          <a:xfrm>
            <a:off x="1214438" y="5010969"/>
            <a:ext cx="3517154" cy="721519"/>
          </a:xfrm>
          <a:prstGeom prst="rect">
            <a:avLst/>
          </a:prstGeom>
          <a:noFill/>
          <a:ln/>
        </p:spPr>
        <p:txBody>
          <a:bodyPr wrap="square" lIns="25400" tIns="25400" rIns="25400" bIns="25400" rtlCol="0" anchor="t">
            <a:normAutofit/>
          </a:bodyPr>
          <a:lstStyle/>
          <a:p>
            <a:pPr algn="l" indent="0" marL="0">
              <a:lnSpc>
                <a:spcPct val="119600"/>
              </a:lnSpc>
              <a:buNone/>
            </a:pPr>
            <a:r>
              <a:rPr lang="en-US" sz="1950" dirty="0">
                <a:solidFill>
                  <a:srgbClr val="5A6070"/>
                </a:solidFill>
                <a:latin typeface="Arial" pitchFamily="34" charset="0"/>
                <a:ea typeface="Arial" pitchFamily="34" charset="-122"/>
                <a:cs typeface="Arial" pitchFamily="34" charset="-120"/>
              </a:rPr>
              <a:t>Vincula alumno y grupo. Resuelve el N:M.</a:t>
            </a:r>
            <a:endParaRPr lang="en-US" sz="1950" dirty="0"/>
          </a:p>
        </p:txBody>
      </p:sp>
      <p:sp>
        <p:nvSpPr>
          <p:cNvPr id="19" name="Shape 17"/>
          <p:cNvSpPr/>
          <p:nvPr/>
        </p:nvSpPr>
        <p:spPr>
          <a:xfrm>
            <a:off x="5100638" y="4391844"/>
            <a:ext cx="3938588" cy="1526381"/>
          </a:xfrm>
          <a:prstGeom prst="rect">
            <a:avLst/>
          </a:prstGeom>
          <a:solidFill>
            <a:srgbClr val="FFFFFF"/>
          </a:solidFill>
          <a:ln w="14288">
            <a:solidFill>
              <a:srgbClr val="D5D9E0"/>
            </a:solidFill>
            <a:prstDash val="solid"/>
          </a:ln>
        </p:spPr>
      </p:sp>
      <p:sp>
        <p:nvSpPr>
          <p:cNvPr id="20" name="Text 18"/>
          <p:cNvSpPr/>
          <p:nvPr/>
        </p:nvSpPr>
        <p:spPr>
          <a:xfrm>
            <a:off x="5362575" y="4615681"/>
            <a:ext cx="3756184" cy="357188"/>
          </a:xfrm>
          <a:prstGeom prst="rect">
            <a:avLst/>
          </a:prstGeom>
          <a:noFill/>
          <a:ln/>
        </p:spPr>
        <p:txBody>
          <a:bodyPr wrap="square" lIns="25400" tIns="25400" rIns="25400" bIns="25400" rtlCol="0" anchor="t">
            <a:normAutofit/>
          </a:bodyPr>
          <a:lstStyle/>
          <a:p>
            <a:pPr algn="l" indent="0" marL="0">
              <a:buNone/>
            </a:pPr>
            <a:r>
              <a:rPr lang="en-US" sz="1950" spc="78" kern="0" dirty="0">
                <a:solidFill>
                  <a:srgbClr val="1F3A5F"/>
                </a:solidFill>
                <a:latin typeface="Courier New" pitchFamily="34" charset="0"/>
                <a:ea typeface="Courier New" pitchFamily="34" charset="-122"/>
                <a:cs typeface="Courier New" pitchFamily="34" charset="-120"/>
              </a:rPr>
              <a:t>SESIÓN_CLASE</a:t>
            </a:r>
            <a:endParaRPr lang="en-US" sz="1950" dirty="0"/>
          </a:p>
        </p:txBody>
      </p:sp>
      <p:sp>
        <p:nvSpPr>
          <p:cNvPr id="21" name="Text 19"/>
          <p:cNvSpPr/>
          <p:nvPr/>
        </p:nvSpPr>
        <p:spPr>
          <a:xfrm>
            <a:off x="5362575" y="5010969"/>
            <a:ext cx="3517154" cy="721519"/>
          </a:xfrm>
          <a:prstGeom prst="rect">
            <a:avLst/>
          </a:prstGeom>
          <a:noFill/>
          <a:ln/>
        </p:spPr>
        <p:txBody>
          <a:bodyPr wrap="square" lIns="25400" tIns="25400" rIns="25400" bIns="25400" rtlCol="0" anchor="t">
            <a:normAutofit/>
          </a:bodyPr>
          <a:lstStyle/>
          <a:p>
            <a:pPr algn="l" indent="0" marL="0">
              <a:lnSpc>
                <a:spcPct val="119600"/>
              </a:lnSpc>
              <a:buNone/>
            </a:pPr>
            <a:r>
              <a:rPr lang="en-US" sz="1950" dirty="0">
                <a:solidFill>
                  <a:srgbClr val="5A6070"/>
                </a:solidFill>
                <a:latin typeface="Arial" pitchFamily="34" charset="0"/>
                <a:ea typeface="Arial" pitchFamily="34" charset="-122"/>
                <a:cs typeface="Arial" pitchFamily="34" charset="-120"/>
              </a:rPr>
              <a:t>Ocurrencia concreta de una clase, con fecha.</a:t>
            </a:r>
            <a:endParaRPr lang="en-US" sz="1950" dirty="0"/>
          </a:p>
        </p:txBody>
      </p:sp>
      <p:sp>
        <p:nvSpPr>
          <p:cNvPr id="22" name="Shape 20"/>
          <p:cNvSpPr/>
          <p:nvPr/>
        </p:nvSpPr>
        <p:spPr>
          <a:xfrm>
            <a:off x="9248775" y="4391844"/>
            <a:ext cx="3938588" cy="1526381"/>
          </a:xfrm>
          <a:prstGeom prst="rect">
            <a:avLst/>
          </a:prstGeom>
          <a:solidFill>
            <a:srgbClr val="FFFFFF"/>
          </a:solidFill>
          <a:ln w="14288">
            <a:solidFill>
              <a:srgbClr val="D5D9E0"/>
            </a:solidFill>
            <a:prstDash val="solid"/>
          </a:ln>
        </p:spPr>
      </p:sp>
      <p:sp>
        <p:nvSpPr>
          <p:cNvPr id="23" name="Text 21"/>
          <p:cNvSpPr/>
          <p:nvPr/>
        </p:nvSpPr>
        <p:spPr>
          <a:xfrm>
            <a:off x="9510713" y="4615681"/>
            <a:ext cx="3756184" cy="357188"/>
          </a:xfrm>
          <a:prstGeom prst="rect">
            <a:avLst/>
          </a:prstGeom>
          <a:noFill/>
          <a:ln/>
        </p:spPr>
        <p:txBody>
          <a:bodyPr wrap="square" lIns="25400" tIns="25400" rIns="25400" bIns="25400" rtlCol="0" anchor="t">
            <a:normAutofit/>
          </a:bodyPr>
          <a:lstStyle/>
          <a:p>
            <a:pPr algn="l" indent="0" marL="0">
              <a:buNone/>
            </a:pPr>
            <a:r>
              <a:rPr lang="en-US" sz="1950" spc="78" kern="0" dirty="0">
                <a:solidFill>
                  <a:srgbClr val="1F3A5F"/>
                </a:solidFill>
                <a:latin typeface="Courier New" pitchFamily="34" charset="0"/>
                <a:ea typeface="Courier New" pitchFamily="34" charset="-122"/>
                <a:cs typeface="Courier New" pitchFamily="34" charset="-120"/>
              </a:rPr>
              <a:t>ASISTENCIA</a:t>
            </a:r>
            <a:endParaRPr lang="en-US" sz="1950" dirty="0"/>
          </a:p>
        </p:txBody>
      </p:sp>
      <p:sp>
        <p:nvSpPr>
          <p:cNvPr id="24" name="Text 22"/>
          <p:cNvSpPr/>
          <p:nvPr/>
        </p:nvSpPr>
        <p:spPr>
          <a:xfrm>
            <a:off x="9510713" y="5010969"/>
            <a:ext cx="3517154" cy="721519"/>
          </a:xfrm>
          <a:prstGeom prst="rect">
            <a:avLst/>
          </a:prstGeom>
          <a:noFill/>
          <a:ln/>
        </p:spPr>
        <p:txBody>
          <a:bodyPr wrap="square" lIns="25400" tIns="25400" rIns="25400" bIns="25400" rtlCol="0" anchor="t">
            <a:normAutofit/>
          </a:bodyPr>
          <a:lstStyle/>
          <a:p>
            <a:pPr algn="l" indent="0" marL="0">
              <a:lnSpc>
                <a:spcPct val="119600"/>
              </a:lnSpc>
              <a:buNone/>
            </a:pPr>
            <a:r>
              <a:rPr lang="en-US" sz="1950" dirty="0">
                <a:solidFill>
                  <a:srgbClr val="5A6070"/>
                </a:solidFill>
                <a:latin typeface="Arial" pitchFamily="34" charset="0"/>
                <a:ea typeface="Arial" pitchFamily="34" charset="-122"/>
                <a:cs typeface="Arial" pitchFamily="34" charset="-120"/>
              </a:rPr>
              <a:t>Un solo resultado por alumno y sesión.</a:t>
            </a:r>
            <a:endParaRPr lang="en-US" sz="1950" dirty="0"/>
          </a:p>
        </p:txBody>
      </p:sp>
      <p:sp>
        <p:nvSpPr>
          <p:cNvPr id="25" name="Shape 23"/>
          <p:cNvSpPr/>
          <p:nvPr/>
        </p:nvSpPr>
        <p:spPr>
          <a:xfrm>
            <a:off x="13396913" y="4391844"/>
            <a:ext cx="3938588" cy="1526381"/>
          </a:xfrm>
          <a:prstGeom prst="rect">
            <a:avLst/>
          </a:prstGeom>
          <a:solidFill>
            <a:srgbClr val="FFFFFF"/>
          </a:solidFill>
          <a:ln w="14288">
            <a:solidFill>
              <a:srgbClr val="D5D9E0"/>
            </a:solidFill>
            <a:prstDash val="solid"/>
          </a:ln>
        </p:spPr>
      </p:sp>
      <p:sp>
        <p:nvSpPr>
          <p:cNvPr id="26" name="Text 24"/>
          <p:cNvSpPr/>
          <p:nvPr/>
        </p:nvSpPr>
        <p:spPr>
          <a:xfrm>
            <a:off x="13658850" y="4615681"/>
            <a:ext cx="3756184" cy="357188"/>
          </a:xfrm>
          <a:prstGeom prst="rect">
            <a:avLst/>
          </a:prstGeom>
          <a:noFill/>
          <a:ln/>
        </p:spPr>
        <p:txBody>
          <a:bodyPr wrap="square" lIns="25400" tIns="25400" rIns="25400" bIns="25400" rtlCol="0" anchor="t">
            <a:normAutofit/>
          </a:bodyPr>
          <a:lstStyle/>
          <a:p>
            <a:pPr algn="l" indent="0" marL="0">
              <a:buNone/>
            </a:pPr>
            <a:r>
              <a:rPr lang="en-US" sz="1950" spc="78" kern="0" dirty="0">
                <a:solidFill>
                  <a:srgbClr val="1F3A5F"/>
                </a:solidFill>
                <a:latin typeface="Courier New" pitchFamily="34" charset="0"/>
                <a:ea typeface="Courier New" pitchFamily="34" charset="-122"/>
                <a:cs typeface="Courier New" pitchFamily="34" charset="-120"/>
              </a:rPr>
              <a:t>JUSTIFICANTE</a:t>
            </a:r>
            <a:endParaRPr lang="en-US" sz="1950" dirty="0"/>
          </a:p>
        </p:txBody>
      </p:sp>
      <p:sp>
        <p:nvSpPr>
          <p:cNvPr id="27" name="Text 25"/>
          <p:cNvSpPr/>
          <p:nvPr/>
        </p:nvSpPr>
        <p:spPr>
          <a:xfrm>
            <a:off x="13658850" y="5010969"/>
            <a:ext cx="3517154" cy="721519"/>
          </a:xfrm>
          <a:prstGeom prst="rect">
            <a:avLst/>
          </a:prstGeom>
          <a:noFill/>
          <a:ln/>
        </p:spPr>
        <p:txBody>
          <a:bodyPr wrap="square" lIns="25400" tIns="25400" rIns="25400" bIns="25400" rtlCol="0" anchor="t">
            <a:normAutofit/>
          </a:bodyPr>
          <a:lstStyle/>
          <a:p>
            <a:pPr algn="l" indent="0" marL="0">
              <a:lnSpc>
                <a:spcPct val="119600"/>
              </a:lnSpc>
              <a:buNone/>
            </a:pPr>
            <a:r>
              <a:rPr lang="en-US" sz="1950" dirty="0">
                <a:solidFill>
                  <a:srgbClr val="5A6070"/>
                </a:solidFill>
                <a:latin typeface="Arial" pitchFamily="34" charset="0"/>
                <a:ea typeface="Arial" pitchFamily="34" charset="-122"/>
                <a:cs typeface="Arial" pitchFamily="34" charset="-120"/>
              </a:rPr>
              <a:t>Soporte de una falta, aprobado por el docente.</a:t>
            </a:r>
            <a:endParaRPr lang="en-US" sz="1950" dirty="0"/>
          </a:p>
        </p:txBody>
      </p:sp>
      <p:sp>
        <p:nvSpPr>
          <p:cNvPr id="28" name="Shape 26"/>
          <p:cNvSpPr/>
          <p:nvPr/>
        </p:nvSpPr>
        <p:spPr>
          <a:xfrm>
            <a:off x="952500" y="6127775"/>
            <a:ext cx="3938588" cy="1526381"/>
          </a:xfrm>
          <a:prstGeom prst="rect">
            <a:avLst/>
          </a:prstGeom>
          <a:solidFill>
            <a:srgbClr val="FFFFFF"/>
          </a:solidFill>
          <a:ln w="14288">
            <a:solidFill>
              <a:srgbClr val="1F3A5F"/>
            </a:solidFill>
            <a:prstDash val="solid"/>
          </a:ln>
        </p:spPr>
      </p:sp>
      <p:sp>
        <p:nvSpPr>
          <p:cNvPr id="29" name="Text 27"/>
          <p:cNvSpPr/>
          <p:nvPr/>
        </p:nvSpPr>
        <p:spPr>
          <a:xfrm>
            <a:off x="1214438" y="6351612"/>
            <a:ext cx="3756184" cy="357188"/>
          </a:xfrm>
          <a:prstGeom prst="rect">
            <a:avLst/>
          </a:prstGeom>
          <a:noFill/>
          <a:ln/>
        </p:spPr>
        <p:txBody>
          <a:bodyPr wrap="square" lIns="25400" tIns="25400" rIns="25400" bIns="25400" rtlCol="0" anchor="t">
            <a:normAutofit/>
          </a:bodyPr>
          <a:lstStyle/>
          <a:p>
            <a:pPr algn="l" indent="0" marL="0">
              <a:buNone/>
            </a:pPr>
            <a:r>
              <a:rPr lang="en-US" sz="1950" spc="78" kern="0" dirty="0">
                <a:solidFill>
                  <a:srgbClr val="1F3A5F"/>
                </a:solidFill>
                <a:latin typeface="Courier New" pitchFamily="34" charset="0"/>
                <a:ea typeface="Courier New" pitchFamily="34" charset="-122"/>
                <a:cs typeface="Courier New" pitchFamily="34" charset="-120"/>
              </a:rPr>
              <a:t>PLANTILLA_FACIAL</a:t>
            </a:r>
            <a:endParaRPr lang="en-US" sz="1950" dirty="0"/>
          </a:p>
        </p:txBody>
      </p:sp>
      <p:sp>
        <p:nvSpPr>
          <p:cNvPr id="30" name="Text 28"/>
          <p:cNvSpPr/>
          <p:nvPr/>
        </p:nvSpPr>
        <p:spPr>
          <a:xfrm>
            <a:off x="1214438" y="6746900"/>
            <a:ext cx="3517154" cy="721519"/>
          </a:xfrm>
          <a:prstGeom prst="rect">
            <a:avLst/>
          </a:prstGeom>
          <a:noFill/>
          <a:ln/>
        </p:spPr>
        <p:txBody>
          <a:bodyPr wrap="square" lIns="25400" tIns="25400" rIns="25400" bIns="25400" rtlCol="0" anchor="t">
            <a:normAutofit/>
          </a:bodyPr>
          <a:lstStyle/>
          <a:p>
            <a:pPr algn="l" indent="0" marL="0">
              <a:lnSpc>
                <a:spcPct val="119600"/>
              </a:lnSpc>
              <a:buNone/>
            </a:pPr>
            <a:r>
              <a:rPr lang="en-US" sz="1950" dirty="0">
                <a:solidFill>
                  <a:srgbClr val="5A6070"/>
                </a:solidFill>
                <a:latin typeface="Arial" pitchFamily="34" charset="0"/>
                <a:ea typeface="Arial" pitchFamily="34" charset="-122"/>
                <a:cs typeface="Arial" pitchFamily="34" charset="-120"/>
              </a:rPr>
              <a:t>Referencia al vector del alumno en el índice.</a:t>
            </a:r>
            <a:endParaRPr lang="en-US" sz="1950" dirty="0"/>
          </a:p>
        </p:txBody>
      </p:sp>
      <p:sp>
        <p:nvSpPr>
          <p:cNvPr id="31" name="Shape 29"/>
          <p:cNvSpPr/>
          <p:nvPr/>
        </p:nvSpPr>
        <p:spPr>
          <a:xfrm>
            <a:off x="5100638" y="6127775"/>
            <a:ext cx="3938588" cy="1526381"/>
          </a:xfrm>
          <a:prstGeom prst="rect">
            <a:avLst/>
          </a:prstGeom>
          <a:solidFill>
            <a:srgbClr val="FFFFFF"/>
          </a:solidFill>
          <a:ln w="14288">
            <a:solidFill>
              <a:srgbClr val="1F3A5F"/>
            </a:solidFill>
            <a:prstDash val="solid"/>
          </a:ln>
        </p:spPr>
      </p:sp>
      <p:sp>
        <p:nvSpPr>
          <p:cNvPr id="32" name="Text 30"/>
          <p:cNvSpPr/>
          <p:nvPr/>
        </p:nvSpPr>
        <p:spPr>
          <a:xfrm>
            <a:off x="5362575" y="6351612"/>
            <a:ext cx="3756184" cy="357188"/>
          </a:xfrm>
          <a:prstGeom prst="rect">
            <a:avLst/>
          </a:prstGeom>
          <a:noFill/>
          <a:ln/>
        </p:spPr>
        <p:txBody>
          <a:bodyPr wrap="square" lIns="25400" tIns="25400" rIns="25400" bIns="25400" rtlCol="0" anchor="t">
            <a:normAutofit/>
          </a:bodyPr>
          <a:lstStyle/>
          <a:p>
            <a:pPr algn="l" indent="0" marL="0">
              <a:buNone/>
            </a:pPr>
            <a:r>
              <a:rPr lang="en-US" sz="1950" spc="78" kern="0" dirty="0">
                <a:solidFill>
                  <a:srgbClr val="1F3A5F"/>
                </a:solidFill>
                <a:latin typeface="Courier New" pitchFamily="34" charset="0"/>
                <a:ea typeface="Courier New" pitchFamily="34" charset="-122"/>
                <a:cs typeface="Courier New" pitchFamily="34" charset="-120"/>
              </a:rPr>
              <a:t>ÍNDICE_FAISS</a:t>
            </a:r>
            <a:endParaRPr lang="en-US" sz="1950" dirty="0"/>
          </a:p>
        </p:txBody>
      </p:sp>
      <p:sp>
        <p:nvSpPr>
          <p:cNvPr id="33" name="Text 31"/>
          <p:cNvSpPr/>
          <p:nvPr/>
        </p:nvSpPr>
        <p:spPr>
          <a:xfrm>
            <a:off x="5362575" y="6746900"/>
            <a:ext cx="3517154" cy="721519"/>
          </a:xfrm>
          <a:prstGeom prst="rect">
            <a:avLst/>
          </a:prstGeom>
          <a:noFill/>
          <a:ln/>
        </p:spPr>
        <p:txBody>
          <a:bodyPr wrap="square" lIns="25400" tIns="25400" rIns="25400" bIns="25400" rtlCol="0" anchor="t">
            <a:normAutofit/>
          </a:bodyPr>
          <a:lstStyle/>
          <a:p>
            <a:pPr algn="l" indent="0" marL="0">
              <a:lnSpc>
                <a:spcPct val="119600"/>
              </a:lnSpc>
              <a:buNone/>
            </a:pPr>
            <a:r>
              <a:rPr lang="en-US" sz="1950" dirty="0">
                <a:solidFill>
                  <a:srgbClr val="5A6070"/>
                </a:solidFill>
                <a:latin typeface="Arial" pitchFamily="34" charset="0"/>
                <a:ea typeface="Arial" pitchFamily="34" charset="-122"/>
                <a:cs typeface="Arial" pitchFamily="34" charset="-120"/>
              </a:rPr>
              <a:t>Versión del índice vectorial en uso.</a:t>
            </a:r>
            <a:endParaRPr lang="en-US" sz="1950" dirty="0"/>
          </a:p>
        </p:txBody>
      </p:sp>
      <p:sp>
        <p:nvSpPr>
          <p:cNvPr id="34" name="Shape 32"/>
          <p:cNvSpPr/>
          <p:nvPr/>
        </p:nvSpPr>
        <p:spPr>
          <a:xfrm>
            <a:off x="9248775" y="6127775"/>
            <a:ext cx="3938588" cy="1526381"/>
          </a:xfrm>
          <a:prstGeom prst="rect">
            <a:avLst/>
          </a:prstGeom>
          <a:solidFill>
            <a:srgbClr val="FFFFFF"/>
          </a:solidFill>
          <a:ln w="14288">
            <a:solidFill>
              <a:srgbClr val="1F3A5F"/>
            </a:solidFill>
            <a:prstDash val="solid"/>
          </a:ln>
        </p:spPr>
      </p:sp>
      <p:sp>
        <p:nvSpPr>
          <p:cNvPr id="35" name="Text 33"/>
          <p:cNvSpPr/>
          <p:nvPr/>
        </p:nvSpPr>
        <p:spPr>
          <a:xfrm>
            <a:off x="9510713" y="6351612"/>
            <a:ext cx="3756184" cy="357188"/>
          </a:xfrm>
          <a:prstGeom prst="rect">
            <a:avLst/>
          </a:prstGeom>
          <a:noFill/>
          <a:ln/>
        </p:spPr>
        <p:txBody>
          <a:bodyPr wrap="square" lIns="25400" tIns="25400" rIns="25400" bIns="25400" rtlCol="0" anchor="t">
            <a:normAutofit/>
          </a:bodyPr>
          <a:lstStyle/>
          <a:p>
            <a:pPr algn="l" indent="0" marL="0">
              <a:buNone/>
            </a:pPr>
            <a:r>
              <a:rPr lang="en-US" sz="1950" spc="78" kern="0" dirty="0">
                <a:solidFill>
                  <a:srgbClr val="1F3A5F"/>
                </a:solidFill>
                <a:latin typeface="Courier New" pitchFamily="34" charset="0"/>
                <a:ea typeface="Courier New" pitchFamily="34" charset="-122"/>
                <a:cs typeface="Courier New" pitchFamily="34" charset="-120"/>
              </a:rPr>
              <a:t>CÁMARA · CAPTURA</a:t>
            </a:r>
            <a:endParaRPr lang="en-US" sz="1950" dirty="0"/>
          </a:p>
        </p:txBody>
      </p:sp>
      <p:sp>
        <p:nvSpPr>
          <p:cNvPr id="36" name="Text 34"/>
          <p:cNvSpPr/>
          <p:nvPr/>
        </p:nvSpPr>
        <p:spPr>
          <a:xfrm>
            <a:off x="9510713" y="6746900"/>
            <a:ext cx="3517154" cy="721519"/>
          </a:xfrm>
          <a:prstGeom prst="rect">
            <a:avLst/>
          </a:prstGeom>
          <a:noFill/>
          <a:ln/>
        </p:spPr>
        <p:txBody>
          <a:bodyPr wrap="square" lIns="25400" tIns="25400" rIns="25400" bIns="25400" rtlCol="0" anchor="t">
            <a:normAutofit/>
          </a:bodyPr>
          <a:lstStyle/>
          <a:p>
            <a:pPr algn="l" indent="0" marL="0">
              <a:lnSpc>
                <a:spcPct val="119600"/>
              </a:lnSpc>
              <a:buNone/>
            </a:pPr>
            <a:r>
              <a:rPr lang="en-US" sz="1950" dirty="0">
                <a:solidFill>
                  <a:srgbClr val="5A6070"/>
                </a:solidFill>
                <a:latin typeface="Arial" pitchFamily="34" charset="0"/>
                <a:ea typeface="Arial" pitchFamily="34" charset="-122"/>
                <a:cs typeface="Arial" pitchFamily="34" charset="-120"/>
              </a:rPr>
              <a:t>Dispositivo del aula y cada muestra que toma.</a:t>
            </a:r>
            <a:endParaRPr lang="en-US" sz="1950" dirty="0"/>
          </a:p>
        </p:txBody>
      </p:sp>
      <p:sp>
        <p:nvSpPr>
          <p:cNvPr id="37" name="Shape 35"/>
          <p:cNvSpPr/>
          <p:nvPr/>
        </p:nvSpPr>
        <p:spPr>
          <a:xfrm>
            <a:off x="13396913" y="6127775"/>
            <a:ext cx="3938588" cy="1526381"/>
          </a:xfrm>
          <a:prstGeom prst="rect">
            <a:avLst/>
          </a:prstGeom>
          <a:solidFill>
            <a:srgbClr val="FFFFFF"/>
          </a:solidFill>
          <a:ln w="14288">
            <a:solidFill>
              <a:srgbClr val="1F3A5F"/>
            </a:solidFill>
            <a:prstDash val="solid"/>
          </a:ln>
        </p:spPr>
      </p:sp>
      <p:sp>
        <p:nvSpPr>
          <p:cNvPr id="38" name="Text 36"/>
          <p:cNvSpPr/>
          <p:nvPr/>
        </p:nvSpPr>
        <p:spPr>
          <a:xfrm>
            <a:off x="13658850" y="6351612"/>
            <a:ext cx="3756184" cy="357188"/>
          </a:xfrm>
          <a:prstGeom prst="rect">
            <a:avLst/>
          </a:prstGeom>
          <a:noFill/>
          <a:ln/>
        </p:spPr>
        <p:txBody>
          <a:bodyPr wrap="square" lIns="25400" tIns="25400" rIns="25400" bIns="25400" rtlCol="0" anchor="t">
            <a:normAutofit/>
          </a:bodyPr>
          <a:lstStyle/>
          <a:p>
            <a:pPr algn="l" indent="0" marL="0">
              <a:buNone/>
            </a:pPr>
            <a:r>
              <a:rPr lang="en-US" sz="1950" spc="78" kern="0" dirty="0">
                <a:solidFill>
                  <a:srgbClr val="1F3A5F"/>
                </a:solidFill>
                <a:latin typeface="Courier New" pitchFamily="34" charset="0"/>
                <a:ea typeface="Courier New" pitchFamily="34" charset="-122"/>
                <a:cs typeface="Courier New" pitchFamily="34" charset="-120"/>
              </a:rPr>
              <a:t>DETECCIÓN</a:t>
            </a:r>
            <a:endParaRPr lang="en-US" sz="1950" dirty="0"/>
          </a:p>
        </p:txBody>
      </p:sp>
      <p:sp>
        <p:nvSpPr>
          <p:cNvPr id="39" name="Text 37"/>
          <p:cNvSpPr/>
          <p:nvPr/>
        </p:nvSpPr>
        <p:spPr>
          <a:xfrm>
            <a:off x="13658850" y="6746900"/>
            <a:ext cx="3517154" cy="721519"/>
          </a:xfrm>
          <a:prstGeom prst="rect">
            <a:avLst/>
          </a:prstGeom>
          <a:noFill/>
          <a:ln/>
        </p:spPr>
        <p:txBody>
          <a:bodyPr wrap="square" lIns="25400" tIns="25400" rIns="25400" bIns="25400" rtlCol="0" anchor="t">
            <a:normAutofit/>
          </a:bodyPr>
          <a:lstStyle/>
          <a:p>
            <a:pPr algn="l" indent="0" marL="0">
              <a:lnSpc>
                <a:spcPct val="119600"/>
              </a:lnSpc>
              <a:buNone/>
            </a:pPr>
            <a:r>
              <a:rPr lang="en-US" sz="1950" dirty="0">
                <a:solidFill>
                  <a:srgbClr val="5A6070"/>
                </a:solidFill>
                <a:latin typeface="Arial" pitchFamily="34" charset="0"/>
                <a:ea typeface="Arial" pitchFamily="34" charset="-122"/>
                <a:cs typeface="Arial" pitchFamily="34" charset="-120"/>
              </a:rPr>
              <a:t>Un rostro leído dentro de una captura.</a:t>
            </a:r>
            <a:endParaRPr lang="en-US" sz="1950" dirty="0"/>
          </a:p>
        </p:txBody>
      </p:sp>
      <p:sp>
        <p:nvSpPr>
          <p:cNvPr id="40" name="Text 38"/>
          <p:cNvSpPr/>
          <p:nvPr/>
        </p:nvSpPr>
        <p:spPr>
          <a:xfrm>
            <a:off x="952500" y="7997056"/>
            <a:ext cx="18021300" cy="406673"/>
          </a:xfrm>
          <a:prstGeom prst="rect">
            <a:avLst/>
          </a:prstGeom>
          <a:noFill/>
          <a:ln/>
        </p:spPr>
        <p:txBody>
          <a:bodyPr wrap="square" lIns="25400" tIns="25400" rIns="25400" bIns="25400" rtlCol="0" anchor="t">
            <a:normAutofit/>
          </a:bodyPr>
          <a:lstStyle/>
          <a:p>
            <a:pPr algn="l" indent="0" marL="0">
              <a:lnSpc>
                <a:spcPct val="125667"/>
              </a:lnSpc>
              <a:buNone/>
            </a:pPr>
            <a:r>
              <a:rPr lang="en-US" sz="1950" dirty="0">
                <a:solidFill>
                  <a:srgbClr val="8B93A3"/>
                </a:solidFill>
                <a:latin typeface="Arial" pitchFamily="34" charset="0"/>
                <a:ea typeface="Arial" pitchFamily="34" charset="-122"/>
                <a:cs typeface="Arial" pitchFamily="34" charset="-120"/>
              </a:rPr>
              <a:t>Entidades de apoyo: </a:t>
            </a:r>
            <a:pPr algn="l" indent="0" marL="0">
              <a:lnSpc>
                <a:spcPct val="125667"/>
              </a:lnSpc>
              <a:buNone/>
            </a:pPr>
            <a:r>
              <a:rPr lang="en-US" sz="1950" dirty="0">
                <a:solidFill>
                  <a:srgbClr val="5A6070"/>
                </a:solidFill>
                <a:latin typeface="Courier New" pitchFamily="34" charset="0"/>
                <a:ea typeface="Courier New" pitchFamily="34" charset="-122"/>
                <a:cs typeface="Courier New" pitchFamily="34" charset="-120"/>
              </a:rPr>
              <a:t>CONSENTIMIENTO </a:t>
            </a:r>
            <a:pPr algn="l" indent="0" marL="0">
              <a:lnSpc>
                <a:spcPct val="125667"/>
              </a:lnSpc>
              <a:buNone/>
            </a:pPr>
            <a:r>
              <a:rPr lang="en-US" sz="1950" dirty="0">
                <a:solidFill>
                  <a:srgbClr val="8B93A3"/>
                </a:solidFill>
                <a:latin typeface="Arial" pitchFamily="34" charset="0"/>
                <a:ea typeface="Arial" pitchFamily="34" charset="-122"/>
                <a:cs typeface="Arial" pitchFamily="34" charset="-120"/>
              </a:rPr>
              <a:t>para el uso del dato facial y </a:t>
            </a:r>
            <a:pPr algn="l" indent="0" marL="0">
              <a:lnSpc>
                <a:spcPct val="125667"/>
              </a:lnSpc>
              <a:buNone/>
            </a:pPr>
            <a:r>
              <a:rPr lang="en-US" sz="1950" dirty="0">
                <a:solidFill>
                  <a:srgbClr val="5A6070"/>
                </a:solidFill>
                <a:latin typeface="Courier New" pitchFamily="34" charset="0"/>
                <a:ea typeface="Courier New" pitchFamily="34" charset="-122"/>
                <a:cs typeface="Courier New" pitchFamily="34" charset="-120"/>
              </a:rPr>
              <a:t>USUARIO </a:t>
            </a:r>
            <a:pPr algn="l" indent="0" marL="0">
              <a:lnSpc>
                <a:spcPct val="125667"/>
              </a:lnSpc>
              <a:buNone/>
            </a:pPr>
            <a:r>
              <a:rPr lang="en-US" sz="1950" dirty="0">
                <a:solidFill>
                  <a:srgbClr val="8B93A3"/>
                </a:solidFill>
                <a:latin typeface="Arial" pitchFamily="34" charset="0"/>
                <a:ea typeface="Arial" pitchFamily="34" charset="-122"/>
                <a:cs typeface="Arial" pitchFamily="34" charset="-120"/>
              </a:rPr>
              <a:t>para el acceso por rol.</a:t>
            </a:r>
            <a:endParaRPr lang="en-US" sz="1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952500" y="952500"/>
            <a:ext cx="18021300" cy="3333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1F3A5F"/>
                </a:solidFill>
                <a:latin typeface="Courier New" pitchFamily="34" charset="0"/>
                <a:ea typeface="Courier New" pitchFamily="34" charset="-122"/>
                <a:cs typeface="Courier New" pitchFamily="34" charset="-120"/>
              </a:rPr>
              <a:t>ATRIBUTOS · 1 DE 3</a:t>
            </a:r>
            <a:endParaRPr lang="en-US" sz="1800" dirty="0"/>
          </a:p>
        </p:txBody>
      </p:sp>
      <p:sp>
        <p:nvSpPr>
          <p:cNvPr id="3" name="Text 1"/>
          <p:cNvSpPr/>
          <p:nvPr/>
        </p:nvSpPr>
        <p:spPr>
          <a:xfrm>
            <a:off x="952500" y="1438275"/>
            <a:ext cx="18021300" cy="602679"/>
          </a:xfrm>
          <a:prstGeom prst="rect">
            <a:avLst/>
          </a:prstGeom>
          <a:noFill/>
          <a:ln/>
        </p:spPr>
        <p:txBody>
          <a:bodyPr wrap="square" lIns="25400" tIns="25400" rIns="25400" bIns="25400" rtlCol="0" anchor="t">
            <a:normAutofit/>
          </a:bodyPr>
          <a:lstStyle/>
          <a:p>
            <a:pPr algn="l" indent="0" marL="0">
              <a:lnSpc>
                <a:spcPct val="100475"/>
              </a:lnSpc>
              <a:buNone/>
            </a:pPr>
            <a:r>
              <a:rPr lang="en-US" sz="3900" b="1" spc="-58" kern="0" dirty="0">
                <a:solidFill>
                  <a:srgbClr val="16181D"/>
                </a:solidFill>
                <a:latin typeface="Georgia" pitchFamily="34" charset="0"/>
                <a:ea typeface="Georgia" pitchFamily="34" charset="-122"/>
                <a:cs typeface="Georgia" pitchFamily="34" charset="-120"/>
              </a:rPr>
              <a:t>Catálogo académico</a:t>
            </a:r>
            <a:endParaRPr lang="en-US" sz="3900" dirty="0"/>
          </a:p>
        </p:txBody>
      </p:sp>
      <p:sp>
        <p:nvSpPr>
          <p:cNvPr id="4" name="Shape 2"/>
          <p:cNvSpPr/>
          <p:nvPr/>
        </p:nvSpPr>
        <p:spPr>
          <a:xfrm>
            <a:off x="952500" y="2460054"/>
            <a:ext cx="7981950" cy="2986088"/>
          </a:xfrm>
          <a:prstGeom prst="rect">
            <a:avLst/>
          </a:prstGeom>
          <a:solidFill>
            <a:srgbClr val="FFFFFF"/>
          </a:solidFill>
          <a:ln w="14288">
            <a:solidFill>
              <a:srgbClr val="D5D9E0"/>
            </a:solidFill>
            <a:prstDash val="solid"/>
          </a:ln>
        </p:spPr>
      </p:sp>
      <p:sp>
        <p:nvSpPr>
          <p:cNvPr id="5" name="Shape 3"/>
          <p:cNvSpPr/>
          <p:nvPr/>
        </p:nvSpPr>
        <p:spPr>
          <a:xfrm>
            <a:off x="966788" y="2474342"/>
            <a:ext cx="7953375" cy="585788"/>
          </a:xfrm>
          <a:prstGeom prst="rect">
            <a:avLst/>
          </a:prstGeom>
          <a:solidFill>
            <a:srgbClr val="1F3A5F"/>
          </a:solidFill>
          <a:ln/>
        </p:spPr>
      </p:sp>
      <p:sp>
        <p:nvSpPr>
          <p:cNvPr id="6" name="Text 4"/>
          <p:cNvSpPr/>
          <p:nvPr/>
        </p:nvSpPr>
        <p:spPr>
          <a:xfrm>
            <a:off x="1195388" y="2607692"/>
            <a:ext cx="7734776" cy="357188"/>
          </a:xfrm>
          <a:prstGeom prst="rect">
            <a:avLst/>
          </a:prstGeom>
          <a:noFill/>
          <a:ln/>
        </p:spPr>
        <p:txBody>
          <a:bodyPr wrap="square" lIns="25400" tIns="25400" rIns="25400" bIns="25400" rtlCol="0" anchor="t">
            <a:normAutofit/>
          </a:bodyPr>
          <a:lstStyle/>
          <a:p>
            <a:pPr algn="l" indent="0" marL="0">
              <a:buNone/>
            </a:pPr>
            <a:r>
              <a:rPr lang="en-US" sz="1950" spc="117" kern="0" dirty="0">
                <a:solidFill>
                  <a:srgbClr val="F7F8FA"/>
                </a:solidFill>
                <a:latin typeface="Courier New" pitchFamily="34" charset="0"/>
                <a:ea typeface="Courier New" pitchFamily="34" charset="-122"/>
                <a:cs typeface="Courier New" pitchFamily="34" charset="-120"/>
              </a:rPr>
              <a:t>ALUMNO</a:t>
            </a:r>
            <a:endParaRPr lang="en-US" sz="1950" dirty="0"/>
          </a:p>
        </p:txBody>
      </p:sp>
      <p:sp>
        <p:nvSpPr>
          <p:cNvPr id="7" name="Shape 5"/>
          <p:cNvSpPr/>
          <p:nvPr/>
        </p:nvSpPr>
        <p:spPr>
          <a:xfrm>
            <a:off x="966788" y="3526854"/>
            <a:ext cx="7953375" cy="9525"/>
          </a:xfrm>
          <a:prstGeom prst="rect">
            <a:avLst/>
          </a:prstGeom>
          <a:solidFill>
            <a:srgbClr val="ECEEF2"/>
          </a:solidFill>
          <a:ln/>
        </p:spPr>
      </p:sp>
      <p:sp>
        <p:nvSpPr>
          <p:cNvPr id="8" name="Text 6"/>
          <p:cNvSpPr/>
          <p:nvPr/>
        </p:nvSpPr>
        <p:spPr>
          <a:xfrm>
            <a:off x="1195388" y="3145854"/>
            <a:ext cx="1810561"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id_alumno </a:t>
            </a:r>
            <a:pPr algn="l" indent="0" marL="0">
              <a:buNone/>
            </a:pPr>
            <a:r>
              <a:rPr lang="en-US" sz="1800" dirty="0">
                <a:solidFill>
                  <a:srgbClr val="1F3A5F"/>
                </a:solidFill>
                <a:latin typeface="Courier New" pitchFamily="34" charset="0"/>
                <a:ea typeface="Courier New" pitchFamily="34" charset="-122"/>
                <a:cs typeface="Courier New" pitchFamily="34" charset="-120"/>
              </a:rPr>
              <a:t>PK</a:t>
            </a:r>
            <a:endParaRPr lang="en-US" sz="1800" dirty="0"/>
          </a:p>
        </p:txBody>
      </p:sp>
      <p:sp>
        <p:nvSpPr>
          <p:cNvPr id="9" name="Text 7"/>
          <p:cNvSpPr/>
          <p:nvPr/>
        </p:nvSpPr>
        <p:spPr>
          <a:xfrm>
            <a:off x="8280053" y="3145854"/>
            <a:ext cx="48771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8B93A3"/>
                </a:solidFill>
                <a:latin typeface="Courier New" pitchFamily="34" charset="0"/>
                <a:ea typeface="Courier New" pitchFamily="34" charset="-122"/>
                <a:cs typeface="Courier New" pitchFamily="34" charset="-120"/>
              </a:rPr>
              <a:t>INT</a:t>
            </a:r>
            <a:endParaRPr lang="en-US" sz="1800" dirty="0"/>
          </a:p>
        </p:txBody>
      </p:sp>
      <p:sp>
        <p:nvSpPr>
          <p:cNvPr id="10" name="Shape 8"/>
          <p:cNvSpPr/>
          <p:nvPr/>
        </p:nvSpPr>
        <p:spPr>
          <a:xfrm>
            <a:off x="966788" y="4003104"/>
            <a:ext cx="7953375" cy="9525"/>
          </a:xfrm>
          <a:prstGeom prst="rect">
            <a:avLst/>
          </a:prstGeom>
          <a:solidFill>
            <a:srgbClr val="ECEEF2"/>
          </a:solidFill>
          <a:ln/>
        </p:spPr>
      </p:sp>
      <p:sp>
        <p:nvSpPr>
          <p:cNvPr id="11" name="Text 9"/>
          <p:cNvSpPr/>
          <p:nvPr/>
        </p:nvSpPr>
        <p:spPr>
          <a:xfrm>
            <a:off x="1195388" y="3622104"/>
            <a:ext cx="135790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matricula</a:t>
            </a:r>
            <a:endParaRPr lang="en-US" sz="1800" dirty="0"/>
          </a:p>
        </p:txBody>
      </p:sp>
      <p:sp>
        <p:nvSpPr>
          <p:cNvPr id="12" name="Text 10"/>
          <p:cNvSpPr/>
          <p:nvPr/>
        </p:nvSpPr>
        <p:spPr>
          <a:xfrm>
            <a:off x="7182743" y="3622104"/>
            <a:ext cx="1659701" cy="333375"/>
          </a:xfrm>
          <a:prstGeom prst="rect">
            <a:avLst/>
          </a:prstGeom>
          <a:noFill/>
          <a:ln/>
        </p:spPr>
        <p:txBody>
          <a:bodyPr wrap="square" lIns="25400" tIns="25400" rIns="25400" bIns="25400" rtlCol="0" anchor="t">
            <a:normAutofit/>
          </a:bodyPr>
          <a:lstStyle/>
          <a:p>
            <a:pPr algn="l" indent="0" marL="0">
              <a:buNone/>
            </a:pPr>
            <a:r>
              <a:rPr lang="en-US" sz="1800" dirty="0">
                <a:solidFill>
                  <a:srgbClr val="8B93A3"/>
                </a:solidFill>
                <a:latin typeface="Courier New" pitchFamily="34" charset="0"/>
                <a:ea typeface="Courier New" pitchFamily="34" charset="-122"/>
                <a:cs typeface="Courier New" pitchFamily="34" charset="-120"/>
              </a:rPr>
              <a:t>VARCHAR(10)</a:t>
            </a:r>
            <a:endParaRPr lang="en-US" sz="1800" dirty="0"/>
          </a:p>
        </p:txBody>
      </p:sp>
      <p:sp>
        <p:nvSpPr>
          <p:cNvPr id="13" name="Shape 11"/>
          <p:cNvSpPr/>
          <p:nvPr/>
        </p:nvSpPr>
        <p:spPr>
          <a:xfrm>
            <a:off x="966788" y="4479354"/>
            <a:ext cx="7953375" cy="9525"/>
          </a:xfrm>
          <a:prstGeom prst="rect">
            <a:avLst/>
          </a:prstGeom>
          <a:solidFill>
            <a:srgbClr val="ECEEF2"/>
          </a:solidFill>
          <a:ln/>
        </p:spPr>
      </p:sp>
      <p:sp>
        <p:nvSpPr>
          <p:cNvPr id="14" name="Text 12"/>
          <p:cNvSpPr/>
          <p:nvPr/>
        </p:nvSpPr>
        <p:spPr>
          <a:xfrm>
            <a:off x="1195388" y="4098354"/>
            <a:ext cx="226314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nombre_completo</a:t>
            </a:r>
            <a:endParaRPr lang="en-US" sz="1800" dirty="0"/>
          </a:p>
        </p:txBody>
      </p:sp>
      <p:sp>
        <p:nvSpPr>
          <p:cNvPr id="15" name="Text 13"/>
          <p:cNvSpPr/>
          <p:nvPr/>
        </p:nvSpPr>
        <p:spPr>
          <a:xfrm>
            <a:off x="7045598" y="4098354"/>
            <a:ext cx="1810561" cy="333375"/>
          </a:xfrm>
          <a:prstGeom prst="rect">
            <a:avLst/>
          </a:prstGeom>
          <a:noFill/>
          <a:ln/>
        </p:spPr>
        <p:txBody>
          <a:bodyPr wrap="square" lIns="25400" tIns="25400" rIns="25400" bIns="25400" rtlCol="0" anchor="t">
            <a:normAutofit/>
          </a:bodyPr>
          <a:lstStyle/>
          <a:p>
            <a:pPr algn="l" indent="0" marL="0">
              <a:buNone/>
            </a:pPr>
            <a:r>
              <a:rPr lang="en-US" sz="1800" dirty="0">
                <a:solidFill>
                  <a:srgbClr val="8B93A3"/>
                </a:solidFill>
                <a:latin typeface="Courier New" pitchFamily="34" charset="0"/>
                <a:ea typeface="Courier New" pitchFamily="34" charset="-122"/>
                <a:cs typeface="Courier New" pitchFamily="34" charset="-120"/>
              </a:rPr>
              <a:t>VARCHAR(120)</a:t>
            </a:r>
            <a:endParaRPr lang="en-US" sz="1800" dirty="0"/>
          </a:p>
        </p:txBody>
      </p:sp>
      <p:sp>
        <p:nvSpPr>
          <p:cNvPr id="16" name="Shape 14"/>
          <p:cNvSpPr/>
          <p:nvPr/>
        </p:nvSpPr>
        <p:spPr>
          <a:xfrm>
            <a:off x="966788" y="4955604"/>
            <a:ext cx="7953375" cy="9525"/>
          </a:xfrm>
          <a:prstGeom prst="rect">
            <a:avLst/>
          </a:prstGeom>
          <a:solidFill>
            <a:srgbClr val="ECEEF2"/>
          </a:solidFill>
          <a:ln/>
        </p:spPr>
      </p:sp>
      <p:sp>
        <p:nvSpPr>
          <p:cNvPr id="17" name="Text 15"/>
          <p:cNvSpPr/>
          <p:nvPr/>
        </p:nvSpPr>
        <p:spPr>
          <a:xfrm>
            <a:off x="1195388" y="4574604"/>
            <a:ext cx="301752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correo_institucional</a:t>
            </a:r>
            <a:endParaRPr lang="en-US" sz="1800" dirty="0"/>
          </a:p>
        </p:txBody>
      </p:sp>
      <p:sp>
        <p:nvSpPr>
          <p:cNvPr id="18" name="Text 16"/>
          <p:cNvSpPr/>
          <p:nvPr/>
        </p:nvSpPr>
        <p:spPr>
          <a:xfrm>
            <a:off x="7045598" y="4574604"/>
            <a:ext cx="1810561" cy="333375"/>
          </a:xfrm>
          <a:prstGeom prst="rect">
            <a:avLst/>
          </a:prstGeom>
          <a:noFill/>
          <a:ln/>
        </p:spPr>
        <p:txBody>
          <a:bodyPr wrap="square" lIns="25400" tIns="25400" rIns="25400" bIns="25400" rtlCol="0" anchor="t">
            <a:normAutofit/>
          </a:bodyPr>
          <a:lstStyle/>
          <a:p>
            <a:pPr algn="l" indent="0" marL="0">
              <a:buNone/>
            </a:pPr>
            <a:r>
              <a:rPr lang="en-US" sz="1800" dirty="0">
                <a:solidFill>
                  <a:srgbClr val="8B93A3"/>
                </a:solidFill>
                <a:latin typeface="Courier New" pitchFamily="34" charset="0"/>
                <a:ea typeface="Courier New" pitchFamily="34" charset="-122"/>
                <a:cs typeface="Courier New" pitchFamily="34" charset="-120"/>
              </a:rPr>
              <a:t>VARCHAR(120)</a:t>
            </a:r>
            <a:endParaRPr lang="en-US" sz="1800" dirty="0"/>
          </a:p>
        </p:txBody>
      </p:sp>
      <p:sp>
        <p:nvSpPr>
          <p:cNvPr id="19" name="Text 17"/>
          <p:cNvSpPr/>
          <p:nvPr/>
        </p:nvSpPr>
        <p:spPr>
          <a:xfrm>
            <a:off x="1195388" y="5050854"/>
            <a:ext cx="1036365"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estatus</a:t>
            </a:r>
            <a:endParaRPr lang="en-US" sz="1800" dirty="0"/>
          </a:p>
        </p:txBody>
      </p:sp>
      <p:sp>
        <p:nvSpPr>
          <p:cNvPr id="20" name="Text 18"/>
          <p:cNvSpPr/>
          <p:nvPr/>
        </p:nvSpPr>
        <p:spPr>
          <a:xfrm>
            <a:off x="8142908" y="5050854"/>
            <a:ext cx="624855" cy="333375"/>
          </a:xfrm>
          <a:prstGeom prst="rect">
            <a:avLst/>
          </a:prstGeom>
          <a:noFill/>
          <a:ln/>
        </p:spPr>
        <p:txBody>
          <a:bodyPr wrap="square" lIns="25400" tIns="25400" rIns="25400" bIns="25400" rtlCol="0" anchor="t">
            <a:normAutofit/>
          </a:bodyPr>
          <a:lstStyle/>
          <a:p>
            <a:pPr algn="l" indent="0" marL="0">
              <a:buNone/>
            </a:pPr>
            <a:r>
              <a:rPr lang="en-US" sz="1800" dirty="0">
                <a:solidFill>
                  <a:srgbClr val="8B93A3"/>
                </a:solidFill>
                <a:latin typeface="Courier New" pitchFamily="34" charset="0"/>
                <a:ea typeface="Courier New" pitchFamily="34" charset="-122"/>
                <a:cs typeface="Courier New" pitchFamily="34" charset="-120"/>
              </a:rPr>
              <a:t>ENUM</a:t>
            </a:r>
            <a:endParaRPr lang="en-US" sz="1800" dirty="0"/>
          </a:p>
        </p:txBody>
      </p:sp>
      <p:sp>
        <p:nvSpPr>
          <p:cNvPr id="21" name="Shape 19"/>
          <p:cNvSpPr/>
          <p:nvPr/>
        </p:nvSpPr>
        <p:spPr>
          <a:xfrm>
            <a:off x="9353550" y="2460054"/>
            <a:ext cx="7981950" cy="2986088"/>
          </a:xfrm>
          <a:prstGeom prst="rect">
            <a:avLst/>
          </a:prstGeom>
          <a:solidFill>
            <a:srgbClr val="FFFFFF"/>
          </a:solidFill>
          <a:ln w="14288">
            <a:solidFill>
              <a:srgbClr val="D5D9E0"/>
            </a:solidFill>
            <a:prstDash val="solid"/>
          </a:ln>
        </p:spPr>
      </p:sp>
      <p:sp>
        <p:nvSpPr>
          <p:cNvPr id="22" name="Shape 20"/>
          <p:cNvSpPr/>
          <p:nvPr/>
        </p:nvSpPr>
        <p:spPr>
          <a:xfrm>
            <a:off x="9367838" y="2474342"/>
            <a:ext cx="7953375" cy="585788"/>
          </a:xfrm>
          <a:prstGeom prst="rect">
            <a:avLst/>
          </a:prstGeom>
          <a:solidFill>
            <a:srgbClr val="1F3A5F"/>
          </a:solidFill>
          <a:ln/>
        </p:spPr>
      </p:sp>
      <p:sp>
        <p:nvSpPr>
          <p:cNvPr id="23" name="Text 21"/>
          <p:cNvSpPr/>
          <p:nvPr/>
        </p:nvSpPr>
        <p:spPr>
          <a:xfrm>
            <a:off x="9596438" y="2607692"/>
            <a:ext cx="7734776" cy="357188"/>
          </a:xfrm>
          <a:prstGeom prst="rect">
            <a:avLst/>
          </a:prstGeom>
          <a:noFill/>
          <a:ln/>
        </p:spPr>
        <p:txBody>
          <a:bodyPr wrap="square" lIns="25400" tIns="25400" rIns="25400" bIns="25400" rtlCol="0" anchor="t">
            <a:normAutofit/>
          </a:bodyPr>
          <a:lstStyle/>
          <a:p>
            <a:pPr algn="l" indent="0" marL="0">
              <a:buNone/>
            </a:pPr>
            <a:r>
              <a:rPr lang="en-US" sz="1950" spc="117" kern="0" dirty="0">
                <a:solidFill>
                  <a:srgbClr val="F7F8FA"/>
                </a:solidFill>
                <a:latin typeface="Courier New" pitchFamily="34" charset="0"/>
                <a:ea typeface="Courier New" pitchFamily="34" charset="-122"/>
                <a:cs typeface="Courier New" pitchFamily="34" charset="-120"/>
              </a:rPr>
              <a:t>DOCENTE</a:t>
            </a:r>
            <a:endParaRPr lang="en-US" sz="1950" dirty="0"/>
          </a:p>
        </p:txBody>
      </p:sp>
      <p:sp>
        <p:nvSpPr>
          <p:cNvPr id="24" name="Shape 22"/>
          <p:cNvSpPr/>
          <p:nvPr/>
        </p:nvSpPr>
        <p:spPr>
          <a:xfrm>
            <a:off x="9367838" y="3526854"/>
            <a:ext cx="7953375" cy="9525"/>
          </a:xfrm>
          <a:prstGeom prst="rect">
            <a:avLst/>
          </a:prstGeom>
          <a:solidFill>
            <a:srgbClr val="ECEEF2"/>
          </a:solidFill>
          <a:ln/>
        </p:spPr>
      </p:sp>
      <p:sp>
        <p:nvSpPr>
          <p:cNvPr id="25" name="Text 23"/>
          <p:cNvSpPr/>
          <p:nvPr/>
        </p:nvSpPr>
        <p:spPr>
          <a:xfrm>
            <a:off x="9596438" y="3145854"/>
            <a:ext cx="1961503"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id_docente </a:t>
            </a:r>
            <a:pPr algn="l" indent="0" marL="0">
              <a:buNone/>
            </a:pPr>
            <a:r>
              <a:rPr lang="en-US" sz="1800" dirty="0">
                <a:solidFill>
                  <a:srgbClr val="1F3A5F"/>
                </a:solidFill>
                <a:latin typeface="Courier New" pitchFamily="34" charset="0"/>
                <a:ea typeface="Courier New" pitchFamily="34" charset="-122"/>
                <a:cs typeface="Courier New" pitchFamily="34" charset="-120"/>
              </a:rPr>
              <a:t>PK</a:t>
            </a:r>
            <a:endParaRPr lang="en-US" sz="1800" dirty="0"/>
          </a:p>
        </p:txBody>
      </p:sp>
      <p:sp>
        <p:nvSpPr>
          <p:cNvPr id="26" name="Text 24"/>
          <p:cNvSpPr/>
          <p:nvPr/>
        </p:nvSpPr>
        <p:spPr>
          <a:xfrm>
            <a:off x="16681103" y="3145854"/>
            <a:ext cx="48771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8B93A3"/>
                </a:solidFill>
                <a:latin typeface="Courier New" pitchFamily="34" charset="0"/>
                <a:ea typeface="Courier New" pitchFamily="34" charset="-122"/>
                <a:cs typeface="Courier New" pitchFamily="34" charset="-120"/>
              </a:rPr>
              <a:t>INT</a:t>
            </a:r>
            <a:endParaRPr lang="en-US" sz="1800" dirty="0"/>
          </a:p>
        </p:txBody>
      </p:sp>
      <p:sp>
        <p:nvSpPr>
          <p:cNvPr id="27" name="Shape 25"/>
          <p:cNvSpPr/>
          <p:nvPr/>
        </p:nvSpPr>
        <p:spPr>
          <a:xfrm>
            <a:off x="9367838" y="4003104"/>
            <a:ext cx="7953375" cy="9525"/>
          </a:xfrm>
          <a:prstGeom prst="rect">
            <a:avLst/>
          </a:prstGeom>
          <a:solidFill>
            <a:srgbClr val="ECEEF2"/>
          </a:solidFill>
          <a:ln/>
        </p:spPr>
      </p:sp>
      <p:sp>
        <p:nvSpPr>
          <p:cNvPr id="28" name="Text 26"/>
          <p:cNvSpPr/>
          <p:nvPr/>
        </p:nvSpPr>
        <p:spPr>
          <a:xfrm>
            <a:off x="9596438" y="3622104"/>
            <a:ext cx="1810561"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num_empleado</a:t>
            </a:r>
            <a:endParaRPr lang="en-US" sz="1800" dirty="0"/>
          </a:p>
        </p:txBody>
      </p:sp>
      <p:sp>
        <p:nvSpPr>
          <p:cNvPr id="29" name="Text 27"/>
          <p:cNvSpPr/>
          <p:nvPr/>
        </p:nvSpPr>
        <p:spPr>
          <a:xfrm>
            <a:off x="15583793" y="3622104"/>
            <a:ext cx="1659701" cy="333375"/>
          </a:xfrm>
          <a:prstGeom prst="rect">
            <a:avLst/>
          </a:prstGeom>
          <a:noFill/>
          <a:ln/>
        </p:spPr>
        <p:txBody>
          <a:bodyPr wrap="square" lIns="25400" tIns="25400" rIns="25400" bIns="25400" rtlCol="0" anchor="t">
            <a:normAutofit/>
          </a:bodyPr>
          <a:lstStyle/>
          <a:p>
            <a:pPr algn="l" indent="0" marL="0">
              <a:buNone/>
            </a:pPr>
            <a:r>
              <a:rPr lang="en-US" sz="1800" dirty="0">
                <a:solidFill>
                  <a:srgbClr val="8B93A3"/>
                </a:solidFill>
                <a:latin typeface="Courier New" pitchFamily="34" charset="0"/>
                <a:ea typeface="Courier New" pitchFamily="34" charset="-122"/>
                <a:cs typeface="Courier New" pitchFamily="34" charset="-120"/>
              </a:rPr>
              <a:t>VARCHAR(10)</a:t>
            </a:r>
            <a:endParaRPr lang="en-US" sz="1800" dirty="0"/>
          </a:p>
        </p:txBody>
      </p:sp>
      <p:sp>
        <p:nvSpPr>
          <p:cNvPr id="30" name="Shape 28"/>
          <p:cNvSpPr/>
          <p:nvPr/>
        </p:nvSpPr>
        <p:spPr>
          <a:xfrm>
            <a:off x="9367838" y="4479354"/>
            <a:ext cx="7953375" cy="9525"/>
          </a:xfrm>
          <a:prstGeom prst="rect">
            <a:avLst/>
          </a:prstGeom>
          <a:solidFill>
            <a:srgbClr val="ECEEF2"/>
          </a:solidFill>
          <a:ln/>
        </p:spPr>
      </p:sp>
      <p:sp>
        <p:nvSpPr>
          <p:cNvPr id="31" name="Text 29"/>
          <p:cNvSpPr/>
          <p:nvPr/>
        </p:nvSpPr>
        <p:spPr>
          <a:xfrm>
            <a:off x="9596438" y="4098354"/>
            <a:ext cx="226314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nombre_completo</a:t>
            </a:r>
            <a:endParaRPr lang="en-US" sz="1800" dirty="0"/>
          </a:p>
        </p:txBody>
      </p:sp>
      <p:sp>
        <p:nvSpPr>
          <p:cNvPr id="32" name="Text 30"/>
          <p:cNvSpPr/>
          <p:nvPr/>
        </p:nvSpPr>
        <p:spPr>
          <a:xfrm>
            <a:off x="15446648" y="4098354"/>
            <a:ext cx="1810561" cy="333375"/>
          </a:xfrm>
          <a:prstGeom prst="rect">
            <a:avLst/>
          </a:prstGeom>
          <a:noFill/>
          <a:ln/>
        </p:spPr>
        <p:txBody>
          <a:bodyPr wrap="square" lIns="25400" tIns="25400" rIns="25400" bIns="25400" rtlCol="0" anchor="t">
            <a:normAutofit/>
          </a:bodyPr>
          <a:lstStyle/>
          <a:p>
            <a:pPr algn="l" indent="0" marL="0">
              <a:buNone/>
            </a:pPr>
            <a:r>
              <a:rPr lang="en-US" sz="1800" dirty="0">
                <a:solidFill>
                  <a:srgbClr val="8B93A3"/>
                </a:solidFill>
                <a:latin typeface="Courier New" pitchFamily="34" charset="0"/>
                <a:ea typeface="Courier New" pitchFamily="34" charset="-122"/>
                <a:cs typeface="Courier New" pitchFamily="34" charset="-120"/>
              </a:rPr>
              <a:t>VARCHAR(120)</a:t>
            </a:r>
            <a:endParaRPr lang="en-US" sz="1800" dirty="0"/>
          </a:p>
        </p:txBody>
      </p:sp>
      <p:sp>
        <p:nvSpPr>
          <p:cNvPr id="33" name="Shape 31"/>
          <p:cNvSpPr/>
          <p:nvPr/>
        </p:nvSpPr>
        <p:spPr>
          <a:xfrm>
            <a:off x="9367838" y="4955604"/>
            <a:ext cx="7953375" cy="9525"/>
          </a:xfrm>
          <a:prstGeom prst="rect">
            <a:avLst/>
          </a:prstGeom>
          <a:solidFill>
            <a:srgbClr val="ECEEF2"/>
          </a:solidFill>
          <a:ln/>
        </p:spPr>
      </p:sp>
      <p:sp>
        <p:nvSpPr>
          <p:cNvPr id="34" name="Text 32"/>
          <p:cNvSpPr/>
          <p:nvPr/>
        </p:nvSpPr>
        <p:spPr>
          <a:xfrm>
            <a:off x="9596438" y="4574604"/>
            <a:ext cx="301752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correo_institucional</a:t>
            </a:r>
            <a:endParaRPr lang="en-US" sz="1800" dirty="0"/>
          </a:p>
        </p:txBody>
      </p:sp>
      <p:sp>
        <p:nvSpPr>
          <p:cNvPr id="35" name="Text 33"/>
          <p:cNvSpPr/>
          <p:nvPr/>
        </p:nvSpPr>
        <p:spPr>
          <a:xfrm>
            <a:off x="15446648" y="4574604"/>
            <a:ext cx="1810561" cy="333375"/>
          </a:xfrm>
          <a:prstGeom prst="rect">
            <a:avLst/>
          </a:prstGeom>
          <a:noFill/>
          <a:ln/>
        </p:spPr>
        <p:txBody>
          <a:bodyPr wrap="square" lIns="25400" tIns="25400" rIns="25400" bIns="25400" rtlCol="0" anchor="t">
            <a:normAutofit/>
          </a:bodyPr>
          <a:lstStyle/>
          <a:p>
            <a:pPr algn="l" indent="0" marL="0">
              <a:buNone/>
            </a:pPr>
            <a:r>
              <a:rPr lang="en-US" sz="1800" dirty="0">
                <a:solidFill>
                  <a:srgbClr val="8B93A3"/>
                </a:solidFill>
                <a:latin typeface="Courier New" pitchFamily="34" charset="0"/>
                <a:ea typeface="Courier New" pitchFamily="34" charset="-122"/>
                <a:cs typeface="Courier New" pitchFamily="34" charset="-120"/>
              </a:rPr>
              <a:t>VARCHAR(120)</a:t>
            </a:r>
            <a:endParaRPr lang="en-US" sz="1800" dirty="0"/>
          </a:p>
        </p:txBody>
      </p:sp>
      <p:sp>
        <p:nvSpPr>
          <p:cNvPr id="36" name="Text 34"/>
          <p:cNvSpPr/>
          <p:nvPr/>
        </p:nvSpPr>
        <p:spPr>
          <a:xfrm>
            <a:off x="9596438" y="5050854"/>
            <a:ext cx="1036365"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estatus</a:t>
            </a:r>
            <a:endParaRPr lang="en-US" sz="1800" dirty="0"/>
          </a:p>
        </p:txBody>
      </p:sp>
      <p:sp>
        <p:nvSpPr>
          <p:cNvPr id="37" name="Text 35"/>
          <p:cNvSpPr/>
          <p:nvPr/>
        </p:nvSpPr>
        <p:spPr>
          <a:xfrm>
            <a:off x="16543958" y="5050854"/>
            <a:ext cx="624855" cy="333375"/>
          </a:xfrm>
          <a:prstGeom prst="rect">
            <a:avLst/>
          </a:prstGeom>
          <a:noFill/>
          <a:ln/>
        </p:spPr>
        <p:txBody>
          <a:bodyPr wrap="square" lIns="25400" tIns="25400" rIns="25400" bIns="25400" rtlCol="0" anchor="t">
            <a:normAutofit/>
          </a:bodyPr>
          <a:lstStyle/>
          <a:p>
            <a:pPr algn="l" indent="0" marL="0">
              <a:buNone/>
            </a:pPr>
            <a:r>
              <a:rPr lang="en-US" sz="1800" dirty="0">
                <a:solidFill>
                  <a:srgbClr val="8B93A3"/>
                </a:solidFill>
                <a:latin typeface="Courier New" pitchFamily="34" charset="0"/>
                <a:ea typeface="Courier New" pitchFamily="34" charset="-122"/>
                <a:cs typeface="Courier New" pitchFamily="34" charset="-120"/>
              </a:rPr>
              <a:t>ENUM</a:t>
            </a:r>
            <a:endParaRPr lang="en-US" sz="1800" dirty="0"/>
          </a:p>
        </p:txBody>
      </p:sp>
      <p:sp>
        <p:nvSpPr>
          <p:cNvPr id="38" name="Shape 36"/>
          <p:cNvSpPr/>
          <p:nvPr/>
        </p:nvSpPr>
        <p:spPr>
          <a:xfrm>
            <a:off x="952500" y="5750942"/>
            <a:ext cx="7981950" cy="3462338"/>
          </a:xfrm>
          <a:prstGeom prst="rect">
            <a:avLst/>
          </a:prstGeom>
          <a:solidFill>
            <a:srgbClr val="FFFFFF"/>
          </a:solidFill>
          <a:ln w="14288">
            <a:solidFill>
              <a:srgbClr val="D5D9E0"/>
            </a:solidFill>
            <a:prstDash val="solid"/>
          </a:ln>
        </p:spPr>
      </p:sp>
      <p:sp>
        <p:nvSpPr>
          <p:cNvPr id="39" name="Shape 37"/>
          <p:cNvSpPr/>
          <p:nvPr/>
        </p:nvSpPr>
        <p:spPr>
          <a:xfrm>
            <a:off x="966788" y="5765229"/>
            <a:ext cx="7953375" cy="585788"/>
          </a:xfrm>
          <a:prstGeom prst="rect">
            <a:avLst/>
          </a:prstGeom>
          <a:solidFill>
            <a:srgbClr val="1F3A5F"/>
          </a:solidFill>
          <a:ln/>
        </p:spPr>
      </p:sp>
      <p:sp>
        <p:nvSpPr>
          <p:cNvPr id="40" name="Text 38"/>
          <p:cNvSpPr/>
          <p:nvPr/>
        </p:nvSpPr>
        <p:spPr>
          <a:xfrm>
            <a:off x="1195388" y="5898579"/>
            <a:ext cx="7734776" cy="357188"/>
          </a:xfrm>
          <a:prstGeom prst="rect">
            <a:avLst/>
          </a:prstGeom>
          <a:noFill/>
          <a:ln/>
        </p:spPr>
        <p:txBody>
          <a:bodyPr wrap="square" lIns="25400" tIns="25400" rIns="25400" bIns="25400" rtlCol="0" anchor="t">
            <a:normAutofit/>
          </a:bodyPr>
          <a:lstStyle/>
          <a:p>
            <a:pPr algn="l" indent="0" marL="0">
              <a:buNone/>
            </a:pPr>
            <a:r>
              <a:rPr lang="en-US" sz="1950" spc="117" kern="0" dirty="0">
                <a:solidFill>
                  <a:srgbClr val="F7F8FA"/>
                </a:solidFill>
                <a:latin typeface="Courier New" pitchFamily="34" charset="0"/>
                <a:ea typeface="Courier New" pitchFamily="34" charset="-122"/>
                <a:cs typeface="Courier New" pitchFamily="34" charset="-120"/>
              </a:rPr>
              <a:t>MATERIA</a:t>
            </a:r>
            <a:endParaRPr lang="en-US" sz="1950" dirty="0"/>
          </a:p>
        </p:txBody>
      </p:sp>
      <p:sp>
        <p:nvSpPr>
          <p:cNvPr id="41" name="Shape 39"/>
          <p:cNvSpPr/>
          <p:nvPr/>
        </p:nvSpPr>
        <p:spPr>
          <a:xfrm>
            <a:off x="966788" y="6817742"/>
            <a:ext cx="7953375" cy="9525"/>
          </a:xfrm>
          <a:prstGeom prst="rect">
            <a:avLst/>
          </a:prstGeom>
          <a:solidFill>
            <a:srgbClr val="ECEEF2"/>
          </a:solidFill>
          <a:ln/>
        </p:spPr>
      </p:sp>
      <p:sp>
        <p:nvSpPr>
          <p:cNvPr id="42" name="Text 40"/>
          <p:cNvSpPr/>
          <p:nvPr/>
        </p:nvSpPr>
        <p:spPr>
          <a:xfrm>
            <a:off x="1195388" y="6436742"/>
            <a:ext cx="1961503"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id_materia </a:t>
            </a:r>
            <a:pPr algn="l" indent="0" marL="0">
              <a:buNone/>
            </a:pPr>
            <a:r>
              <a:rPr lang="en-US" sz="1800" dirty="0">
                <a:solidFill>
                  <a:srgbClr val="1F3A5F"/>
                </a:solidFill>
                <a:latin typeface="Courier New" pitchFamily="34" charset="0"/>
                <a:ea typeface="Courier New" pitchFamily="34" charset="-122"/>
                <a:cs typeface="Courier New" pitchFamily="34" charset="-120"/>
              </a:rPr>
              <a:t>PK</a:t>
            </a:r>
            <a:endParaRPr lang="en-US" sz="1800" dirty="0"/>
          </a:p>
        </p:txBody>
      </p:sp>
      <p:sp>
        <p:nvSpPr>
          <p:cNvPr id="43" name="Text 41"/>
          <p:cNvSpPr/>
          <p:nvPr/>
        </p:nvSpPr>
        <p:spPr>
          <a:xfrm>
            <a:off x="8280053" y="6436742"/>
            <a:ext cx="48771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8B93A3"/>
                </a:solidFill>
                <a:latin typeface="Courier New" pitchFamily="34" charset="0"/>
                <a:ea typeface="Courier New" pitchFamily="34" charset="-122"/>
                <a:cs typeface="Courier New" pitchFamily="34" charset="-120"/>
              </a:rPr>
              <a:t>INT</a:t>
            </a:r>
            <a:endParaRPr lang="en-US" sz="1800" dirty="0"/>
          </a:p>
        </p:txBody>
      </p:sp>
      <p:sp>
        <p:nvSpPr>
          <p:cNvPr id="44" name="Shape 42"/>
          <p:cNvSpPr/>
          <p:nvPr/>
        </p:nvSpPr>
        <p:spPr>
          <a:xfrm>
            <a:off x="966788" y="7293992"/>
            <a:ext cx="7953375" cy="9525"/>
          </a:xfrm>
          <a:prstGeom prst="rect">
            <a:avLst/>
          </a:prstGeom>
          <a:solidFill>
            <a:srgbClr val="ECEEF2"/>
          </a:solidFill>
          <a:ln/>
        </p:spPr>
      </p:sp>
      <p:sp>
        <p:nvSpPr>
          <p:cNvPr id="45" name="Text 43"/>
          <p:cNvSpPr/>
          <p:nvPr/>
        </p:nvSpPr>
        <p:spPr>
          <a:xfrm>
            <a:off x="1195388" y="6912992"/>
            <a:ext cx="76200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clave</a:t>
            </a:r>
            <a:endParaRPr lang="en-US" sz="1800" dirty="0"/>
          </a:p>
        </p:txBody>
      </p:sp>
      <p:sp>
        <p:nvSpPr>
          <p:cNvPr id="46" name="Text 44"/>
          <p:cNvSpPr/>
          <p:nvPr/>
        </p:nvSpPr>
        <p:spPr>
          <a:xfrm>
            <a:off x="7319963" y="6912992"/>
            <a:ext cx="150876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8B93A3"/>
                </a:solidFill>
                <a:latin typeface="Courier New" pitchFamily="34" charset="0"/>
                <a:ea typeface="Courier New" pitchFamily="34" charset="-122"/>
                <a:cs typeface="Courier New" pitchFamily="34" charset="-120"/>
              </a:rPr>
              <a:t>VARCHAR(8)</a:t>
            </a:r>
            <a:endParaRPr lang="en-US" sz="1800" dirty="0"/>
          </a:p>
        </p:txBody>
      </p:sp>
      <p:sp>
        <p:nvSpPr>
          <p:cNvPr id="47" name="Shape 45"/>
          <p:cNvSpPr/>
          <p:nvPr/>
        </p:nvSpPr>
        <p:spPr>
          <a:xfrm>
            <a:off x="966788" y="7770242"/>
            <a:ext cx="7953375" cy="9525"/>
          </a:xfrm>
          <a:prstGeom prst="rect">
            <a:avLst/>
          </a:prstGeom>
          <a:solidFill>
            <a:srgbClr val="ECEEF2"/>
          </a:solidFill>
          <a:ln/>
        </p:spPr>
      </p:sp>
      <p:sp>
        <p:nvSpPr>
          <p:cNvPr id="48" name="Text 46"/>
          <p:cNvSpPr/>
          <p:nvPr/>
        </p:nvSpPr>
        <p:spPr>
          <a:xfrm>
            <a:off x="1195388" y="7389242"/>
            <a:ext cx="89922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nombre</a:t>
            </a:r>
            <a:endParaRPr lang="en-US" sz="1800" dirty="0"/>
          </a:p>
        </p:txBody>
      </p:sp>
      <p:sp>
        <p:nvSpPr>
          <p:cNvPr id="49" name="Text 47"/>
          <p:cNvSpPr/>
          <p:nvPr/>
        </p:nvSpPr>
        <p:spPr>
          <a:xfrm>
            <a:off x="7182743" y="7389242"/>
            <a:ext cx="1659701" cy="333375"/>
          </a:xfrm>
          <a:prstGeom prst="rect">
            <a:avLst/>
          </a:prstGeom>
          <a:noFill/>
          <a:ln/>
        </p:spPr>
        <p:txBody>
          <a:bodyPr wrap="square" lIns="25400" tIns="25400" rIns="25400" bIns="25400" rtlCol="0" anchor="t">
            <a:normAutofit/>
          </a:bodyPr>
          <a:lstStyle/>
          <a:p>
            <a:pPr algn="l" indent="0" marL="0">
              <a:buNone/>
            </a:pPr>
            <a:r>
              <a:rPr lang="en-US" sz="1800" dirty="0">
                <a:solidFill>
                  <a:srgbClr val="8B93A3"/>
                </a:solidFill>
                <a:latin typeface="Courier New" pitchFamily="34" charset="0"/>
                <a:ea typeface="Courier New" pitchFamily="34" charset="-122"/>
                <a:cs typeface="Courier New" pitchFamily="34" charset="-120"/>
              </a:rPr>
              <a:t>VARCHAR(80)</a:t>
            </a:r>
            <a:endParaRPr lang="en-US" sz="1800" dirty="0"/>
          </a:p>
        </p:txBody>
      </p:sp>
      <p:sp>
        <p:nvSpPr>
          <p:cNvPr id="50" name="Shape 48"/>
          <p:cNvSpPr/>
          <p:nvPr/>
        </p:nvSpPr>
        <p:spPr>
          <a:xfrm>
            <a:off x="966788" y="8246492"/>
            <a:ext cx="7953375" cy="9525"/>
          </a:xfrm>
          <a:prstGeom prst="rect">
            <a:avLst/>
          </a:prstGeom>
          <a:solidFill>
            <a:srgbClr val="ECEEF2"/>
          </a:solidFill>
          <a:ln/>
        </p:spPr>
      </p:sp>
      <p:sp>
        <p:nvSpPr>
          <p:cNvPr id="51" name="Text 49"/>
          <p:cNvSpPr/>
          <p:nvPr/>
        </p:nvSpPr>
        <p:spPr>
          <a:xfrm>
            <a:off x="1195388" y="7865492"/>
            <a:ext cx="117351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creditos</a:t>
            </a:r>
            <a:endParaRPr lang="en-US" sz="1800" dirty="0"/>
          </a:p>
        </p:txBody>
      </p:sp>
      <p:sp>
        <p:nvSpPr>
          <p:cNvPr id="52" name="Text 50"/>
          <p:cNvSpPr/>
          <p:nvPr/>
        </p:nvSpPr>
        <p:spPr>
          <a:xfrm>
            <a:off x="7594253" y="7865492"/>
            <a:ext cx="117351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8B93A3"/>
                </a:solidFill>
                <a:latin typeface="Courier New" pitchFamily="34" charset="0"/>
                <a:ea typeface="Courier New" pitchFamily="34" charset="-122"/>
                <a:cs typeface="Courier New" pitchFamily="34" charset="-120"/>
              </a:rPr>
              <a:t>SMALLINT</a:t>
            </a:r>
            <a:endParaRPr lang="en-US" sz="1800" dirty="0"/>
          </a:p>
        </p:txBody>
      </p:sp>
      <p:sp>
        <p:nvSpPr>
          <p:cNvPr id="53" name="Text 51"/>
          <p:cNvSpPr/>
          <p:nvPr/>
        </p:nvSpPr>
        <p:spPr>
          <a:xfrm>
            <a:off x="1195388" y="8341742"/>
            <a:ext cx="1810561"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horas_semana</a:t>
            </a:r>
            <a:endParaRPr lang="en-US" sz="1800" dirty="0"/>
          </a:p>
        </p:txBody>
      </p:sp>
      <p:sp>
        <p:nvSpPr>
          <p:cNvPr id="54" name="Text 52"/>
          <p:cNvSpPr/>
          <p:nvPr/>
        </p:nvSpPr>
        <p:spPr>
          <a:xfrm>
            <a:off x="7594253" y="8341742"/>
            <a:ext cx="117351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8B93A3"/>
                </a:solidFill>
                <a:latin typeface="Courier New" pitchFamily="34" charset="0"/>
                <a:ea typeface="Courier New" pitchFamily="34" charset="-122"/>
                <a:cs typeface="Courier New" pitchFamily="34" charset="-120"/>
              </a:rPr>
              <a:t>SMALLINT</a:t>
            </a:r>
            <a:endParaRPr lang="en-US" sz="1800" dirty="0"/>
          </a:p>
        </p:txBody>
      </p:sp>
      <p:sp>
        <p:nvSpPr>
          <p:cNvPr id="55" name="Shape 53"/>
          <p:cNvSpPr/>
          <p:nvPr/>
        </p:nvSpPr>
        <p:spPr>
          <a:xfrm>
            <a:off x="9353550" y="5750942"/>
            <a:ext cx="7981950" cy="3462338"/>
          </a:xfrm>
          <a:prstGeom prst="rect">
            <a:avLst/>
          </a:prstGeom>
          <a:solidFill>
            <a:srgbClr val="FFFFFF"/>
          </a:solidFill>
          <a:ln w="14288">
            <a:solidFill>
              <a:srgbClr val="D5D9E0"/>
            </a:solidFill>
            <a:prstDash val="solid"/>
          </a:ln>
        </p:spPr>
      </p:sp>
      <p:sp>
        <p:nvSpPr>
          <p:cNvPr id="56" name="Shape 54"/>
          <p:cNvSpPr/>
          <p:nvPr/>
        </p:nvSpPr>
        <p:spPr>
          <a:xfrm>
            <a:off x="9367838" y="5765229"/>
            <a:ext cx="7953375" cy="585788"/>
          </a:xfrm>
          <a:prstGeom prst="rect">
            <a:avLst/>
          </a:prstGeom>
          <a:solidFill>
            <a:srgbClr val="1F3A5F"/>
          </a:solidFill>
          <a:ln/>
        </p:spPr>
      </p:sp>
      <p:sp>
        <p:nvSpPr>
          <p:cNvPr id="57" name="Text 55"/>
          <p:cNvSpPr/>
          <p:nvPr/>
        </p:nvSpPr>
        <p:spPr>
          <a:xfrm>
            <a:off x="9596438" y="5898579"/>
            <a:ext cx="7734776" cy="357188"/>
          </a:xfrm>
          <a:prstGeom prst="rect">
            <a:avLst/>
          </a:prstGeom>
          <a:noFill/>
          <a:ln/>
        </p:spPr>
        <p:txBody>
          <a:bodyPr wrap="square" lIns="25400" tIns="25400" rIns="25400" bIns="25400" rtlCol="0" anchor="t">
            <a:normAutofit/>
          </a:bodyPr>
          <a:lstStyle/>
          <a:p>
            <a:pPr algn="l" indent="0" marL="0">
              <a:buNone/>
            </a:pPr>
            <a:r>
              <a:rPr lang="en-US" sz="1950" spc="117" kern="0" dirty="0">
                <a:solidFill>
                  <a:srgbClr val="F7F8FA"/>
                </a:solidFill>
                <a:latin typeface="Courier New" pitchFamily="34" charset="0"/>
                <a:ea typeface="Courier New" pitchFamily="34" charset="-122"/>
                <a:cs typeface="Courier New" pitchFamily="34" charset="-120"/>
              </a:rPr>
              <a:t>GRUPO</a:t>
            </a:r>
            <a:endParaRPr lang="en-US" sz="1950" dirty="0"/>
          </a:p>
        </p:txBody>
      </p:sp>
      <p:sp>
        <p:nvSpPr>
          <p:cNvPr id="58" name="Shape 56"/>
          <p:cNvSpPr/>
          <p:nvPr/>
        </p:nvSpPr>
        <p:spPr>
          <a:xfrm>
            <a:off x="9367838" y="6817742"/>
            <a:ext cx="7953375" cy="9525"/>
          </a:xfrm>
          <a:prstGeom prst="rect">
            <a:avLst/>
          </a:prstGeom>
          <a:solidFill>
            <a:srgbClr val="ECEEF2"/>
          </a:solidFill>
          <a:ln/>
        </p:spPr>
      </p:sp>
      <p:sp>
        <p:nvSpPr>
          <p:cNvPr id="59" name="Text 57"/>
          <p:cNvSpPr/>
          <p:nvPr/>
        </p:nvSpPr>
        <p:spPr>
          <a:xfrm>
            <a:off x="9596438" y="6436742"/>
            <a:ext cx="1659701"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id_grupo </a:t>
            </a:r>
            <a:pPr algn="l" indent="0" marL="0">
              <a:buNone/>
            </a:pPr>
            <a:r>
              <a:rPr lang="en-US" sz="1800" dirty="0">
                <a:solidFill>
                  <a:srgbClr val="1F3A5F"/>
                </a:solidFill>
                <a:latin typeface="Courier New" pitchFamily="34" charset="0"/>
                <a:ea typeface="Courier New" pitchFamily="34" charset="-122"/>
                <a:cs typeface="Courier New" pitchFamily="34" charset="-120"/>
              </a:rPr>
              <a:t>PK</a:t>
            </a:r>
            <a:endParaRPr lang="en-US" sz="1800" dirty="0"/>
          </a:p>
        </p:txBody>
      </p:sp>
      <p:sp>
        <p:nvSpPr>
          <p:cNvPr id="60" name="Text 58"/>
          <p:cNvSpPr/>
          <p:nvPr/>
        </p:nvSpPr>
        <p:spPr>
          <a:xfrm>
            <a:off x="16681103" y="6436742"/>
            <a:ext cx="48771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8B93A3"/>
                </a:solidFill>
                <a:latin typeface="Courier New" pitchFamily="34" charset="0"/>
                <a:ea typeface="Courier New" pitchFamily="34" charset="-122"/>
                <a:cs typeface="Courier New" pitchFamily="34" charset="-120"/>
              </a:rPr>
              <a:t>INT</a:t>
            </a:r>
            <a:endParaRPr lang="en-US" sz="1800" dirty="0"/>
          </a:p>
        </p:txBody>
      </p:sp>
      <p:sp>
        <p:nvSpPr>
          <p:cNvPr id="61" name="Shape 59"/>
          <p:cNvSpPr/>
          <p:nvPr/>
        </p:nvSpPr>
        <p:spPr>
          <a:xfrm>
            <a:off x="9367838" y="7293992"/>
            <a:ext cx="7953375" cy="9525"/>
          </a:xfrm>
          <a:prstGeom prst="rect">
            <a:avLst/>
          </a:prstGeom>
          <a:solidFill>
            <a:srgbClr val="ECEEF2"/>
          </a:solidFill>
          <a:ln/>
        </p:spPr>
      </p:sp>
      <p:sp>
        <p:nvSpPr>
          <p:cNvPr id="62" name="Text 60"/>
          <p:cNvSpPr/>
          <p:nvPr/>
        </p:nvSpPr>
        <p:spPr>
          <a:xfrm>
            <a:off x="9596438" y="6912992"/>
            <a:ext cx="1961503"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id_materia </a:t>
            </a:r>
            <a:pPr algn="l" indent="0" marL="0">
              <a:buNone/>
            </a:pPr>
            <a:r>
              <a:rPr lang="en-US" sz="1800" dirty="0">
                <a:solidFill>
                  <a:srgbClr val="7B879B"/>
                </a:solidFill>
                <a:latin typeface="Courier New" pitchFamily="34" charset="0"/>
                <a:ea typeface="Courier New" pitchFamily="34" charset="-122"/>
                <a:cs typeface="Courier New" pitchFamily="34" charset="-120"/>
              </a:rPr>
              <a:t>FK</a:t>
            </a:r>
            <a:endParaRPr lang="en-US" sz="1800" dirty="0"/>
          </a:p>
        </p:txBody>
      </p:sp>
      <p:sp>
        <p:nvSpPr>
          <p:cNvPr id="63" name="Text 61"/>
          <p:cNvSpPr/>
          <p:nvPr/>
        </p:nvSpPr>
        <p:spPr>
          <a:xfrm>
            <a:off x="16681103" y="6912992"/>
            <a:ext cx="48771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8B93A3"/>
                </a:solidFill>
                <a:latin typeface="Courier New" pitchFamily="34" charset="0"/>
                <a:ea typeface="Courier New" pitchFamily="34" charset="-122"/>
                <a:cs typeface="Courier New" pitchFamily="34" charset="-120"/>
              </a:rPr>
              <a:t>INT</a:t>
            </a:r>
            <a:endParaRPr lang="en-US" sz="1800" dirty="0"/>
          </a:p>
        </p:txBody>
      </p:sp>
      <p:sp>
        <p:nvSpPr>
          <p:cNvPr id="64" name="Shape 62"/>
          <p:cNvSpPr/>
          <p:nvPr/>
        </p:nvSpPr>
        <p:spPr>
          <a:xfrm>
            <a:off x="9367838" y="7770242"/>
            <a:ext cx="7953375" cy="9525"/>
          </a:xfrm>
          <a:prstGeom prst="rect">
            <a:avLst/>
          </a:prstGeom>
          <a:solidFill>
            <a:srgbClr val="ECEEF2"/>
          </a:solidFill>
          <a:ln/>
        </p:spPr>
      </p:sp>
      <p:sp>
        <p:nvSpPr>
          <p:cNvPr id="65" name="Text 63"/>
          <p:cNvSpPr/>
          <p:nvPr/>
        </p:nvSpPr>
        <p:spPr>
          <a:xfrm>
            <a:off x="9596438" y="7389242"/>
            <a:ext cx="1961503"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id_docente </a:t>
            </a:r>
            <a:pPr algn="l" indent="0" marL="0">
              <a:buNone/>
            </a:pPr>
            <a:r>
              <a:rPr lang="en-US" sz="1800" dirty="0">
                <a:solidFill>
                  <a:srgbClr val="7B879B"/>
                </a:solidFill>
                <a:latin typeface="Courier New" pitchFamily="34" charset="0"/>
                <a:ea typeface="Courier New" pitchFamily="34" charset="-122"/>
                <a:cs typeface="Courier New" pitchFamily="34" charset="-120"/>
              </a:rPr>
              <a:t>FK</a:t>
            </a:r>
            <a:endParaRPr lang="en-US" sz="1800" dirty="0"/>
          </a:p>
        </p:txBody>
      </p:sp>
      <p:sp>
        <p:nvSpPr>
          <p:cNvPr id="66" name="Text 64"/>
          <p:cNvSpPr/>
          <p:nvPr/>
        </p:nvSpPr>
        <p:spPr>
          <a:xfrm>
            <a:off x="16681103" y="7389242"/>
            <a:ext cx="48771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8B93A3"/>
                </a:solidFill>
                <a:latin typeface="Courier New" pitchFamily="34" charset="0"/>
                <a:ea typeface="Courier New" pitchFamily="34" charset="-122"/>
                <a:cs typeface="Courier New" pitchFamily="34" charset="-120"/>
              </a:rPr>
              <a:t>INT</a:t>
            </a:r>
            <a:endParaRPr lang="en-US" sz="1800" dirty="0"/>
          </a:p>
        </p:txBody>
      </p:sp>
      <p:sp>
        <p:nvSpPr>
          <p:cNvPr id="67" name="Shape 65"/>
          <p:cNvSpPr/>
          <p:nvPr/>
        </p:nvSpPr>
        <p:spPr>
          <a:xfrm>
            <a:off x="9367838" y="8246492"/>
            <a:ext cx="7953375" cy="9525"/>
          </a:xfrm>
          <a:prstGeom prst="rect">
            <a:avLst/>
          </a:prstGeom>
          <a:solidFill>
            <a:srgbClr val="ECEEF2"/>
          </a:solidFill>
          <a:ln/>
        </p:spPr>
      </p:sp>
      <p:sp>
        <p:nvSpPr>
          <p:cNvPr id="68" name="Text 66"/>
          <p:cNvSpPr/>
          <p:nvPr/>
        </p:nvSpPr>
        <p:spPr>
          <a:xfrm>
            <a:off x="9596438" y="7865492"/>
            <a:ext cx="1659701"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clave_grupo</a:t>
            </a:r>
            <a:endParaRPr lang="en-US" sz="1800" dirty="0"/>
          </a:p>
        </p:txBody>
      </p:sp>
      <p:sp>
        <p:nvSpPr>
          <p:cNvPr id="69" name="Text 67"/>
          <p:cNvSpPr/>
          <p:nvPr/>
        </p:nvSpPr>
        <p:spPr>
          <a:xfrm>
            <a:off x="15721012" y="7865492"/>
            <a:ext cx="150876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8B93A3"/>
                </a:solidFill>
                <a:latin typeface="Courier New" pitchFamily="34" charset="0"/>
                <a:ea typeface="Courier New" pitchFamily="34" charset="-122"/>
                <a:cs typeface="Courier New" pitchFamily="34" charset="-120"/>
              </a:rPr>
              <a:t>VARCHAR(8)</a:t>
            </a:r>
            <a:endParaRPr lang="en-US" sz="1800" dirty="0"/>
          </a:p>
        </p:txBody>
      </p:sp>
      <p:sp>
        <p:nvSpPr>
          <p:cNvPr id="70" name="Shape 68"/>
          <p:cNvSpPr/>
          <p:nvPr/>
        </p:nvSpPr>
        <p:spPr>
          <a:xfrm>
            <a:off x="9367838" y="8722742"/>
            <a:ext cx="7953375" cy="9525"/>
          </a:xfrm>
          <a:prstGeom prst="rect">
            <a:avLst/>
          </a:prstGeom>
          <a:solidFill>
            <a:srgbClr val="ECEEF2"/>
          </a:solidFill>
          <a:ln/>
        </p:spPr>
      </p:sp>
      <p:sp>
        <p:nvSpPr>
          <p:cNvPr id="71" name="Text 69"/>
          <p:cNvSpPr/>
          <p:nvPr/>
        </p:nvSpPr>
        <p:spPr>
          <a:xfrm>
            <a:off x="9596438" y="8341742"/>
            <a:ext cx="1036365"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periodo</a:t>
            </a:r>
            <a:endParaRPr lang="en-US" sz="1800" dirty="0"/>
          </a:p>
        </p:txBody>
      </p:sp>
      <p:sp>
        <p:nvSpPr>
          <p:cNvPr id="72" name="Text 70"/>
          <p:cNvSpPr/>
          <p:nvPr/>
        </p:nvSpPr>
        <p:spPr>
          <a:xfrm>
            <a:off x="15583793" y="8341742"/>
            <a:ext cx="1659701" cy="333375"/>
          </a:xfrm>
          <a:prstGeom prst="rect">
            <a:avLst/>
          </a:prstGeom>
          <a:noFill/>
          <a:ln/>
        </p:spPr>
        <p:txBody>
          <a:bodyPr wrap="square" lIns="25400" tIns="25400" rIns="25400" bIns="25400" rtlCol="0" anchor="t">
            <a:normAutofit/>
          </a:bodyPr>
          <a:lstStyle/>
          <a:p>
            <a:pPr algn="l" indent="0" marL="0">
              <a:buNone/>
            </a:pPr>
            <a:r>
              <a:rPr lang="en-US" sz="1800" dirty="0">
                <a:solidFill>
                  <a:srgbClr val="8B93A3"/>
                </a:solidFill>
                <a:latin typeface="Courier New" pitchFamily="34" charset="0"/>
                <a:ea typeface="Courier New" pitchFamily="34" charset="-122"/>
                <a:cs typeface="Courier New" pitchFamily="34" charset="-120"/>
              </a:rPr>
              <a:t>VARCHAR(10)</a:t>
            </a:r>
            <a:endParaRPr lang="en-US" sz="1800" dirty="0"/>
          </a:p>
        </p:txBody>
      </p:sp>
      <p:sp>
        <p:nvSpPr>
          <p:cNvPr id="73" name="Text 71"/>
          <p:cNvSpPr/>
          <p:nvPr/>
        </p:nvSpPr>
        <p:spPr>
          <a:xfrm>
            <a:off x="9596438" y="8817992"/>
            <a:ext cx="624855"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aula</a:t>
            </a:r>
            <a:endParaRPr lang="en-US" sz="1800" dirty="0"/>
          </a:p>
        </p:txBody>
      </p:sp>
      <p:sp>
        <p:nvSpPr>
          <p:cNvPr id="74" name="Text 72"/>
          <p:cNvSpPr/>
          <p:nvPr/>
        </p:nvSpPr>
        <p:spPr>
          <a:xfrm>
            <a:off x="15583793" y="8817992"/>
            <a:ext cx="1659701" cy="333375"/>
          </a:xfrm>
          <a:prstGeom prst="rect">
            <a:avLst/>
          </a:prstGeom>
          <a:noFill/>
          <a:ln/>
        </p:spPr>
        <p:txBody>
          <a:bodyPr wrap="square" lIns="25400" tIns="25400" rIns="25400" bIns="25400" rtlCol="0" anchor="t">
            <a:normAutofit/>
          </a:bodyPr>
          <a:lstStyle/>
          <a:p>
            <a:pPr algn="l" indent="0" marL="0">
              <a:buNone/>
            </a:pPr>
            <a:r>
              <a:rPr lang="en-US" sz="1800" dirty="0">
                <a:solidFill>
                  <a:srgbClr val="8B93A3"/>
                </a:solidFill>
                <a:latin typeface="Courier New" pitchFamily="34" charset="0"/>
                <a:ea typeface="Courier New" pitchFamily="34" charset="-122"/>
                <a:cs typeface="Courier New" pitchFamily="34" charset="-120"/>
              </a:rPr>
              <a:t>VARCHAR(10)</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952500" y="952500"/>
            <a:ext cx="18021300" cy="3333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1F3A5F"/>
                </a:solidFill>
                <a:latin typeface="Courier New" pitchFamily="34" charset="0"/>
                <a:ea typeface="Courier New" pitchFamily="34" charset="-122"/>
                <a:cs typeface="Courier New" pitchFamily="34" charset="-120"/>
              </a:rPr>
              <a:t>ATRIBUTOS · 2 DE 3</a:t>
            </a:r>
            <a:endParaRPr lang="en-US" sz="1800" dirty="0"/>
          </a:p>
        </p:txBody>
      </p:sp>
      <p:sp>
        <p:nvSpPr>
          <p:cNvPr id="3" name="Text 1"/>
          <p:cNvSpPr/>
          <p:nvPr/>
        </p:nvSpPr>
        <p:spPr>
          <a:xfrm>
            <a:off x="952500" y="1438275"/>
            <a:ext cx="18021300" cy="602679"/>
          </a:xfrm>
          <a:prstGeom prst="rect">
            <a:avLst/>
          </a:prstGeom>
          <a:noFill/>
          <a:ln/>
        </p:spPr>
        <p:txBody>
          <a:bodyPr wrap="square" lIns="25400" tIns="25400" rIns="25400" bIns="25400" rtlCol="0" anchor="t">
            <a:normAutofit/>
          </a:bodyPr>
          <a:lstStyle/>
          <a:p>
            <a:pPr algn="l" indent="0" marL="0">
              <a:lnSpc>
                <a:spcPct val="100475"/>
              </a:lnSpc>
              <a:buNone/>
            </a:pPr>
            <a:r>
              <a:rPr lang="en-US" sz="3900" b="1" spc="-58" kern="0" dirty="0">
                <a:solidFill>
                  <a:srgbClr val="16181D"/>
                </a:solidFill>
                <a:latin typeface="Georgia" pitchFamily="34" charset="0"/>
                <a:ea typeface="Georgia" pitchFamily="34" charset="-122"/>
                <a:cs typeface="Georgia" pitchFamily="34" charset="-120"/>
              </a:rPr>
              <a:t>Operación de la clase</a:t>
            </a:r>
            <a:endParaRPr lang="en-US" sz="3900" dirty="0"/>
          </a:p>
        </p:txBody>
      </p:sp>
      <p:sp>
        <p:nvSpPr>
          <p:cNvPr id="4" name="Shape 2"/>
          <p:cNvSpPr/>
          <p:nvPr/>
        </p:nvSpPr>
        <p:spPr>
          <a:xfrm>
            <a:off x="952500" y="2460054"/>
            <a:ext cx="7981950" cy="3462338"/>
          </a:xfrm>
          <a:prstGeom prst="rect">
            <a:avLst/>
          </a:prstGeom>
          <a:solidFill>
            <a:srgbClr val="FFFFFF"/>
          </a:solidFill>
          <a:ln w="14288">
            <a:solidFill>
              <a:srgbClr val="D5D9E0"/>
            </a:solidFill>
            <a:prstDash val="solid"/>
          </a:ln>
        </p:spPr>
      </p:sp>
      <p:sp>
        <p:nvSpPr>
          <p:cNvPr id="5" name="Shape 3"/>
          <p:cNvSpPr/>
          <p:nvPr/>
        </p:nvSpPr>
        <p:spPr>
          <a:xfrm>
            <a:off x="966788" y="2474342"/>
            <a:ext cx="7953375" cy="585788"/>
          </a:xfrm>
          <a:prstGeom prst="rect">
            <a:avLst/>
          </a:prstGeom>
          <a:solidFill>
            <a:srgbClr val="1F3A5F"/>
          </a:solidFill>
          <a:ln/>
        </p:spPr>
      </p:sp>
      <p:sp>
        <p:nvSpPr>
          <p:cNvPr id="6" name="Text 4"/>
          <p:cNvSpPr/>
          <p:nvPr/>
        </p:nvSpPr>
        <p:spPr>
          <a:xfrm>
            <a:off x="1195388" y="2607692"/>
            <a:ext cx="7734776" cy="357188"/>
          </a:xfrm>
          <a:prstGeom prst="rect">
            <a:avLst/>
          </a:prstGeom>
          <a:noFill/>
          <a:ln/>
        </p:spPr>
        <p:txBody>
          <a:bodyPr wrap="square" lIns="25400" tIns="25400" rIns="25400" bIns="25400" rtlCol="0" anchor="t">
            <a:normAutofit/>
          </a:bodyPr>
          <a:lstStyle/>
          <a:p>
            <a:pPr algn="l" indent="0" marL="0">
              <a:buNone/>
            </a:pPr>
            <a:r>
              <a:rPr lang="en-US" sz="1950" spc="117" kern="0" dirty="0">
                <a:solidFill>
                  <a:srgbClr val="F7F8FA"/>
                </a:solidFill>
                <a:latin typeface="Courier New" pitchFamily="34" charset="0"/>
                <a:ea typeface="Courier New" pitchFamily="34" charset="-122"/>
                <a:cs typeface="Courier New" pitchFamily="34" charset="-120"/>
              </a:rPr>
              <a:t>INSCRIPCIÓN</a:t>
            </a:r>
            <a:endParaRPr lang="en-US" sz="1950" dirty="0"/>
          </a:p>
        </p:txBody>
      </p:sp>
      <p:sp>
        <p:nvSpPr>
          <p:cNvPr id="7" name="Shape 5"/>
          <p:cNvSpPr/>
          <p:nvPr/>
        </p:nvSpPr>
        <p:spPr>
          <a:xfrm>
            <a:off x="966788" y="3526854"/>
            <a:ext cx="7953375" cy="9525"/>
          </a:xfrm>
          <a:prstGeom prst="rect">
            <a:avLst/>
          </a:prstGeom>
          <a:solidFill>
            <a:srgbClr val="ECEEF2"/>
          </a:solidFill>
          <a:ln/>
        </p:spPr>
      </p:sp>
      <p:sp>
        <p:nvSpPr>
          <p:cNvPr id="8" name="Text 6"/>
          <p:cNvSpPr/>
          <p:nvPr/>
        </p:nvSpPr>
        <p:spPr>
          <a:xfrm>
            <a:off x="1195388" y="3145854"/>
            <a:ext cx="2564941"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id_inscripcion </a:t>
            </a:r>
            <a:pPr algn="l" indent="0" marL="0">
              <a:buNone/>
            </a:pPr>
            <a:r>
              <a:rPr lang="en-US" sz="1800" dirty="0">
                <a:solidFill>
                  <a:srgbClr val="1F3A5F"/>
                </a:solidFill>
                <a:latin typeface="Courier New" pitchFamily="34" charset="0"/>
                <a:ea typeface="Courier New" pitchFamily="34" charset="-122"/>
                <a:cs typeface="Courier New" pitchFamily="34" charset="-120"/>
              </a:rPr>
              <a:t>PK</a:t>
            </a:r>
            <a:endParaRPr lang="en-US" sz="1800" dirty="0"/>
          </a:p>
        </p:txBody>
      </p:sp>
      <p:sp>
        <p:nvSpPr>
          <p:cNvPr id="9" name="Text 7"/>
          <p:cNvSpPr/>
          <p:nvPr/>
        </p:nvSpPr>
        <p:spPr>
          <a:xfrm>
            <a:off x="8280053" y="3145854"/>
            <a:ext cx="48771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8B93A3"/>
                </a:solidFill>
                <a:latin typeface="Courier New" pitchFamily="34" charset="0"/>
                <a:ea typeface="Courier New" pitchFamily="34" charset="-122"/>
                <a:cs typeface="Courier New" pitchFamily="34" charset="-120"/>
              </a:rPr>
              <a:t>INT</a:t>
            </a:r>
            <a:endParaRPr lang="en-US" sz="1800" dirty="0"/>
          </a:p>
        </p:txBody>
      </p:sp>
      <p:sp>
        <p:nvSpPr>
          <p:cNvPr id="10" name="Shape 8"/>
          <p:cNvSpPr/>
          <p:nvPr/>
        </p:nvSpPr>
        <p:spPr>
          <a:xfrm>
            <a:off x="966788" y="4003104"/>
            <a:ext cx="7953375" cy="9525"/>
          </a:xfrm>
          <a:prstGeom prst="rect">
            <a:avLst/>
          </a:prstGeom>
          <a:solidFill>
            <a:srgbClr val="ECEEF2"/>
          </a:solidFill>
          <a:ln/>
        </p:spPr>
      </p:sp>
      <p:sp>
        <p:nvSpPr>
          <p:cNvPr id="11" name="Text 9"/>
          <p:cNvSpPr/>
          <p:nvPr/>
        </p:nvSpPr>
        <p:spPr>
          <a:xfrm>
            <a:off x="1195388" y="3622104"/>
            <a:ext cx="1810561"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id_alumno </a:t>
            </a:r>
            <a:pPr algn="l" indent="0" marL="0">
              <a:buNone/>
            </a:pPr>
            <a:r>
              <a:rPr lang="en-US" sz="1800" dirty="0">
                <a:solidFill>
                  <a:srgbClr val="7B879B"/>
                </a:solidFill>
                <a:latin typeface="Courier New" pitchFamily="34" charset="0"/>
                <a:ea typeface="Courier New" pitchFamily="34" charset="-122"/>
                <a:cs typeface="Courier New" pitchFamily="34" charset="-120"/>
              </a:rPr>
              <a:t>FK</a:t>
            </a:r>
            <a:endParaRPr lang="en-US" sz="1800" dirty="0"/>
          </a:p>
        </p:txBody>
      </p:sp>
      <p:sp>
        <p:nvSpPr>
          <p:cNvPr id="12" name="Text 10"/>
          <p:cNvSpPr/>
          <p:nvPr/>
        </p:nvSpPr>
        <p:spPr>
          <a:xfrm>
            <a:off x="8280053" y="3622104"/>
            <a:ext cx="48771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8B93A3"/>
                </a:solidFill>
                <a:latin typeface="Courier New" pitchFamily="34" charset="0"/>
                <a:ea typeface="Courier New" pitchFamily="34" charset="-122"/>
                <a:cs typeface="Courier New" pitchFamily="34" charset="-120"/>
              </a:rPr>
              <a:t>INT</a:t>
            </a:r>
            <a:endParaRPr lang="en-US" sz="1800" dirty="0"/>
          </a:p>
        </p:txBody>
      </p:sp>
      <p:sp>
        <p:nvSpPr>
          <p:cNvPr id="13" name="Shape 11"/>
          <p:cNvSpPr/>
          <p:nvPr/>
        </p:nvSpPr>
        <p:spPr>
          <a:xfrm>
            <a:off x="966788" y="4479354"/>
            <a:ext cx="7953375" cy="9525"/>
          </a:xfrm>
          <a:prstGeom prst="rect">
            <a:avLst/>
          </a:prstGeom>
          <a:solidFill>
            <a:srgbClr val="ECEEF2"/>
          </a:solidFill>
          <a:ln/>
        </p:spPr>
      </p:sp>
      <p:sp>
        <p:nvSpPr>
          <p:cNvPr id="14" name="Text 12"/>
          <p:cNvSpPr/>
          <p:nvPr/>
        </p:nvSpPr>
        <p:spPr>
          <a:xfrm>
            <a:off x="1195388" y="4098354"/>
            <a:ext cx="1659701"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id_grupo </a:t>
            </a:r>
            <a:pPr algn="l" indent="0" marL="0">
              <a:buNone/>
            </a:pPr>
            <a:r>
              <a:rPr lang="en-US" sz="1800" dirty="0">
                <a:solidFill>
                  <a:srgbClr val="7B879B"/>
                </a:solidFill>
                <a:latin typeface="Courier New" pitchFamily="34" charset="0"/>
                <a:ea typeface="Courier New" pitchFamily="34" charset="-122"/>
                <a:cs typeface="Courier New" pitchFamily="34" charset="-120"/>
              </a:rPr>
              <a:t>FK</a:t>
            </a:r>
            <a:endParaRPr lang="en-US" sz="1800" dirty="0"/>
          </a:p>
        </p:txBody>
      </p:sp>
      <p:sp>
        <p:nvSpPr>
          <p:cNvPr id="15" name="Text 13"/>
          <p:cNvSpPr/>
          <p:nvPr/>
        </p:nvSpPr>
        <p:spPr>
          <a:xfrm>
            <a:off x="8280053" y="4098354"/>
            <a:ext cx="48771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8B93A3"/>
                </a:solidFill>
                <a:latin typeface="Courier New" pitchFamily="34" charset="0"/>
                <a:ea typeface="Courier New" pitchFamily="34" charset="-122"/>
                <a:cs typeface="Courier New" pitchFamily="34" charset="-120"/>
              </a:rPr>
              <a:t>INT</a:t>
            </a:r>
            <a:endParaRPr lang="en-US" sz="1800" dirty="0"/>
          </a:p>
        </p:txBody>
      </p:sp>
      <p:sp>
        <p:nvSpPr>
          <p:cNvPr id="16" name="Shape 14"/>
          <p:cNvSpPr/>
          <p:nvPr/>
        </p:nvSpPr>
        <p:spPr>
          <a:xfrm>
            <a:off x="966788" y="4955604"/>
            <a:ext cx="7953375" cy="9525"/>
          </a:xfrm>
          <a:prstGeom prst="rect">
            <a:avLst/>
          </a:prstGeom>
          <a:solidFill>
            <a:srgbClr val="ECEEF2"/>
          </a:solidFill>
          <a:ln/>
        </p:spPr>
      </p:sp>
      <p:sp>
        <p:nvSpPr>
          <p:cNvPr id="17" name="Text 15"/>
          <p:cNvSpPr/>
          <p:nvPr/>
        </p:nvSpPr>
        <p:spPr>
          <a:xfrm>
            <a:off x="1195388" y="4574604"/>
            <a:ext cx="150876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fecha_alta</a:t>
            </a:r>
            <a:endParaRPr lang="en-US" sz="1800" dirty="0"/>
          </a:p>
        </p:txBody>
      </p:sp>
      <p:sp>
        <p:nvSpPr>
          <p:cNvPr id="18" name="Text 16"/>
          <p:cNvSpPr/>
          <p:nvPr/>
        </p:nvSpPr>
        <p:spPr>
          <a:xfrm>
            <a:off x="8142908" y="4574604"/>
            <a:ext cx="624855" cy="333375"/>
          </a:xfrm>
          <a:prstGeom prst="rect">
            <a:avLst/>
          </a:prstGeom>
          <a:noFill/>
          <a:ln/>
        </p:spPr>
        <p:txBody>
          <a:bodyPr wrap="square" lIns="25400" tIns="25400" rIns="25400" bIns="25400" rtlCol="0" anchor="t">
            <a:normAutofit/>
          </a:bodyPr>
          <a:lstStyle/>
          <a:p>
            <a:pPr algn="l" indent="0" marL="0">
              <a:buNone/>
            </a:pPr>
            <a:r>
              <a:rPr lang="en-US" sz="1800" dirty="0">
                <a:solidFill>
                  <a:srgbClr val="8B93A3"/>
                </a:solidFill>
                <a:latin typeface="Courier New" pitchFamily="34" charset="0"/>
                <a:ea typeface="Courier New" pitchFamily="34" charset="-122"/>
                <a:cs typeface="Courier New" pitchFamily="34" charset="-120"/>
              </a:rPr>
              <a:t>DATE</a:t>
            </a:r>
            <a:endParaRPr lang="en-US" sz="1800" dirty="0"/>
          </a:p>
        </p:txBody>
      </p:sp>
      <p:sp>
        <p:nvSpPr>
          <p:cNvPr id="19" name="Text 17"/>
          <p:cNvSpPr/>
          <p:nvPr/>
        </p:nvSpPr>
        <p:spPr>
          <a:xfrm>
            <a:off x="1195388" y="5050854"/>
            <a:ext cx="1036365"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estatus</a:t>
            </a:r>
            <a:endParaRPr lang="en-US" sz="1800" dirty="0"/>
          </a:p>
        </p:txBody>
      </p:sp>
      <p:sp>
        <p:nvSpPr>
          <p:cNvPr id="20" name="Text 18"/>
          <p:cNvSpPr/>
          <p:nvPr/>
        </p:nvSpPr>
        <p:spPr>
          <a:xfrm>
            <a:off x="8142908" y="5050854"/>
            <a:ext cx="624855" cy="333375"/>
          </a:xfrm>
          <a:prstGeom prst="rect">
            <a:avLst/>
          </a:prstGeom>
          <a:noFill/>
          <a:ln/>
        </p:spPr>
        <p:txBody>
          <a:bodyPr wrap="square" lIns="25400" tIns="25400" rIns="25400" bIns="25400" rtlCol="0" anchor="t">
            <a:normAutofit/>
          </a:bodyPr>
          <a:lstStyle/>
          <a:p>
            <a:pPr algn="l" indent="0" marL="0">
              <a:buNone/>
            </a:pPr>
            <a:r>
              <a:rPr lang="en-US" sz="1800" dirty="0">
                <a:solidFill>
                  <a:srgbClr val="8B93A3"/>
                </a:solidFill>
                <a:latin typeface="Courier New" pitchFamily="34" charset="0"/>
                <a:ea typeface="Courier New" pitchFamily="34" charset="-122"/>
                <a:cs typeface="Courier New" pitchFamily="34" charset="-120"/>
              </a:rPr>
              <a:t>ENUM</a:t>
            </a:r>
            <a:endParaRPr lang="en-US" sz="1800" dirty="0"/>
          </a:p>
        </p:txBody>
      </p:sp>
      <p:sp>
        <p:nvSpPr>
          <p:cNvPr id="21" name="Shape 19"/>
          <p:cNvSpPr/>
          <p:nvPr/>
        </p:nvSpPr>
        <p:spPr>
          <a:xfrm>
            <a:off x="9353550" y="2460054"/>
            <a:ext cx="7981950" cy="3462338"/>
          </a:xfrm>
          <a:prstGeom prst="rect">
            <a:avLst/>
          </a:prstGeom>
          <a:solidFill>
            <a:srgbClr val="FFFFFF"/>
          </a:solidFill>
          <a:ln w="14288">
            <a:solidFill>
              <a:srgbClr val="D5D9E0"/>
            </a:solidFill>
            <a:prstDash val="solid"/>
          </a:ln>
        </p:spPr>
      </p:sp>
      <p:sp>
        <p:nvSpPr>
          <p:cNvPr id="22" name="Shape 20"/>
          <p:cNvSpPr/>
          <p:nvPr/>
        </p:nvSpPr>
        <p:spPr>
          <a:xfrm>
            <a:off x="9367838" y="2474342"/>
            <a:ext cx="7953375" cy="585788"/>
          </a:xfrm>
          <a:prstGeom prst="rect">
            <a:avLst/>
          </a:prstGeom>
          <a:solidFill>
            <a:srgbClr val="1F3A5F"/>
          </a:solidFill>
          <a:ln/>
        </p:spPr>
      </p:sp>
      <p:sp>
        <p:nvSpPr>
          <p:cNvPr id="23" name="Text 21"/>
          <p:cNvSpPr/>
          <p:nvPr/>
        </p:nvSpPr>
        <p:spPr>
          <a:xfrm>
            <a:off x="9596438" y="2607692"/>
            <a:ext cx="7734776" cy="357188"/>
          </a:xfrm>
          <a:prstGeom prst="rect">
            <a:avLst/>
          </a:prstGeom>
          <a:noFill/>
          <a:ln/>
        </p:spPr>
        <p:txBody>
          <a:bodyPr wrap="square" lIns="25400" tIns="25400" rIns="25400" bIns="25400" rtlCol="0" anchor="t">
            <a:normAutofit/>
          </a:bodyPr>
          <a:lstStyle/>
          <a:p>
            <a:pPr algn="l" indent="0" marL="0">
              <a:buNone/>
            </a:pPr>
            <a:r>
              <a:rPr lang="en-US" sz="1950" spc="117" kern="0" dirty="0">
                <a:solidFill>
                  <a:srgbClr val="F7F8FA"/>
                </a:solidFill>
                <a:latin typeface="Courier New" pitchFamily="34" charset="0"/>
                <a:ea typeface="Courier New" pitchFamily="34" charset="-122"/>
                <a:cs typeface="Courier New" pitchFamily="34" charset="-120"/>
              </a:rPr>
              <a:t>SESIÓN_CLASE</a:t>
            </a:r>
            <a:endParaRPr lang="en-US" sz="1950" dirty="0"/>
          </a:p>
        </p:txBody>
      </p:sp>
      <p:sp>
        <p:nvSpPr>
          <p:cNvPr id="24" name="Shape 22"/>
          <p:cNvSpPr/>
          <p:nvPr/>
        </p:nvSpPr>
        <p:spPr>
          <a:xfrm>
            <a:off x="9367838" y="3526854"/>
            <a:ext cx="7953375" cy="9525"/>
          </a:xfrm>
          <a:prstGeom prst="rect">
            <a:avLst/>
          </a:prstGeom>
          <a:solidFill>
            <a:srgbClr val="ECEEF2"/>
          </a:solidFill>
          <a:ln/>
        </p:spPr>
      </p:sp>
      <p:sp>
        <p:nvSpPr>
          <p:cNvPr id="25" name="Text 23"/>
          <p:cNvSpPr/>
          <p:nvPr/>
        </p:nvSpPr>
        <p:spPr>
          <a:xfrm>
            <a:off x="9596438" y="3145854"/>
            <a:ext cx="1810561"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id_sesion </a:t>
            </a:r>
            <a:pPr algn="l" indent="0" marL="0">
              <a:buNone/>
            </a:pPr>
            <a:r>
              <a:rPr lang="en-US" sz="1800" dirty="0">
                <a:solidFill>
                  <a:srgbClr val="1F3A5F"/>
                </a:solidFill>
                <a:latin typeface="Courier New" pitchFamily="34" charset="0"/>
                <a:ea typeface="Courier New" pitchFamily="34" charset="-122"/>
                <a:cs typeface="Courier New" pitchFamily="34" charset="-120"/>
              </a:rPr>
              <a:t>PK</a:t>
            </a:r>
            <a:endParaRPr lang="en-US" sz="1800" dirty="0"/>
          </a:p>
        </p:txBody>
      </p:sp>
      <p:sp>
        <p:nvSpPr>
          <p:cNvPr id="26" name="Text 24"/>
          <p:cNvSpPr/>
          <p:nvPr/>
        </p:nvSpPr>
        <p:spPr>
          <a:xfrm>
            <a:off x="16681103" y="3145854"/>
            <a:ext cx="48771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8B93A3"/>
                </a:solidFill>
                <a:latin typeface="Courier New" pitchFamily="34" charset="0"/>
                <a:ea typeface="Courier New" pitchFamily="34" charset="-122"/>
                <a:cs typeface="Courier New" pitchFamily="34" charset="-120"/>
              </a:rPr>
              <a:t>INT</a:t>
            </a:r>
            <a:endParaRPr lang="en-US" sz="1800" dirty="0"/>
          </a:p>
        </p:txBody>
      </p:sp>
      <p:sp>
        <p:nvSpPr>
          <p:cNvPr id="27" name="Shape 25"/>
          <p:cNvSpPr/>
          <p:nvPr/>
        </p:nvSpPr>
        <p:spPr>
          <a:xfrm>
            <a:off x="9367838" y="4003104"/>
            <a:ext cx="7953375" cy="9525"/>
          </a:xfrm>
          <a:prstGeom prst="rect">
            <a:avLst/>
          </a:prstGeom>
          <a:solidFill>
            <a:srgbClr val="ECEEF2"/>
          </a:solidFill>
          <a:ln/>
        </p:spPr>
      </p:sp>
      <p:sp>
        <p:nvSpPr>
          <p:cNvPr id="28" name="Text 26"/>
          <p:cNvSpPr/>
          <p:nvPr/>
        </p:nvSpPr>
        <p:spPr>
          <a:xfrm>
            <a:off x="9596438" y="3622104"/>
            <a:ext cx="1659701"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id_grupo </a:t>
            </a:r>
            <a:pPr algn="l" indent="0" marL="0">
              <a:buNone/>
            </a:pPr>
            <a:r>
              <a:rPr lang="en-US" sz="1800" dirty="0">
                <a:solidFill>
                  <a:srgbClr val="7B879B"/>
                </a:solidFill>
                <a:latin typeface="Courier New" pitchFamily="34" charset="0"/>
                <a:ea typeface="Courier New" pitchFamily="34" charset="-122"/>
                <a:cs typeface="Courier New" pitchFamily="34" charset="-120"/>
              </a:rPr>
              <a:t>FK</a:t>
            </a:r>
            <a:endParaRPr lang="en-US" sz="1800" dirty="0"/>
          </a:p>
        </p:txBody>
      </p:sp>
      <p:sp>
        <p:nvSpPr>
          <p:cNvPr id="29" name="Text 27"/>
          <p:cNvSpPr/>
          <p:nvPr/>
        </p:nvSpPr>
        <p:spPr>
          <a:xfrm>
            <a:off x="16681103" y="3622104"/>
            <a:ext cx="48771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8B93A3"/>
                </a:solidFill>
                <a:latin typeface="Courier New" pitchFamily="34" charset="0"/>
                <a:ea typeface="Courier New" pitchFamily="34" charset="-122"/>
                <a:cs typeface="Courier New" pitchFamily="34" charset="-120"/>
              </a:rPr>
              <a:t>INT</a:t>
            </a:r>
            <a:endParaRPr lang="en-US" sz="1800" dirty="0"/>
          </a:p>
        </p:txBody>
      </p:sp>
      <p:sp>
        <p:nvSpPr>
          <p:cNvPr id="30" name="Shape 28"/>
          <p:cNvSpPr/>
          <p:nvPr/>
        </p:nvSpPr>
        <p:spPr>
          <a:xfrm>
            <a:off x="9367838" y="4479354"/>
            <a:ext cx="7953375" cy="9525"/>
          </a:xfrm>
          <a:prstGeom prst="rect">
            <a:avLst/>
          </a:prstGeom>
          <a:solidFill>
            <a:srgbClr val="ECEEF2"/>
          </a:solidFill>
          <a:ln/>
        </p:spPr>
      </p:sp>
      <p:sp>
        <p:nvSpPr>
          <p:cNvPr id="31" name="Text 29"/>
          <p:cNvSpPr/>
          <p:nvPr/>
        </p:nvSpPr>
        <p:spPr>
          <a:xfrm>
            <a:off x="9596438" y="4098354"/>
            <a:ext cx="76200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fecha</a:t>
            </a:r>
            <a:endParaRPr lang="en-US" sz="1800" dirty="0"/>
          </a:p>
        </p:txBody>
      </p:sp>
      <p:sp>
        <p:nvSpPr>
          <p:cNvPr id="32" name="Text 30"/>
          <p:cNvSpPr/>
          <p:nvPr/>
        </p:nvSpPr>
        <p:spPr>
          <a:xfrm>
            <a:off x="16543958" y="4098354"/>
            <a:ext cx="624855" cy="333375"/>
          </a:xfrm>
          <a:prstGeom prst="rect">
            <a:avLst/>
          </a:prstGeom>
          <a:noFill/>
          <a:ln/>
        </p:spPr>
        <p:txBody>
          <a:bodyPr wrap="square" lIns="25400" tIns="25400" rIns="25400" bIns="25400" rtlCol="0" anchor="t">
            <a:normAutofit/>
          </a:bodyPr>
          <a:lstStyle/>
          <a:p>
            <a:pPr algn="l" indent="0" marL="0">
              <a:buNone/>
            </a:pPr>
            <a:r>
              <a:rPr lang="en-US" sz="1800" dirty="0">
                <a:solidFill>
                  <a:srgbClr val="8B93A3"/>
                </a:solidFill>
                <a:latin typeface="Courier New" pitchFamily="34" charset="0"/>
                <a:ea typeface="Courier New" pitchFamily="34" charset="-122"/>
                <a:cs typeface="Courier New" pitchFamily="34" charset="-120"/>
              </a:rPr>
              <a:t>DATE</a:t>
            </a:r>
            <a:endParaRPr lang="en-US" sz="1800" dirty="0"/>
          </a:p>
        </p:txBody>
      </p:sp>
      <p:sp>
        <p:nvSpPr>
          <p:cNvPr id="33" name="Shape 31"/>
          <p:cNvSpPr/>
          <p:nvPr/>
        </p:nvSpPr>
        <p:spPr>
          <a:xfrm>
            <a:off x="9367838" y="4955604"/>
            <a:ext cx="7953375" cy="9525"/>
          </a:xfrm>
          <a:prstGeom prst="rect">
            <a:avLst/>
          </a:prstGeom>
          <a:solidFill>
            <a:srgbClr val="ECEEF2"/>
          </a:solidFill>
          <a:ln/>
        </p:spPr>
      </p:sp>
      <p:sp>
        <p:nvSpPr>
          <p:cNvPr id="34" name="Text 32"/>
          <p:cNvSpPr/>
          <p:nvPr/>
        </p:nvSpPr>
        <p:spPr>
          <a:xfrm>
            <a:off x="9596438" y="4574604"/>
            <a:ext cx="3319321"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hora_inicio · hora_fin</a:t>
            </a:r>
            <a:endParaRPr lang="en-US" sz="1800" dirty="0"/>
          </a:p>
        </p:txBody>
      </p:sp>
      <p:sp>
        <p:nvSpPr>
          <p:cNvPr id="35" name="Text 33"/>
          <p:cNvSpPr/>
          <p:nvPr/>
        </p:nvSpPr>
        <p:spPr>
          <a:xfrm>
            <a:off x="16543958" y="4574604"/>
            <a:ext cx="624855" cy="333375"/>
          </a:xfrm>
          <a:prstGeom prst="rect">
            <a:avLst/>
          </a:prstGeom>
          <a:noFill/>
          <a:ln/>
        </p:spPr>
        <p:txBody>
          <a:bodyPr wrap="square" lIns="25400" tIns="25400" rIns="25400" bIns="25400" rtlCol="0" anchor="t">
            <a:normAutofit/>
          </a:bodyPr>
          <a:lstStyle/>
          <a:p>
            <a:pPr algn="l" indent="0" marL="0">
              <a:buNone/>
            </a:pPr>
            <a:r>
              <a:rPr lang="en-US" sz="1800" dirty="0">
                <a:solidFill>
                  <a:srgbClr val="8B93A3"/>
                </a:solidFill>
                <a:latin typeface="Courier New" pitchFamily="34" charset="0"/>
                <a:ea typeface="Courier New" pitchFamily="34" charset="-122"/>
                <a:cs typeface="Courier New" pitchFamily="34" charset="-120"/>
              </a:rPr>
              <a:t>TIME</a:t>
            </a:r>
            <a:endParaRPr lang="en-US" sz="1800" dirty="0"/>
          </a:p>
        </p:txBody>
      </p:sp>
      <p:sp>
        <p:nvSpPr>
          <p:cNvPr id="36" name="Shape 34"/>
          <p:cNvSpPr/>
          <p:nvPr/>
        </p:nvSpPr>
        <p:spPr>
          <a:xfrm>
            <a:off x="9367838" y="5431854"/>
            <a:ext cx="7953375" cy="9525"/>
          </a:xfrm>
          <a:prstGeom prst="rect">
            <a:avLst/>
          </a:prstGeom>
          <a:solidFill>
            <a:srgbClr val="ECEEF2"/>
          </a:solidFill>
          <a:ln/>
        </p:spPr>
      </p:sp>
      <p:sp>
        <p:nvSpPr>
          <p:cNvPr id="37" name="Text 35"/>
          <p:cNvSpPr/>
          <p:nvPr/>
        </p:nvSpPr>
        <p:spPr>
          <a:xfrm>
            <a:off x="9596438" y="5050854"/>
            <a:ext cx="211228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tolerancia_min</a:t>
            </a:r>
            <a:endParaRPr lang="en-US" sz="1800" dirty="0"/>
          </a:p>
        </p:txBody>
      </p:sp>
      <p:sp>
        <p:nvSpPr>
          <p:cNvPr id="38" name="Text 36"/>
          <p:cNvSpPr/>
          <p:nvPr/>
        </p:nvSpPr>
        <p:spPr>
          <a:xfrm>
            <a:off x="15995303" y="5050854"/>
            <a:ext cx="117351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8B93A3"/>
                </a:solidFill>
                <a:latin typeface="Courier New" pitchFamily="34" charset="0"/>
                <a:ea typeface="Courier New" pitchFamily="34" charset="-122"/>
                <a:cs typeface="Courier New" pitchFamily="34" charset="-120"/>
              </a:rPr>
              <a:t>SMALLINT</a:t>
            </a:r>
            <a:endParaRPr lang="en-US" sz="1800" dirty="0"/>
          </a:p>
        </p:txBody>
      </p:sp>
      <p:sp>
        <p:nvSpPr>
          <p:cNvPr id="39" name="Text 37"/>
          <p:cNvSpPr/>
          <p:nvPr/>
        </p:nvSpPr>
        <p:spPr>
          <a:xfrm>
            <a:off x="9596438" y="5527104"/>
            <a:ext cx="3319321"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intervalo_muestreo_seg</a:t>
            </a:r>
            <a:endParaRPr lang="en-US" sz="1800" dirty="0"/>
          </a:p>
        </p:txBody>
      </p:sp>
      <p:sp>
        <p:nvSpPr>
          <p:cNvPr id="40" name="Text 38"/>
          <p:cNvSpPr/>
          <p:nvPr/>
        </p:nvSpPr>
        <p:spPr>
          <a:xfrm>
            <a:off x="15995303" y="5527104"/>
            <a:ext cx="117351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8B93A3"/>
                </a:solidFill>
                <a:latin typeface="Courier New" pitchFamily="34" charset="0"/>
                <a:ea typeface="Courier New" pitchFamily="34" charset="-122"/>
                <a:cs typeface="Courier New" pitchFamily="34" charset="-120"/>
              </a:rPr>
              <a:t>SMALLINT</a:t>
            </a:r>
            <a:endParaRPr lang="en-US" sz="1800" dirty="0"/>
          </a:p>
        </p:txBody>
      </p:sp>
      <p:sp>
        <p:nvSpPr>
          <p:cNvPr id="41" name="Shape 39"/>
          <p:cNvSpPr/>
          <p:nvPr/>
        </p:nvSpPr>
        <p:spPr>
          <a:xfrm>
            <a:off x="952500" y="6227192"/>
            <a:ext cx="7981950" cy="3462338"/>
          </a:xfrm>
          <a:prstGeom prst="rect">
            <a:avLst/>
          </a:prstGeom>
          <a:solidFill>
            <a:srgbClr val="FFFFFF"/>
          </a:solidFill>
          <a:ln w="14288">
            <a:solidFill>
              <a:srgbClr val="1F3A5F"/>
            </a:solidFill>
            <a:prstDash val="solid"/>
          </a:ln>
        </p:spPr>
      </p:sp>
      <p:sp>
        <p:nvSpPr>
          <p:cNvPr id="42" name="Shape 40"/>
          <p:cNvSpPr/>
          <p:nvPr/>
        </p:nvSpPr>
        <p:spPr>
          <a:xfrm>
            <a:off x="966788" y="6241479"/>
            <a:ext cx="7953375" cy="585788"/>
          </a:xfrm>
          <a:prstGeom prst="rect">
            <a:avLst/>
          </a:prstGeom>
          <a:solidFill>
            <a:srgbClr val="1F3A5F"/>
          </a:solidFill>
          <a:ln/>
        </p:spPr>
      </p:sp>
      <p:sp>
        <p:nvSpPr>
          <p:cNvPr id="43" name="Text 41"/>
          <p:cNvSpPr/>
          <p:nvPr/>
        </p:nvSpPr>
        <p:spPr>
          <a:xfrm>
            <a:off x="1195388" y="6374829"/>
            <a:ext cx="7734776" cy="357188"/>
          </a:xfrm>
          <a:prstGeom prst="rect">
            <a:avLst/>
          </a:prstGeom>
          <a:noFill/>
          <a:ln/>
        </p:spPr>
        <p:txBody>
          <a:bodyPr wrap="square" lIns="25400" tIns="25400" rIns="25400" bIns="25400" rtlCol="0" anchor="t">
            <a:normAutofit/>
          </a:bodyPr>
          <a:lstStyle/>
          <a:p>
            <a:pPr algn="l" indent="0" marL="0">
              <a:buNone/>
            </a:pPr>
            <a:r>
              <a:rPr lang="en-US" sz="1950" spc="117" kern="0" dirty="0">
                <a:solidFill>
                  <a:srgbClr val="F7F8FA"/>
                </a:solidFill>
                <a:latin typeface="Courier New" pitchFamily="34" charset="0"/>
                <a:ea typeface="Courier New" pitchFamily="34" charset="-122"/>
                <a:cs typeface="Courier New" pitchFamily="34" charset="-120"/>
              </a:rPr>
              <a:t>ASISTENCIA</a:t>
            </a:r>
            <a:endParaRPr lang="en-US" sz="1950" dirty="0"/>
          </a:p>
        </p:txBody>
      </p:sp>
      <p:sp>
        <p:nvSpPr>
          <p:cNvPr id="44" name="Shape 42"/>
          <p:cNvSpPr/>
          <p:nvPr/>
        </p:nvSpPr>
        <p:spPr>
          <a:xfrm>
            <a:off x="966788" y="7293992"/>
            <a:ext cx="7953375" cy="9525"/>
          </a:xfrm>
          <a:prstGeom prst="rect">
            <a:avLst/>
          </a:prstGeom>
          <a:solidFill>
            <a:srgbClr val="ECEEF2"/>
          </a:solidFill>
          <a:ln/>
        </p:spPr>
      </p:sp>
      <p:sp>
        <p:nvSpPr>
          <p:cNvPr id="45" name="Text 43"/>
          <p:cNvSpPr/>
          <p:nvPr/>
        </p:nvSpPr>
        <p:spPr>
          <a:xfrm>
            <a:off x="1195388" y="6912992"/>
            <a:ext cx="2414081"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id_asistencia </a:t>
            </a:r>
            <a:pPr algn="l" indent="0" marL="0">
              <a:buNone/>
            </a:pPr>
            <a:r>
              <a:rPr lang="en-US" sz="1800" dirty="0">
                <a:solidFill>
                  <a:srgbClr val="1F3A5F"/>
                </a:solidFill>
                <a:latin typeface="Courier New" pitchFamily="34" charset="0"/>
                <a:ea typeface="Courier New" pitchFamily="34" charset="-122"/>
                <a:cs typeface="Courier New" pitchFamily="34" charset="-120"/>
              </a:rPr>
              <a:t>PK</a:t>
            </a:r>
            <a:endParaRPr lang="en-US" sz="1800" dirty="0"/>
          </a:p>
        </p:txBody>
      </p:sp>
      <p:sp>
        <p:nvSpPr>
          <p:cNvPr id="46" name="Text 44"/>
          <p:cNvSpPr/>
          <p:nvPr/>
        </p:nvSpPr>
        <p:spPr>
          <a:xfrm>
            <a:off x="8280053" y="6912992"/>
            <a:ext cx="48771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8B93A3"/>
                </a:solidFill>
                <a:latin typeface="Courier New" pitchFamily="34" charset="0"/>
                <a:ea typeface="Courier New" pitchFamily="34" charset="-122"/>
                <a:cs typeface="Courier New" pitchFamily="34" charset="-120"/>
              </a:rPr>
              <a:t>INT</a:t>
            </a:r>
            <a:endParaRPr lang="en-US" sz="1800" dirty="0"/>
          </a:p>
        </p:txBody>
      </p:sp>
      <p:sp>
        <p:nvSpPr>
          <p:cNvPr id="47" name="Shape 45"/>
          <p:cNvSpPr/>
          <p:nvPr/>
        </p:nvSpPr>
        <p:spPr>
          <a:xfrm>
            <a:off x="966788" y="7770242"/>
            <a:ext cx="7953375" cy="9525"/>
          </a:xfrm>
          <a:prstGeom prst="rect">
            <a:avLst/>
          </a:prstGeom>
          <a:solidFill>
            <a:srgbClr val="ECEEF2"/>
          </a:solidFill>
          <a:ln/>
        </p:spPr>
      </p:sp>
      <p:sp>
        <p:nvSpPr>
          <p:cNvPr id="48" name="Text 46"/>
          <p:cNvSpPr/>
          <p:nvPr/>
        </p:nvSpPr>
        <p:spPr>
          <a:xfrm>
            <a:off x="1195388" y="7389242"/>
            <a:ext cx="1810561"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id_sesion </a:t>
            </a:r>
            <a:pPr algn="l" indent="0" marL="0">
              <a:buNone/>
            </a:pPr>
            <a:r>
              <a:rPr lang="en-US" sz="1800" dirty="0">
                <a:solidFill>
                  <a:srgbClr val="7B879B"/>
                </a:solidFill>
                <a:latin typeface="Courier New" pitchFamily="34" charset="0"/>
                <a:ea typeface="Courier New" pitchFamily="34" charset="-122"/>
                <a:cs typeface="Courier New" pitchFamily="34" charset="-120"/>
              </a:rPr>
              <a:t>FK</a:t>
            </a:r>
            <a:endParaRPr lang="en-US" sz="1800" dirty="0"/>
          </a:p>
        </p:txBody>
      </p:sp>
      <p:sp>
        <p:nvSpPr>
          <p:cNvPr id="49" name="Text 47"/>
          <p:cNvSpPr/>
          <p:nvPr/>
        </p:nvSpPr>
        <p:spPr>
          <a:xfrm>
            <a:off x="8280053" y="7389242"/>
            <a:ext cx="48771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8B93A3"/>
                </a:solidFill>
                <a:latin typeface="Courier New" pitchFamily="34" charset="0"/>
                <a:ea typeface="Courier New" pitchFamily="34" charset="-122"/>
                <a:cs typeface="Courier New" pitchFamily="34" charset="-120"/>
              </a:rPr>
              <a:t>INT</a:t>
            </a:r>
            <a:endParaRPr lang="en-US" sz="1800" dirty="0"/>
          </a:p>
        </p:txBody>
      </p:sp>
      <p:sp>
        <p:nvSpPr>
          <p:cNvPr id="50" name="Shape 48"/>
          <p:cNvSpPr/>
          <p:nvPr/>
        </p:nvSpPr>
        <p:spPr>
          <a:xfrm>
            <a:off x="966788" y="8246492"/>
            <a:ext cx="7953375" cy="9525"/>
          </a:xfrm>
          <a:prstGeom prst="rect">
            <a:avLst/>
          </a:prstGeom>
          <a:solidFill>
            <a:srgbClr val="ECEEF2"/>
          </a:solidFill>
          <a:ln/>
        </p:spPr>
      </p:sp>
      <p:sp>
        <p:nvSpPr>
          <p:cNvPr id="51" name="Text 49"/>
          <p:cNvSpPr/>
          <p:nvPr/>
        </p:nvSpPr>
        <p:spPr>
          <a:xfrm>
            <a:off x="1195388" y="7865492"/>
            <a:ext cx="1810561"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id_alumno </a:t>
            </a:r>
            <a:pPr algn="l" indent="0" marL="0">
              <a:buNone/>
            </a:pPr>
            <a:r>
              <a:rPr lang="en-US" sz="1800" dirty="0">
                <a:solidFill>
                  <a:srgbClr val="7B879B"/>
                </a:solidFill>
                <a:latin typeface="Courier New" pitchFamily="34" charset="0"/>
                <a:ea typeface="Courier New" pitchFamily="34" charset="-122"/>
                <a:cs typeface="Courier New" pitchFamily="34" charset="-120"/>
              </a:rPr>
              <a:t>FK</a:t>
            </a:r>
            <a:endParaRPr lang="en-US" sz="1800" dirty="0"/>
          </a:p>
        </p:txBody>
      </p:sp>
      <p:sp>
        <p:nvSpPr>
          <p:cNvPr id="52" name="Text 50"/>
          <p:cNvSpPr/>
          <p:nvPr/>
        </p:nvSpPr>
        <p:spPr>
          <a:xfrm>
            <a:off x="8280053" y="7865492"/>
            <a:ext cx="48771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8B93A3"/>
                </a:solidFill>
                <a:latin typeface="Courier New" pitchFamily="34" charset="0"/>
                <a:ea typeface="Courier New" pitchFamily="34" charset="-122"/>
                <a:cs typeface="Courier New" pitchFamily="34" charset="-120"/>
              </a:rPr>
              <a:t>INT</a:t>
            </a:r>
            <a:endParaRPr lang="en-US" sz="1800" dirty="0"/>
          </a:p>
        </p:txBody>
      </p:sp>
      <p:sp>
        <p:nvSpPr>
          <p:cNvPr id="53" name="Shape 51"/>
          <p:cNvSpPr/>
          <p:nvPr/>
        </p:nvSpPr>
        <p:spPr>
          <a:xfrm>
            <a:off x="966788" y="8722742"/>
            <a:ext cx="7953375" cy="9525"/>
          </a:xfrm>
          <a:prstGeom prst="rect">
            <a:avLst/>
          </a:prstGeom>
          <a:solidFill>
            <a:srgbClr val="ECEEF2"/>
          </a:solidFill>
          <a:ln/>
        </p:spPr>
      </p:sp>
      <p:sp>
        <p:nvSpPr>
          <p:cNvPr id="54" name="Text 52"/>
          <p:cNvSpPr/>
          <p:nvPr/>
        </p:nvSpPr>
        <p:spPr>
          <a:xfrm>
            <a:off x="1195388" y="8341742"/>
            <a:ext cx="89922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estado</a:t>
            </a:r>
            <a:endParaRPr lang="en-US" sz="1800" dirty="0"/>
          </a:p>
        </p:txBody>
      </p:sp>
      <p:sp>
        <p:nvSpPr>
          <p:cNvPr id="55" name="Text 53"/>
          <p:cNvSpPr/>
          <p:nvPr/>
        </p:nvSpPr>
        <p:spPr>
          <a:xfrm>
            <a:off x="8142908" y="8341742"/>
            <a:ext cx="624855" cy="333375"/>
          </a:xfrm>
          <a:prstGeom prst="rect">
            <a:avLst/>
          </a:prstGeom>
          <a:noFill/>
          <a:ln/>
        </p:spPr>
        <p:txBody>
          <a:bodyPr wrap="square" lIns="25400" tIns="25400" rIns="25400" bIns="25400" rtlCol="0" anchor="t">
            <a:normAutofit/>
          </a:bodyPr>
          <a:lstStyle/>
          <a:p>
            <a:pPr algn="l" indent="0" marL="0">
              <a:buNone/>
            </a:pPr>
            <a:r>
              <a:rPr lang="en-US" sz="1800" dirty="0">
                <a:solidFill>
                  <a:srgbClr val="8B93A3"/>
                </a:solidFill>
                <a:latin typeface="Courier New" pitchFamily="34" charset="0"/>
                <a:ea typeface="Courier New" pitchFamily="34" charset="-122"/>
                <a:cs typeface="Courier New" pitchFamily="34" charset="-120"/>
              </a:rPr>
              <a:t>ENUM</a:t>
            </a:r>
            <a:endParaRPr lang="en-US" sz="1800" dirty="0"/>
          </a:p>
        </p:txBody>
      </p:sp>
      <p:sp>
        <p:nvSpPr>
          <p:cNvPr id="56" name="Shape 54"/>
          <p:cNvSpPr/>
          <p:nvPr/>
        </p:nvSpPr>
        <p:spPr>
          <a:xfrm>
            <a:off x="966788" y="9198992"/>
            <a:ext cx="7953375" cy="9525"/>
          </a:xfrm>
          <a:prstGeom prst="rect">
            <a:avLst/>
          </a:prstGeom>
          <a:solidFill>
            <a:srgbClr val="ECEEF2"/>
          </a:solidFill>
          <a:ln/>
        </p:spPr>
      </p:sp>
      <p:sp>
        <p:nvSpPr>
          <p:cNvPr id="57" name="Text 55"/>
          <p:cNvSpPr/>
          <p:nvPr/>
        </p:nvSpPr>
        <p:spPr>
          <a:xfrm>
            <a:off x="1195388" y="8817992"/>
            <a:ext cx="3319321"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hora_registro · origen</a:t>
            </a:r>
            <a:endParaRPr lang="en-US" sz="1800" dirty="0"/>
          </a:p>
        </p:txBody>
      </p:sp>
      <p:sp>
        <p:nvSpPr>
          <p:cNvPr id="58" name="Text 56"/>
          <p:cNvSpPr/>
          <p:nvPr/>
        </p:nvSpPr>
        <p:spPr>
          <a:xfrm>
            <a:off x="7594253" y="8817992"/>
            <a:ext cx="117351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8B93A3"/>
                </a:solidFill>
                <a:latin typeface="Courier New" pitchFamily="34" charset="0"/>
                <a:ea typeface="Courier New" pitchFamily="34" charset="-122"/>
                <a:cs typeface="Courier New" pitchFamily="34" charset="-120"/>
              </a:rPr>
              <a:t>DATETIME</a:t>
            </a:r>
            <a:endParaRPr lang="en-US" sz="1800" dirty="0"/>
          </a:p>
        </p:txBody>
      </p:sp>
      <p:sp>
        <p:nvSpPr>
          <p:cNvPr id="59" name="Text 57"/>
          <p:cNvSpPr/>
          <p:nvPr/>
        </p:nvSpPr>
        <p:spPr>
          <a:xfrm>
            <a:off x="1195388" y="9294242"/>
            <a:ext cx="2715801"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conteo_detecciones</a:t>
            </a:r>
            <a:endParaRPr lang="en-US" sz="1800" dirty="0"/>
          </a:p>
        </p:txBody>
      </p:sp>
      <p:sp>
        <p:nvSpPr>
          <p:cNvPr id="60" name="Text 58"/>
          <p:cNvSpPr/>
          <p:nvPr/>
        </p:nvSpPr>
        <p:spPr>
          <a:xfrm>
            <a:off x="7594253" y="9294242"/>
            <a:ext cx="117351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8B93A3"/>
                </a:solidFill>
                <a:latin typeface="Courier New" pitchFamily="34" charset="0"/>
                <a:ea typeface="Courier New" pitchFamily="34" charset="-122"/>
                <a:cs typeface="Courier New" pitchFamily="34" charset="-120"/>
              </a:rPr>
              <a:t>SMALLINT</a:t>
            </a:r>
            <a:endParaRPr lang="en-US" sz="1800" dirty="0"/>
          </a:p>
        </p:txBody>
      </p:sp>
      <p:sp>
        <p:nvSpPr>
          <p:cNvPr id="61" name="Shape 59"/>
          <p:cNvSpPr/>
          <p:nvPr/>
        </p:nvSpPr>
        <p:spPr>
          <a:xfrm>
            <a:off x="9353550" y="6227192"/>
            <a:ext cx="7981950" cy="3462338"/>
          </a:xfrm>
          <a:prstGeom prst="rect">
            <a:avLst/>
          </a:prstGeom>
          <a:solidFill>
            <a:srgbClr val="FFFFFF"/>
          </a:solidFill>
          <a:ln w="14288">
            <a:solidFill>
              <a:srgbClr val="D5D9E0"/>
            </a:solidFill>
            <a:prstDash val="solid"/>
          </a:ln>
        </p:spPr>
      </p:sp>
      <p:sp>
        <p:nvSpPr>
          <p:cNvPr id="62" name="Shape 60"/>
          <p:cNvSpPr/>
          <p:nvPr/>
        </p:nvSpPr>
        <p:spPr>
          <a:xfrm>
            <a:off x="9367838" y="6241479"/>
            <a:ext cx="7953375" cy="585788"/>
          </a:xfrm>
          <a:prstGeom prst="rect">
            <a:avLst/>
          </a:prstGeom>
          <a:solidFill>
            <a:srgbClr val="1F3A5F"/>
          </a:solidFill>
          <a:ln/>
        </p:spPr>
      </p:sp>
      <p:sp>
        <p:nvSpPr>
          <p:cNvPr id="63" name="Text 61"/>
          <p:cNvSpPr/>
          <p:nvPr/>
        </p:nvSpPr>
        <p:spPr>
          <a:xfrm>
            <a:off x="9596438" y="6374829"/>
            <a:ext cx="7734776" cy="357188"/>
          </a:xfrm>
          <a:prstGeom prst="rect">
            <a:avLst/>
          </a:prstGeom>
          <a:noFill/>
          <a:ln/>
        </p:spPr>
        <p:txBody>
          <a:bodyPr wrap="square" lIns="25400" tIns="25400" rIns="25400" bIns="25400" rtlCol="0" anchor="t">
            <a:normAutofit/>
          </a:bodyPr>
          <a:lstStyle/>
          <a:p>
            <a:pPr algn="l" indent="0" marL="0">
              <a:buNone/>
            </a:pPr>
            <a:r>
              <a:rPr lang="en-US" sz="1950" spc="117" kern="0" dirty="0">
                <a:solidFill>
                  <a:srgbClr val="F7F8FA"/>
                </a:solidFill>
                <a:latin typeface="Courier New" pitchFamily="34" charset="0"/>
                <a:ea typeface="Courier New" pitchFamily="34" charset="-122"/>
                <a:cs typeface="Courier New" pitchFamily="34" charset="-120"/>
              </a:rPr>
              <a:t>JUSTIFICANTE</a:t>
            </a:r>
            <a:endParaRPr lang="en-US" sz="1950" dirty="0"/>
          </a:p>
        </p:txBody>
      </p:sp>
      <p:sp>
        <p:nvSpPr>
          <p:cNvPr id="64" name="Shape 62"/>
          <p:cNvSpPr/>
          <p:nvPr/>
        </p:nvSpPr>
        <p:spPr>
          <a:xfrm>
            <a:off x="9367838" y="7293992"/>
            <a:ext cx="7953375" cy="9525"/>
          </a:xfrm>
          <a:prstGeom prst="rect">
            <a:avLst/>
          </a:prstGeom>
          <a:solidFill>
            <a:srgbClr val="ECEEF2"/>
          </a:solidFill>
          <a:ln/>
        </p:spPr>
      </p:sp>
      <p:sp>
        <p:nvSpPr>
          <p:cNvPr id="65" name="Text 63"/>
          <p:cNvSpPr/>
          <p:nvPr/>
        </p:nvSpPr>
        <p:spPr>
          <a:xfrm>
            <a:off x="9596438" y="6912992"/>
            <a:ext cx="2715883"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id_justificante </a:t>
            </a:r>
            <a:pPr algn="l" indent="0" marL="0">
              <a:buNone/>
            </a:pPr>
            <a:r>
              <a:rPr lang="en-US" sz="1800" dirty="0">
                <a:solidFill>
                  <a:srgbClr val="1F3A5F"/>
                </a:solidFill>
                <a:latin typeface="Courier New" pitchFamily="34" charset="0"/>
                <a:ea typeface="Courier New" pitchFamily="34" charset="-122"/>
                <a:cs typeface="Courier New" pitchFamily="34" charset="-120"/>
              </a:rPr>
              <a:t>PK</a:t>
            </a:r>
            <a:endParaRPr lang="en-US" sz="1800" dirty="0"/>
          </a:p>
        </p:txBody>
      </p:sp>
      <p:sp>
        <p:nvSpPr>
          <p:cNvPr id="66" name="Text 64"/>
          <p:cNvSpPr/>
          <p:nvPr/>
        </p:nvSpPr>
        <p:spPr>
          <a:xfrm>
            <a:off x="16681103" y="6912992"/>
            <a:ext cx="48771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8B93A3"/>
                </a:solidFill>
                <a:latin typeface="Courier New" pitchFamily="34" charset="0"/>
                <a:ea typeface="Courier New" pitchFamily="34" charset="-122"/>
                <a:cs typeface="Courier New" pitchFamily="34" charset="-120"/>
              </a:rPr>
              <a:t>INT</a:t>
            </a:r>
            <a:endParaRPr lang="en-US" sz="1800" dirty="0"/>
          </a:p>
        </p:txBody>
      </p:sp>
      <p:sp>
        <p:nvSpPr>
          <p:cNvPr id="67" name="Shape 65"/>
          <p:cNvSpPr/>
          <p:nvPr/>
        </p:nvSpPr>
        <p:spPr>
          <a:xfrm>
            <a:off x="9367838" y="7770242"/>
            <a:ext cx="7953375" cy="9525"/>
          </a:xfrm>
          <a:prstGeom prst="rect">
            <a:avLst/>
          </a:prstGeom>
          <a:solidFill>
            <a:srgbClr val="ECEEF2"/>
          </a:solidFill>
          <a:ln/>
        </p:spPr>
      </p:sp>
      <p:sp>
        <p:nvSpPr>
          <p:cNvPr id="68" name="Text 66"/>
          <p:cNvSpPr/>
          <p:nvPr/>
        </p:nvSpPr>
        <p:spPr>
          <a:xfrm>
            <a:off x="9596438" y="7389242"/>
            <a:ext cx="1810561"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id_alumno </a:t>
            </a:r>
            <a:pPr algn="l" indent="0" marL="0">
              <a:buNone/>
            </a:pPr>
            <a:r>
              <a:rPr lang="en-US" sz="1800" dirty="0">
                <a:solidFill>
                  <a:srgbClr val="7B879B"/>
                </a:solidFill>
                <a:latin typeface="Courier New" pitchFamily="34" charset="0"/>
                <a:ea typeface="Courier New" pitchFamily="34" charset="-122"/>
                <a:cs typeface="Courier New" pitchFamily="34" charset="-120"/>
              </a:rPr>
              <a:t>FK</a:t>
            </a:r>
            <a:endParaRPr lang="en-US" sz="1800" dirty="0"/>
          </a:p>
        </p:txBody>
      </p:sp>
      <p:sp>
        <p:nvSpPr>
          <p:cNvPr id="69" name="Text 67"/>
          <p:cNvSpPr/>
          <p:nvPr/>
        </p:nvSpPr>
        <p:spPr>
          <a:xfrm>
            <a:off x="16681103" y="7389242"/>
            <a:ext cx="48771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8B93A3"/>
                </a:solidFill>
                <a:latin typeface="Courier New" pitchFamily="34" charset="0"/>
                <a:ea typeface="Courier New" pitchFamily="34" charset="-122"/>
                <a:cs typeface="Courier New" pitchFamily="34" charset="-120"/>
              </a:rPr>
              <a:t>INT</a:t>
            </a:r>
            <a:endParaRPr lang="en-US" sz="1800" dirty="0"/>
          </a:p>
        </p:txBody>
      </p:sp>
      <p:sp>
        <p:nvSpPr>
          <p:cNvPr id="70" name="Shape 68"/>
          <p:cNvSpPr/>
          <p:nvPr/>
        </p:nvSpPr>
        <p:spPr>
          <a:xfrm>
            <a:off x="9367838" y="8246492"/>
            <a:ext cx="7953375" cy="9525"/>
          </a:xfrm>
          <a:prstGeom prst="rect">
            <a:avLst/>
          </a:prstGeom>
          <a:solidFill>
            <a:srgbClr val="ECEEF2"/>
          </a:solidFill>
          <a:ln/>
        </p:spPr>
      </p:sp>
      <p:sp>
        <p:nvSpPr>
          <p:cNvPr id="71" name="Text 69"/>
          <p:cNvSpPr/>
          <p:nvPr/>
        </p:nvSpPr>
        <p:spPr>
          <a:xfrm>
            <a:off x="9596438" y="7865492"/>
            <a:ext cx="1810561"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id_sesion </a:t>
            </a:r>
            <a:pPr algn="l" indent="0" marL="0">
              <a:buNone/>
            </a:pPr>
            <a:r>
              <a:rPr lang="en-US" sz="1800" dirty="0">
                <a:solidFill>
                  <a:srgbClr val="7B879B"/>
                </a:solidFill>
                <a:latin typeface="Courier New" pitchFamily="34" charset="0"/>
                <a:ea typeface="Courier New" pitchFamily="34" charset="-122"/>
                <a:cs typeface="Courier New" pitchFamily="34" charset="-120"/>
              </a:rPr>
              <a:t>FK</a:t>
            </a:r>
            <a:endParaRPr lang="en-US" sz="1800" dirty="0"/>
          </a:p>
        </p:txBody>
      </p:sp>
      <p:sp>
        <p:nvSpPr>
          <p:cNvPr id="72" name="Text 70"/>
          <p:cNvSpPr/>
          <p:nvPr/>
        </p:nvSpPr>
        <p:spPr>
          <a:xfrm>
            <a:off x="16681103" y="7865492"/>
            <a:ext cx="48771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8B93A3"/>
                </a:solidFill>
                <a:latin typeface="Courier New" pitchFamily="34" charset="0"/>
                <a:ea typeface="Courier New" pitchFamily="34" charset="-122"/>
                <a:cs typeface="Courier New" pitchFamily="34" charset="-120"/>
              </a:rPr>
              <a:t>INT</a:t>
            </a:r>
            <a:endParaRPr lang="en-US" sz="1800" dirty="0"/>
          </a:p>
        </p:txBody>
      </p:sp>
      <p:sp>
        <p:nvSpPr>
          <p:cNvPr id="73" name="Shape 71"/>
          <p:cNvSpPr/>
          <p:nvPr/>
        </p:nvSpPr>
        <p:spPr>
          <a:xfrm>
            <a:off x="9367838" y="8722742"/>
            <a:ext cx="7953375" cy="9525"/>
          </a:xfrm>
          <a:prstGeom prst="rect">
            <a:avLst/>
          </a:prstGeom>
          <a:solidFill>
            <a:srgbClr val="ECEEF2"/>
          </a:solidFill>
          <a:ln/>
        </p:spPr>
      </p:sp>
      <p:sp>
        <p:nvSpPr>
          <p:cNvPr id="74" name="Text 72"/>
          <p:cNvSpPr/>
          <p:nvPr/>
        </p:nvSpPr>
        <p:spPr>
          <a:xfrm>
            <a:off x="9596438" y="8341742"/>
            <a:ext cx="89922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motivo</a:t>
            </a:r>
            <a:endParaRPr lang="en-US" sz="1800" dirty="0"/>
          </a:p>
        </p:txBody>
      </p:sp>
      <p:sp>
        <p:nvSpPr>
          <p:cNvPr id="75" name="Text 73"/>
          <p:cNvSpPr/>
          <p:nvPr/>
        </p:nvSpPr>
        <p:spPr>
          <a:xfrm>
            <a:off x="15446648" y="8341742"/>
            <a:ext cx="1810561" cy="333375"/>
          </a:xfrm>
          <a:prstGeom prst="rect">
            <a:avLst/>
          </a:prstGeom>
          <a:noFill/>
          <a:ln/>
        </p:spPr>
        <p:txBody>
          <a:bodyPr wrap="square" lIns="25400" tIns="25400" rIns="25400" bIns="25400" rtlCol="0" anchor="t">
            <a:normAutofit/>
          </a:bodyPr>
          <a:lstStyle/>
          <a:p>
            <a:pPr algn="l" indent="0" marL="0">
              <a:buNone/>
            </a:pPr>
            <a:r>
              <a:rPr lang="en-US" sz="1800" dirty="0">
                <a:solidFill>
                  <a:srgbClr val="8B93A3"/>
                </a:solidFill>
                <a:latin typeface="Courier New" pitchFamily="34" charset="0"/>
                <a:ea typeface="Courier New" pitchFamily="34" charset="-122"/>
                <a:cs typeface="Courier New" pitchFamily="34" charset="-120"/>
              </a:rPr>
              <a:t>VARCHAR(200)</a:t>
            </a:r>
            <a:endParaRPr lang="en-US" sz="1800" dirty="0"/>
          </a:p>
        </p:txBody>
      </p:sp>
      <p:sp>
        <p:nvSpPr>
          <p:cNvPr id="76" name="Shape 74"/>
          <p:cNvSpPr/>
          <p:nvPr/>
        </p:nvSpPr>
        <p:spPr>
          <a:xfrm>
            <a:off x="9367838" y="9198992"/>
            <a:ext cx="7953375" cy="9525"/>
          </a:xfrm>
          <a:prstGeom prst="rect">
            <a:avLst/>
          </a:prstGeom>
          <a:solidFill>
            <a:srgbClr val="ECEEF2"/>
          </a:solidFill>
          <a:ln/>
        </p:spPr>
      </p:sp>
      <p:sp>
        <p:nvSpPr>
          <p:cNvPr id="77" name="Text 75"/>
          <p:cNvSpPr/>
          <p:nvPr/>
        </p:nvSpPr>
        <p:spPr>
          <a:xfrm>
            <a:off x="9596438" y="8817992"/>
            <a:ext cx="2414081"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objeto_documento</a:t>
            </a:r>
            <a:endParaRPr lang="en-US" sz="1800" dirty="0"/>
          </a:p>
        </p:txBody>
      </p:sp>
      <p:sp>
        <p:nvSpPr>
          <p:cNvPr id="78" name="Text 76"/>
          <p:cNvSpPr/>
          <p:nvPr/>
        </p:nvSpPr>
        <p:spPr>
          <a:xfrm>
            <a:off x="15446648" y="8817992"/>
            <a:ext cx="1810561" cy="333375"/>
          </a:xfrm>
          <a:prstGeom prst="rect">
            <a:avLst/>
          </a:prstGeom>
          <a:noFill/>
          <a:ln/>
        </p:spPr>
        <p:txBody>
          <a:bodyPr wrap="square" lIns="25400" tIns="25400" rIns="25400" bIns="25400" rtlCol="0" anchor="t">
            <a:normAutofit/>
          </a:bodyPr>
          <a:lstStyle/>
          <a:p>
            <a:pPr algn="l" indent="0" marL="0">
              <a:buNone/>
            </a:pPr>
            <a:r>
              <a:rPr lang="en-US" sz="1800" dirty="0">
                <a:solidFill>
                  <a:srgbClr val="8B93A3"/>
                </a:solidFill>
                <a:latin typeface="Courier New" pitchFamily="34" charset="0"/>
                <a:ea typeface="Courier New" pitchFamily="34" charset="-122"/>
                <a:cs typeface="Courier New" pitchFamily="34" charset="-120"/>
              </a:rPr>
              <a:t>VARCHAR(255)</a:t>
            </a:r>
            <a:endParaRPr lang="en-US" sz="1800" dirty="0"/>
          </a:p>
        </p:txBody>
      </p:sp>
      <p:sp>
        <p:nvSpPr>
          <p:cNvPr id="79" name="Text 77"/>
          <p:cNvSpPr/>
          <p:nvPr/>
        </p:nvSpPr>
        <p:spPr>
          <a:xfrm>
            <a:off x="9596438" y="9294242"/>
            <a:ext cx="1036365"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estatus</a:t>
            </a:r>
            <a:endParaRPr lang="en-US" sz="1800" dirty="0"/>
          </a:p>
        </p:txBody>
      </p:sp>
      <p:sp>
        <p:nvSpPr>
          <p:cNvPr id="80" name="Text 78"/>
          <p:cNvSpPr/>
          <p:nvPr/>
        </p:nvSpPr>
        <p:spPr>
          <a:xfrm>
            <a:off x="16543958" y="9294242"/>
            <a:ext cx="624855" cy="333375"/>
          </a:xfrm>
          <a:prstGeom prst="rect">
            <a:avLst/>
          </a:prstGeom>
          <a:noFill/>
          <a:ln/>
        </p:spPr>
        <p:txBody>
          <a:bodyPr wrap="square" lIns="25400" tIns="25400" rIns="25400" bIns="25400" rtlCol="0" anchor="t">
            <a:normAutofit/>
          </a:bodyPr>
          <a:lstStyle/>
          <a:p>
            <a:pPr algn="l" indent="0" marL="0">
              <a:buNone/>
            </a:pPr>
            <a:r>
              <a:rPr lang="en-US" sz="1800" dirty="0">
                <a:solidFill>
                  <a:srgbClr val="8B93A3"/>
                </a:solidFill>
                <a:latin typeface="Courier New" pitchFamily="34" charset="0"/>
                <a:ea typeface="Courier New" pitchFamily="34" charset="-122"/>
                <a:cs typeface="Courier New" pitchFamily="34" charset="-120"/>
              </a:rPr>
              <a:t>ENUM</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952500" y="952500"/>
            <a:ext cx="18021300" cy="3333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1F3A5F"/>
                </a:solidFill>
                <a:latin typeface="Courier New" pitchFamily="34" charset="0"/>
                <a:ea typeface="Courier New" pitchFamily="34" charset="-122"/>
                <a:cs typeface="Courier New" pitchFamily="34" charset="-120"/>
              </a:rPr>
              <a:t>ATRIBUTOS · 3 DE 3</a:t>
            </a:r>
            <a:endParaRPr lang="en-US" sz="1800" dirty="0"/>
          </a:p>
        </p:txBody>
      </p:sp>
      <p:sp>
        <p:nvSpPr>
          <p:cNvPr id="3" name="Text 1"/>
          <p:cNvSpPr/>
          <p:nvPr/>
        </p:nvSpPr>
        <p:spPr>
          <a:xfrm>
            <a:off x="952500" y="1438275"/>
            <a:ext cx="18021300" cy="602679"/>
          </a:xfrm>
          <a:prstGeom prst="rect">
            <a:avLst/>
          </a:prstGeom>
          <a:noFill/>
          <a:ln/>
        </p:spPr>
        <p:txBody>
          <a:bodyPr wrap="square" lIns="25400" tIns="25400" rIns="25400" bIns="25400" rtlCol="0" anchor="t">
            <a:normAutofit/>
          </a:bodyPr>
          <a:lstStyle/>
          <a:p>
            <a:pPr algn="l" indent="0" marL="0">
              <a:lnSpc>
                <a:spcPct val="100475"/>
              </a:lnSpc>
              <a:buNone/>
            </a:pPr>
            <a:r>
              <a:rPr lang="en-US" sz="3900" b="1" spc="-58" kern="0" dirty="0">
                <a:solidFill>
                  <a:srgbClr val="16181D"/>
                </a:solidFill>
                <a:latin typeface="Georgia" pitchFamily="34" charset="0"/>
                <a:ea typeface="Georgia" pitchFamily="34" charset="-122"/>
                <a:cs typeface="Georgia" pitchFamily="34" charset="-120"/>
              </a:rPr>
              <a:t>Captura y módulo biométrico</a:t>
            </a:r>
            <a:endParaRPr lang="en-US" sz="3900" dirty="0"/>
          </a:p>
        </p:txBody>
      </p:sp>
      <p:sp>
        <p:nvSpPr>
          <p:cNvPr id="4" name="Shape 2"/>
          <p:cNvSpPr/>
          <p:nvPr/>
        </p:nvSpPr>
        <p:spPr>
          <a:xfrm>
            <a:off x="952500" y="2421954"/>
            <a:ext cx="5181600" cy="2852738"/>
          </a:xfrm>
          <a:prstGeom prst="rect">
            <a:avLst/>
          </a:prstGeom>
          <a:solidFill>
            <a:srgbClr val="FFFFFF"/>
          </a:solidFill>
          <a:ln w="14288">
            <a:solidFill>
              <a:srgbClr val="1F3A5F"/>
            </a:solidFill>
            <a:prstDash val="solid"/>
          </a:ln>
        </p:spPr>
      </p:sp>
      <p:sp>
        <p:nvSpPr>
          <p:cNvPr id="5" name="Shape 3"/>
          <p:cNvSpPr/>
          <p:nvPr/>
        </p:nvSpPr>
        <p:spPr>
          <a:xfrm>
            <a:off x="966788" y="2436242"/>
            <a:ext cx="5153025" cy="547688"/>
          </a:xfrm>
          <a:prstGeom prst="rect">
            <a:avLst/>
          </a:prstGeom>
          <a:solidFill>
            <a:srgbClr val="1F3A5F"/>
          </a:solidFill>
          <a:ln/>
        </p:spPr>
      </p:sp>
      <p:sp>
        <p:nvSpPr>
          <p:cNvPr id="6" name="Text 4"/>
          <p:cNvSpPr/>
          <p:nvPr/>
        </p:nvSpPr>
        <p:spPr>
          <a:xfrm>
            <a:off x="1176338" y="2550542"/>
            <a:ext cx="4888516" cy="357188"/>
          </a:xfrm>
          <a:prstGeom prst="rect">
            <a:avLst/>
          </a:prstGeom>
          <a:noFill/>
          <a:ln/>
        </p:spPr>
        <p:txBody>
          <a:bodyPr wrap="square" lIns="25400" tIns="25400" rIns="25400" bIns="25400" rtlCol="0" anchor="t">
            <a:normAutofit/>
          </a:bodyPr>
          <a:lstStyle/>
          <a:p>
            <a:pPr algn="l" indent="0" marL="0">
              <a:buNone/>
            </a:pPr>
            <a:r>
              <a:rPr lang="en-US" sz="1950" spc="117" kern="0" dirty="0">
                <a:solidFill>
                  <a:srgbClr val="F7F8FA"/>
                </a:solidFill>
                <a:latin typeface="Courier New" pitchFamily="34" charset="0"/>
                <a:ea typeface="Courier New" pitchFamily="34" charset="-122"/>
                <a:cs typeface="Courier New" pitchFamily="34" charset="-120"/>
              </a:rPr>
              <a:t>PLANTILLA_FACIAL</a:t>
            </a:r>
            <a:endParaRPr lang="en-US" sz="1950" dirty="0"/>
          </a:p>
        </p:txBody>
      </p:sp>
      <p:sp>
        <p:nvSpPr>
          <p:cNvPr id="7" name="Shape 5"/>
          <p:cNvSpPr/>
          <p:nvPr/>
        </p:nvSpPr>
        <p:spPr>
          <a:xfrm>
            <a:off x="966788" y="3431604"/>
            <a:ext cx="5153025" cy="9525"/>
          </a:xfrm>
          <a:prstGeom prst="rect">
            <a:avLst/>
          </a:prstGeom>
          <a:solidFill>
            <a:srgbClr val="ECEEF2"/>
          </a:solidFill>
          <a:ln/>
        </p:spPr>
      </p:sp>
      <p:sp>
        <p:nvSpPr>
          <p:cNvPr id="8" name="Text 6"/>
          <p:cNvSpPr/>
          <p:nvPr/>
        </p:nvSpPr>
        <p:spPr>
          <a:xfrm>
            <a:off x="1176338" y="3060129"/>
            <a:ext cx="2263222"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id_plantilla </a:t>
            </a:r>
            <a:pPr algn="l" indent="0" marL="0">
              <a:buNone/>
            </a:pPr>
            <a:r>
              <a:rPr lang="en-US" sz="1800" dirty="0">
                <a:solidFill>
                  <a:srgbClr val="1F3A5F"/>
                </a:solidFill>
                <a:latin typeface="Courier New" pitchFamily="34" charset="0"/>
                <a:ea typeface="Courier New" pitchFamily="34" charset="-122"/>
                <a:cs typeface="Courier New" pitchFamily="34" charset="-120"/>
              </a:rPr>
              <a:t>PK</a:t>
            </a:r>
            <a:endParaRPr lang="en-US" sz="1800" dirty="0"/>
          </a:p>
        </p:txBody>
      </p:sp>
      <p:sp>
        <p:nvSpPr>
          <p:cNvPr id="9" name="Text 7"/>
          <p:cNvSpPr/>
          <p:nvPr/>
        </p:nvSpPr>
        <p:spPr>
          <a:xfrm>
            <a:off x="5498753" y="3060129"/>
            <a:ext cx="48771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8B93A3"/>
                </a:solidFill>
                <a:latin typeface="Courier New" pitchFamily="34" charset="0"/>
                <a:ea typeface="Courier New" pitchFamily="34" charset="-122"/>
                <a:cs typeface="Courier New" pitchFamily="34" charset="-120"/>
              </a:rPr>
              <a:t>INT</a:t>
            </a:r>
            <a:endParaRPr lang="en-US" sz="1800" dirty="0"/>
          </a:p>
        </p:txBody>
      </p:sp>
      <p:sp>
        <p:nvSpPr>
          <p:cNvPr id="10" name="Shape 8"/>
          <p:cNvSpPr/>
          <p:nvPr/>
        </p:nvSpPr>
        <p:spPr>
          <a:xfrm>
            <a:off x="966788" y="3888804"/>
            <a:ext cx="5153025" cy="9525"/>
          </a:xfrm>
          <a:prstGeom prst="rect">
            <a:avLst/>
          </a:prstGeom>
          <a:solidFill>
            <a:srgbClr val="ECEEF2"/>
          </a:solidFill>
          <a:ln/>
        </p:spPr>
      </p:sp>
      <p:sp>
        <p:nvSpPr>
          <p:cNvPr id="11" name="Text 9"/>
          <p:cNvSpPr/>
          <p:nvPr/>
        </p:nvSpPr>
        <p:spPr>
          <a:xfrm>
            <a:off x="1176338" y="3517329"/>
            <a:ext cx="1810561"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id_alumno </a:t>
            </a:r>
            <a:pPr algn="l" indent="0" marL="0">
              <a:buNone/>
            </a:pPr>
            <a:r>
              <a:rPr lang="en-US" sz="1800" dirty="0">
                <a:solidFill>
                  <a:srgbClr val="7B879B"/>
                </a:solidFill>
                <a:latin typeface="Courier New" pitchFamily="34" charset="0"/>
                <a:ea typeface="Courier New" pitchFamily="34" charset="-122"/>
                <a:cs typeface="Courier New" pitchFamily="34" charset="-120"/>
              </a:rPr>
              <a:t>FK</a:t>
            </a:r>
            <a:endParaRPr lang="en-US" sz="1800" dirty="0"/>
          </a:p>
        </p:txBody>
      </p:sp>
      <p:sp>
        <p:nvSpPr>
          <p:cNvPr id="12" name="Text 10"/>
          <p:cNvSpPr/>
          <p:nvPr/>
        </p:nvSpPr>
        <p:spPr>
          <a:xfrm>
            <a:off x="5498753" y="3517329"/>
            <a:ext cx="48771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8B93A3"/>
                </a:solidFill>
                <a:latin typeface="Courier New" pitchFamily="34" charset="0"/>
                <a:ea typeface="Courier New" pitchFamily="34" charset="-122"/>
                <a:cs typeface="Courier New" pitchFamily="34" charset="-120"/>
              </a:rPr>
              <a:t>INT</a:t>
            </a:r>
            <a:endParaRPr lang="en-US" sz="1800" dirty="0"/>
          </a:p>
        </p:txBody>
      </p:sp>
      <p:sp>
        <p:nvSpPr>
          <p:cNvPr id="13" name="Shape 11"/>
          <p:cNvSpPr/>
          <p:nvPr/>
        </p:nvSpPr>
        <p:spPr>
          <a:xfrm>
            <a:off x="966788" y="4346004"/>
            <a:ext cx="5153025" cy="9525"/>
          </a:xfrm>
          <a:prstGeom prst="rect">
            <a:avLst/>
          </a:prstGeom>
          <a:solidFill>
            <a:srgbClr val="ECEEF2"/>
          </a:solidFill>
          <a:ln/>
        </p:spPr>
      </p:sp>
      <p:sp>
        <p:nvSpPr>
          <p:cNvPr id="14" name="Text 12"/>
          <p:cNvSpPr/>
          <p:nvPr/>
        </p:nvSpPr>
        <p:spPr>
          <a:xfrm>
            <a:off x="1176338" y="3974529"/>
            <a:ext cx="117351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faiss_id</a:t>
            </a:r>
            <a:endParaRPr lang="en-US" sz="1800" dirty="0"/>
          </a:p>
        </p:txBody>
      </p:sp>
      <p:sp>
        <p:nvSpPr>
          <p:cNvPr id="15" name="Text 13"/>
          <p:cNvSpPr/>
          <p:nvPr/>
        </p:nvSpPr>
        <p:spPr>
          <a:xfrm>
            <a:off x="5087243" y="3974529"/>
            <a:ext cx="89922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8B93A3"/>
                </a:solidFill>
                <a:latin typeface="Courier New" pitchFamily="34" charset="0"/>
                <a:ea typeface="Courier New" pitchFamily="34" charset="-122"/>
                <a:cs typeface="Courier New" pitchFamily="34" charset="-120"/>
              </a:rPr>
              <a:t>BIGINT</a:t>
            </a:r>
            <a:endParaRPr lang="en-US" sz="1800" dirty="0"/>
          </a:p>
        </p:txBody>
      </p:sp>
      <p:sp>
        <p:nvSpPr>
          <p:cNvPr id="16" name="Shape 14"/>
          <p:cNvSpPr/>
          <p:nvPr/>
        </p:nvSpPr>
        <p:spPr>
          <a:xfrm>
            <a:off x="966788" y="4803204"/>
            <a:ext cx="5153025" cy="9525"/>
          </a:xfrm>
          <a:prstGeom prst="rect">
            <a:avLst/>
          </a:prstGeom>
          <a:solidFill>
            <a:srgbClr val="ECEEF2"/>
          </a:solidFill>
          <a:ln/>
        </p:spPr>
      </p:sp>
      <p:sp>
        <p:nvSpPr>
          <p:cNvPr id="17" name="Text 15"/>
          <p:cNvSpPr/>
          <p:nvPr/>
        </p:nvSpPr>
        <p:spPr>
          <a:xfrm>
            <a:off x="1176338" y="4431729"/>
            <a:ext cx="1810561"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id_indice </a:t>
            </a:r>
            <a:pPr algn="l" indent="0" marL="0">
              <a:buNone/>
            </a:pPr>
            <a:r>
              <a:rPr lang="en-US" sz="1800" dirty="0">
                <a:solidFill>
                  <a:srgbClr val="7B879B"/>
                </a:solidFill>
                <a:latin typeface="Courier New" pitchFamily="34" charset="0"/>
                <a:ea typeface="Courier New" pitchFamily="34" charset="-122"/>
                <a:cs typeface="Courier New" pitchFamily="34" charset="-120"/>
              </a:rPr>
              <a:t>FK</a:t>
            </a:r>
            <a:endParaRPr lang="en-US" sz="1800" dirty="0"/>
          </a:p>
        </p:txBody>
      </p:sp>
      <p:sp>
        <p:nvSpPr>
          <p:cNvPr id="18" name="Text 16"/>
          <p:cNvSpPr/>
          <p:nvPr/>
        </p:nvSpPr>
        <p:spPr>
          <a:xfrm>
            <a:off x="5498753" y="4431729"/>
            <a:ext cx="48771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8B93A3"/>
                </a:solidFill>
                <a:latin typeface="Courier New" pitchFamily="34" charset="0"/>
                <a:ea typeface="Courier New" pitchFamily="34" charset="-122"/>
                <a:cs typeface="Courier New" pitchFamily="34" charset="-120"/>
              </a:rPr>
              <a:t>INT</a:t>
            </a:r>
            <a:endParaRPr lang="en-US" sz="1800" dirty="0"/>
          </a:p>
        </p:txBody>
      </p:sp>
      <p:sp>
        <p:nvSpPr>
          <p:cNvPr id="19" name="Text 17"/>
          <p:cNvSpPr/>
          <p:nvPr/>
        </p:nvSpPr>
        <p:spPr>
          <a:xfrm>
            <a:off x="1176338" y="4888929"/>
            <a:ext cx="89922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activa</a:t>
            </a:r>
            <a:endParaRPr lang="en-US" sz="1800" dirty="0"/>
          </a:p>
        </p:txBody>
      </p:sp>
      <p:sp>
        <p:nvSpPr>
          <p:cNvPr id="20" name="Text 18"/>
          <p:cNvSpPr/>
          <p:nvPr/>
        </p:nvSpPr>
        <p:spPr>
          <a:xfrm>
            <a:off x="4950098" y="4888929"/>
            <a:ext cx="1036365" cy="333375"/>
          </a:xfrm>
          <a:prstGeom prst="rect">
            <a:avLst/>
          </a:prstGeom>
          <a:noFill/>
          <a:ln/>
        </p:spPr>
        <p:txBody>
          <a:bodyPr wrap="square" lIns="25400" tIns="25400" rIns="25400" bIns="25400" rtlCol="0" anchor="t">
            <a:normAutofit/>
          </a:bodyPr>
          <a:lstStyle/>
          <a:p>
            <a:pPr algn="l" indent="0" marL="0">
              <a:buNone/>
            </a:pPr>
            <a:r>
              <a:rPr lang="en-US" sz="1800" dirty="0">
                <a:solidFill>
                  <a:srgbClr val="8B93A3"/>
                </a:solidFill>
                <a:latin typeface="Courier New" pitchFamily="34" charset="0"/>
                <a:ea typeface="Courier New" pitchFamily="34" charset="-122"/>
                <a:cs typeface="Courier New" pitchFamily="34" charset="-120"/>
              </a:rPr>
              <a:t>BOOLEAN</a:t>
            </a:r>
            <a:endParaRPr lang="en-US" sz="1800" dirty="0"/>
          </a:p>
        </p:txBody>
      </p:sp>
      <p:sp>
        <p:nvSpPr>
          <p:cNvPr id="21" name="Shape 19"/>
          <p:cNvSpPr/>
          <p:nvPr/>
        </p:nvSpPr>
        <p:spPr>
          <a:xfrm>
            <a:off x="6553200" y="2421954"/>
            <a:ext cx="5181600" cy="2852738"/>
          </a:xfrm>
          <a:prstGeom prst="rect">
            <a:avLst/>
          </a:prstGeom>
          <a:solidFill>
            <a:srgbClr val="FFFFFF"/>
          </a:solidFill>
          <a:ln w="14288">
            <a:solidFill>
              <a:srgbClr val="1F3A5F"/>
            </a:solidFill>
            <a:prstDash val="solid"/>
          </a:ln>
        </p:spPr>
      </p:sp>
      <p:sp>
        <p:nvSpPr>
          <p:cNvPr id="22" name="Shape 20"/>
          <p:cNvSpPr/>
          <p:nvPr/>
        </p:nvSpPr>
        <p:spPr>
          <a:xfrm>
            <a:off x="6567488" y="2436242"/>
            <a:ext cx="5153025" cy="547688"/>
          </a:xfrm>
          <a:prstGeom prst="rect">
            <a:avLst/>
          </a:prstGeom>
          <a:solidFill>
            <a:srgbClr val="1F3A5F"/>
          </a:solidFill>
          <a:ln/>
        </p:spPr>
      </p:sp>
      <p:sp>
        <p:nvSpPr>
          <p:cNvPr id="23" name="Text 21"/>
          <p:cNvSpPr/>
          <p:nvPr/>
        </p:nvSpPr>
        <p:spPr>
          <a:xfrm>
            <a:off x="6777038" y="2550542"/>
            <a:ext cx="4888516" cy="357188"/>
          </a:xfrm>
          <a:prstGeom prst="rect">
            <a:avLst/>
          </a:prstGeom>
          <a:noFill/>
          <a:ln/>
        </p:spPr>
        <p:txBody>
          <a:bodyPr wrap="square" lIns="25400" tIns="25400" rIns="25400" bIns="25400" rtlCol="0" anchor="t">
            <a:normAutofit/>
          </a:bodyPr>
          <a:lstStyle/>
          <a:p>
            <a:pPr algn="l" indent="0" marL="0">
              <a:buNone/>
            </a:pPr>
            <a:r>
              <a:rPr lang="en-US" sz="1950" spc="117" kern="0" dirty="0">
                <a:solidFill>
                  <a:srgbClr val="F7F8FA"/>
                </a:solidFill>
                <a:latin typeface="Courier New" pitchFamily="34" charset="0"/>
                <a:ea typeface="Courier New" pitchFamily="34" charset="-122"/>
                <a:cs typeface="Courier New" pitchFamily="34" charset="-120"/>
              </a:rPr>
              <a:t>ÍNDICE_FAISS</a:t>
            </a:r>
            <a:endParaRPr lang="en-US" sz="1950" dirty="0"/>
          </a:p>
        </p:txBody>
      </p:sp>
      <p:sp>
        <p:nvSpPr>
          <p:cNvPr id="24" name="Shape 22"/>
          <p:cNvSpPr/>
          <p:nvPr/>
        </p:nvSpPr>
        <p:spPr>
          <a:xfrm>
            <a:off x="6567488" y="3431604"/>
            <a:ext cx="5153025" cy="9525"/>
          </a:xfrm>
          <a:prstGeom prst="rect">
            <a:avLst/>
          </a:prstGeom>
          <a:solidFill>
            <a:srgbClr val="ECEEF2"/>
          </a:solidFill>
          <a:ln/>
        </p:spPr>
      </p:sp>
      <p:sp>
        <p:nvSpPr>
          <p:cNvPr id="25" name="Text 23"/>
          <p:cNvSpPr/>
          <p:nvPr/>
        </p:nvSpPr>
        <p:spPr>
          <a:xfrm>
            <a:off x="6777038" y="3060129"/>
            <a:ext cx="1810561"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id_indice </a:t>
            </a:r>
            <a:pPr algn="l" indent="0" marL="0">
              <a:buNone/>
            </a:pPr>
            <a:r>
              <a:rPr lang="en-US" sz="1800" dirty="0">
                <a:solidFill>
                  <a:srgbClr val="1F3A5F"/>
                </a:solidFill>
                <a:latin typeface="Courier New" pitchFamily="34" charset="0"/>
                <a:ea typeface="Courier New" pitchFamily="34" charset="-122"/>
                <a:cs typeface="Courier New" pitchFamily="34" charset="-120"/>
              </a:rPr>
              <a:t>PK</a:t>
            </a:r>
            <a:endParaRPr lang="en-US" sz="1800" dirty="0"/>
          </a:p>
        </p:txBody>
      </p:sp>
      <p:sp>
        <p:nvSpPr>
          <p:cNvPr id="26" name="Text 24"/>
          <p:cNvSpPr/>
          <p:nvPr/>
        </p:nvSpPr>
        <p:spPr>
          <a:xfrm>
            <a:off x="11099453" y="3060129"/>
            <a:ext cx="48771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8B93A3"/>
                </a:solidFill>
                <a:latin typeface="Courier New" pitchFamily="34" charset="0"/>
                <a:ea typeface="Courier New" pitchFamily="34" charset="-122"/>
                <a:cs typeface="Courier New" pitchFamily="34" charset="-120"/>
              </a:rPr>
              <a:t>INT</a:t>
            </a:r>
            <a:endParaRPr lang="en-US" sz="1800" dirty="0"/>
          </a:p>
        </p:txBody>
      </p:sp>
      <p:sp>
        <p:nvSpPr>
          <p:cNvPr id="27" name="Shape 25"/>
          <p:cNvSpPr/>
          <p:nvPr/>
        </p:nvSpPr>
        <p:spPr>
          <a:xfrm>
            <a:off x="6567488" y="3888804"/>
            <a:ext cx="5153025" cy="9525"/>
          </a:xfrm>
          <a:prstGeom prst="rect">
            <a:avLst/>
          </a:prstGeom>
          <a:solidFill>
            <a:srgbClr val="ECEEF2"/>
          </a:solidFill>
          <a:ln/>
        </p:spPr>
      </p:sp>
      <p:sp>
        <p:nvSpPr>
          <p:cNvPr id="28" name="Text 26"/>
          <p:cNvSpPr/>
          <p:nvPr/>
        </p:nvSpPr>
        <p:spPr>
          <a:xfrm>
            <a:off x="6777038" y="3517329"/>
            <a:ext cx="1036365"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version</a:t>
            </a:r>
            <a:endParaRPr lang="en-US" sz="1800" dirty="0"/>
          </a:p>
        </p:txBody>
      </p:sp>
      <p:sp>
        <p:nvSpPr>
          <p:cNvPr id="29" name="Text 27"/>
          <p:cNvSpPr/>
          <p:nvPr/>
        </p:nvSpPr>
        <p:spPr>
          <a:xfrm>
            <a:off x="10002143" y="3517329"/>
            <a:ext cx="1659701" cy="333375"/>
          </a:xfrm>
          <a:prstGeom prst="rect">
            <a:avLst/>
          </a:prstGeom>
          <a:noFill/>
          <a:ln/>
        </p:spPr>
        <p:txBody>
          <a:bodyPr wrap="square" lIns="25400" tIns="25400" rIns="25400" bIns="25400" rtlCol="0" anchor="t">
            <a:normAutofit/>
          </a:bodyPr>
          <a:lstStyle/>
          <a:p>
            <a:pPr algn="l" indent="0" marL="0">
              <a:buNone/>
            </a:pPr>
            <a:r>
              <a:rPr lang="en-US" sz="1800" dirty="0">
                <a:solidFill>
                  <a:srgbClr val="8B93A3"/>
                </a:solidFill>
                <a:latin typeface="Courier New" pitchFamily="34" charset="0"/>
                <a:ea typeface="Courier New" pitchFamily="34" charset="-122"/>
                <a:cs typeface="Courier New" pitchFamily="34" charset="-120"/>
              </a:rPr>
              <a:t>VARCHAR(12)</a:t>
            </a:r>
            <a:endParaRPr lang="en-US" sz="1800" dirty="0"/>
          </a:p>
        </p:txBody>
      </p:sp>
      <p:sp>
        <p:nvSpPr>
          <p:cNvPr id="30" name="Shape 28"/>
          <p:cNvSpPr/>
          <p:nvPr/>
        </p:nvSpPr>
        <p:spPr>
          <a:xfrm>
            <a:off x="6567488" y="4346004"/>
            <a:ext cx="5153025" cy="9525"/>
          </a:xfrm>
          <a:prstGeom prst="rect">
            <a:avLst/>
          </a:prstGeom>
          <a:solidFill>
            <a:srgbClr val="ECEEF2"/>
          </a:solidFill>
          <a:ln/>
        </p:spPr>
      </p:sp>
      <p:sp>
        <p:nvSpPr>
          <p:cNvPr id="31" name="Text 29"/>
          <p:cNvSpPr/>
          <p:nvPr/>
        </p:nvSpPr>
        <p:spPr>
          <a:xfrm>
            <a:off x="6777038" y="3974529"/>
            <a:ext cx="135790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dimension</a:t>
            </a:r>
            <a:endParaRPr lang="en-US" sz="1800" dirty="0"/>
          </a:p>
        </p:txBody>
      </p:sp>
      <p:sp>
        <p:nvSpPr>
          <p:cNvPr id="32" name="Text 30"/>
          <p:cNvSpPr/>
          <p:nvPr/>
        </p:nvSpPr>
        <p:spPr>
          <a:xfrm>
            <a:off x="10413653" y="3974529"/>
            <a:ext cx="117351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8B93A3"/>
                </a:solidFill>
                <a:latin typeface="Courier New" pitchFamily="34" charset="0"/>
                <a:ea typeface="Courier New" pitchFamily="34" charset="-122"/>
                <a:cs typeface="Courier New" pitchFamily="34" charset="-120"/>
              </a:rPr>
              <a:t>SMALLINT</a:t>
            </a:r>
            <a:endParaRPr lang="en-US" sz="1800" dirty="0"/>
          </a:p>
        </p:txBody>
      </p:sp>
      <p:sp>
        <p:nvSpPr>
          <p:cNvPr id="33" name="Shape 31"/>
          <p:cNvSpPr/>
          <p:nvPr/>
        </p:nvSpPr>
        <p:spPr>
          <a:xfrm>
            <a:off x="6567488" y="4803204"/>
            <a:ext cx="5153025" cy="9525"/>
          </a:xfrm>
          <a:prstGeom prst="rect">
            <a:avLst/>
          </a:prstGeom>
          <a:solidFill>
            <a:srgbClr val="ECEEF2"/>
          </a:solidFill>
          <a:ln/>
        </p:spPr>
      </p:sp>
      <p:sp>
        <p:nvSpPr>
          <p:cNvPr id="34" name="Text 32"/>
          <p:cNvSpPr/>
          <p:nvPr/>
        </p:nvSpPr>
        <p:spPr>
          <a:xfrm>
            <a:off x="6777038" y="4431729"/>
            <a:ext cx="1961421"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objeto_indice</a:t>
            </a:r>
            <a:endParaRPr lang="en-US" sz="1800" dirty="0"/>
          </a:p>
        </p:txBody>
      </p:sp>
      <p:sp>
        <p:nvSpPr>
          <p:cNvPr id="35" name="Text 33"/>
          <p:cNvSpPr/>
          <p:nvPr/>
        </p:nvSpPr>
        <p:spPr>
          <a:xfrm>
            <a:off x="9864998" y="4431729"/>
            <a:ext cx="1810561" cy="333375"/>
          </a:xfrm>
          <a:prstGeom prst="rect">
            <a:avLst/>
          </a:prstGeom>
          <a:noFill/>
          <a:ln/>
        </p:spPr>
        <p:txBody>
          <a:bodyPr wrap="square" lIns="25400" tIns="25400" rIns="25400" bIns="25400" rtlCol="0" anchor="t">
            <a:normAutofit/>
          </a:bodyPr>
          <a:lstStyle/>
          <a:p>
            <a:pPr algn="l" indent="0" marL="0">
              <a:buNone/>
            </a:pPr>
            <a:r>
              <a:rPr lang="en-US" sz="1800" dirty="0">
                <a:solidFill>
                  <a:srgbClr val="8B93A3"/>
                </a:solidFill>
                <a:latin typeface="Courier New" pitchFamily="34" charset="0"/>
                <a:ea typeface="Courier New" pitchFamily="34" charset="-122"/>
                <a:cs typeface="Courier New" pitchFamily="34" charset="-120"/>
              </a:rPr>
              <a:t>VARCHAR(255)</a:t>
            </a:r>
            <a:endParaRPr lang="en-US" sz="1800" dirty="0"/>
          </a:p>
        </p:txBody>
      </p:sp>
      <p:sp>
        <p:nvSpPr>
          <p:cNvPr id="36" name="Text 34"/>
          <p:cNvSpPr/>
          <p:nvPr/>
        </p:nvSpPr>
        <p:spPr>
          <a:xfrm>
            <a:off x="6777038" y="4888929"/>
            <a:ext cx="211228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total_vectores</a:t>
            </a:r>
            <a:endParaRPr lang="en-US" sz="1800" dirty="0"/>
          </a:p>
        </p:txBody>
      </p:sp>
      <p:sp>
        <p:nvSpPr>
          <p:cNvPr id="37" name="Text 35"/>
          <p:cNvSpPr/>
          <p:nvPr/>
        </p:nvSpPr>
        <p:spPr>
          <a:xfrm>
            <a:off x="11099453" y="4888929"/>
            <a:ext cx="48771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8B93A3"/>
                </a:solidFill>
                <a:latin typeface="Courier New" pitchFamily="34" charset="0"/>
                <a:ea typeface="Courier New" pitchFamily="34" charset="-122"/>
                <a:cs typeface="Courier New" pitchFamily="34" charset="-120"/>
              </a:rPr>
              <a:t>INT</a:t>
            </a:r>
            <a:endParaRPr lang="en-US" sz="1800" dirty="0"/>
          </a:p>
        </p:txBody>
      </p:sp>
      <p:sp>
        <p:nvSpPr>
          <p:cNvPr id="38" name="Shape 36"/>
          <p:cNvSpPr/>
          <p:nvPr/>
        </p:nvSpPr>
        <p:spPr>
          <a:xfrm>
            <a:off x="12153900" y="2421954"/>
            <a:ext cx="5181600" cy="2852738"/>
          </a:xfrm>
          <a:prstGeom prst="rect">
            <a:avLst/>
          </a:prstGeom>
          <a:solidFill>
            <a:srgbClr val="FFFFFF"/>
          </a:solidFill>
          <a:ln w="14288">
            <a:solidFill>
              <a:srgbClr val="D5D9E0"/>
            </a:solidFill>
            <a:prstDash val="solid"/>
          </a:ln>
        </p:spPr>
      </p:sp>
      <p:sp>
        <p:nvSpPr>
          <p:cNvPr id="39" name="Shape 37"/>
          <p:cNvSpPr/>
          <p:nvPr/>
        </p:nvSpPr>
        <p:spPr>
          <a:xfrm>
            <a:off x="12168188" y="2436242"/>
            <a:ext cx="5153025" cy="547688"/>
          </a:xfrm>
          <a:prstGeom prst="rect">
            <a:avLst/>
          </a:prstGeom>
          <a:solidFill>
            <a:srgbClr val="1F3A5F"/>
          </a:solidFill>
          <a:ln/>
        </p:spPr>
      </p:sp>
      <p:sp>
        <p:nvSpPr>
          <p:cNvPr id="40" name="Text 38"/>
          <p:cNvSpPr/>
          <p:nvPr/>
        </p:nvSpPr>
        <p:spPr>
          <a:xfrm>
            <a:off x="12377737" y="2550542"/>
            <a:ext cx="4888516" cy="357188"/>
          </a:xfrm>
          <a:prstGeom prst="rect">
            <a:avLst/>
          </a:prstGeom>
          <a:noFill/>
          <a:ln/>
        </p:spPr>
        <p:txBody>
          <a:bodyPr wrap="square" lIns="25400" tIns="25400" rIns="25400" bIns="25400" rtlCol="0" anchor="t">
            <a:normAutofit/>
          </a:bodyPr>
          <a:lstStyle/>
          <a:p>
            <a:pPr algn="l" indent="0" marL="0">
              <a:buNone/>
            </a:pPr>
            <a:r>
              <a:rPr lang="en-US" sz="1950" spc="117" kern="0" dirty="0">
                <a:solidFill>
                  <a:srgbClr val="F7F8FA"/>
                </a:solidFill>
                <a:latin typeface="Courier New" pitchFamily="34" charset="0"/>
                <a:ea typeface="Courier New" pitchFamily="34" charset="-122"/>
                <a:cs typeface="Courier New" pitchFamily="34" charset="-120"/>
              </a:rPr>
              <a:t>CONSENTIMIENTO</a:t>
            </a:r>
            <a:endParaRPr lang="en-US" sz="1950" dirty="0"/>
          </a:p>
        </p:txBody>
      </p:sp>
      <p:sp>
        <p:nvSpPr>
          <p:cNvPr id="41" name="Shape 39"/>
          <p:cNvSpPr/>
          <p:nvPr/>
        </p:nvSpPr>
        <p:spPr>
          <a:xfrm>
            <a:off x="12168188" y="3431604"/>
            <a:ext cx="5153025" cy="9525"/>
          </a:xfrm>
          <a:prstGeom prst="rect">
            <a:avLst/>
          </a:prstGeom>
          <a:solidFill>
            <a:srgbClr val="ECEEF2"/>
          </a:solidFill>
          <a:ln/>
        </p:spPr>
      </p:sp>
      <p:sp>
        <p:nvSpPr>
          <p:cNvPr id="42" name="Text 40"/>
          <p:cNvSpPr/>
          <p:nvPr/>
        </p:nvSpPr>
        <p:spPr>
          <a:xfrm>
            <a:off x="12377738" y="3060129"/>
            <a:ext cx="1961503"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id_consent </a:t>
            </a:r>
            <a:pPr algn="l" indent="0" marL="0">
              <a:buNone/>
            </a:pPr>
            <a:r>
              <a:rPr lang="en-US" sz="1800" dirty="0">
                <a:solidFill>
                  <a:srgbClr val="1F3A5F"/>
                </a:solidFill>
                <a:latin typeface="Courier New" pitchFamily="34" charset="0"/>
                <a:ea typeface="Courier New" pitchFamily="34" charset="-122"/>
                <a:cs typeface="Courier New" pitchFamily="34" charset="-120"/>
              </a:rPr>
              <a:t>PK</a:t>
            </a:r>
            <a:endParaRPr lang="en-US" sz="1800" dirty="0"/>
          </a:p>
        </p:txBody>
      </p:sp>
      <p:sp>
        <p:nvSpPr>
          <p:cNvPr id="43" name="Text 41"/>
          <p:cNvSpPr/>
          <p:nvPr/>
        </p:nvSpPr>
        <p:spPr>
          <a:xfrm>
            <a:off x="16700153" y="3060129"/>
            <a:ext cx="48771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8B93A3"/>
                </a:solidFill>
                <a:latin typeface="Courier New" pitchFamily="34" charset="0"/>
                <a:ea typeface="Courier New" pitchFamily="34" charset="-122"/>
                <a:cs typeface="Courier New" pitchFamily="34" charset="-120"/>
              </a:rPr>
              <a:t>INT</a:t>
            </a:r>
            <a:endParaRPr lang="en-US" sz="1800" dirty="0"/>
          </a:p>
        </p:txBody>
      </p:sp>
      <p:sp>
        <p:nvSpPr>
          <p:cNvPr id="44" name="Shape 42"/>
          <p:cNvSpPr/>
          <p:nvPr/>
        </p:nvSpPr>
        <p:spPr>
          <a:xfrm>
            <a:off x="12168188" y="3888804"/>
            <a:ext cx="5153025" cy="9525"/>
          </a:xfrm>
          <a:prstGeom prst="rect">
            <a:avLst/>
          </a:prstGeom>
          <a:solidFill>
            <a:srgbClr val="ECEEF2"/>
          </a:solidFill>
          <a:ln/>
        </p:spPr>
      </p:sp>
      <p:sp>
        <p:nvSpPr>
          <p:cNvPr id="45" name="Text 43"/>
          <p:cNvSpPr/>
          <p:nvPr/>
        </p:nvSpPr>
        <p:spPr>
          <a:xfrm>
            <a:off x="12377738" y="3517329"/>
            <a:ext cx="1810561"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id_alumno </a:t>
            </a:r>
            <a:pPr algn="l" indent="0" marL="0">
              <a:buNone/>
            </a:pPr>
            <a:r>
              <a:rPr lang="en-US" sz="1800" dirty="0">
                <a:solidFill>
                  <a:srgbClr val="7B879B"/>
                </a:solidFill>
                <a:latin typeface="Courier New" pitchFamily="34" charset="0"/>
                <a:ea typeface="Courier New" pitchFamily="34" charset="-122"/>
                <a:cs typeface="Courier New" pitchFamily="34" charset="-120"/>
              </a:rPr>
              <a:t>FK</a:t>
            </a:r>
            <a:endParaRPr lang="en-US" sz="1800" dirty="0"/>
          </a:p>
        </p:txBody>
      </p:sp>
      <p:sp>
        <p:nvSpPr>
          <p:cNvPr id="46" name="Text 44"/>
          <p:cNvSpPr/>
          <p:nvPr/>
        </p:nvSpPr>
        <p:spPr>
          <a:xfrm>
            <a:off x="16700153" y="3517329"/>
            <a:ext cx="48771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8B93A3"/>
                </a:solidFill>
                <a:latin typeface="Courier New" pitchFamily="34" charset="0"/>
                <a:ea typeface="Courier New" pitchFamily="34" charset="-122"/>
                <a:cs typeface="Courier New" pitchFamily="34" charset="-120"/>
              </a:rPr>
              <a:t>INT</a:t>
            </a:r>
            <a:endParaRPr lang="en-US" sz="1800" dirty="0"/>
          </a:p>
        </p:txBody>
      </p:sp>
      <p:sp>
        <p:nvSpPr>
          <p:cNvPr id="47" name="Shape 45"/>
          <p:cNvSpPr/>
          <p:nvPr/>
        </p:nvSpPr>
        <p:spPr>
          <a:xfrm>
            <a:off x="12168188" y="4346004"/>
            <a:ext cx="5153025" cy="9525"/>
          </a:xfrm>
          <a:prstGeom prst="rect">
            <a:avLst/>
          </a:prstGeom>
          <a:solidFill>
            <a:srgbClr val="ECEEF2"/>
          </a:solidFill>
          <a:ln/>
        </p:spPr>
      </p:sp>
      <p:sp>
        <p:nvSpPr>
          <p:cNvPr id="48" name="Text 46"/>
          <p:cNvSpPr/>
          <p:nvPr/>
        </p:nvSpPr>
        <p:spPr>
          <a:xfrm>
            <a:off x="12377738" y="3974529"/>
            <a:ext cx="211228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vigencia_hasta</a:t>
            </a:r>
            <a:endParaRPr lang="en-US" sz="1800" dirty="0"/>
          </a:p>
        </p:txBody>
      </p:sp>
      <p:sp>
        <p:nvSpPr>
          <p:cNvPr id="49" name="Text 47"/>
          <p:cNvSpPr/>
          <p:nvPr/>
        </p:nvSpPr>
        <p:spPr>
          <a:xfrm>
            <a:off x="16563008" y="3974529"/>
            <a:ext cx="624855" cy="333375"/>
          </a:xfrm>
          <a:prstGeom prst="rect">
            <a:avLst/>
          </a:prstGeom>
          <a:noFill/>
          <a:ln/>
        </p:spPr>
        <p:txBody>
          <a:bodyPr wrap="square" lIns="25400" tIns="25400" rIns="25400" bIns="25400" rtlCol="0" anchor="t">
            <a:normAutofit/>
          </a:bodyPr>
          <a:lstStyle/>
          <a:p>
            <a:pPr algn="l" indent="0" marL="0">
              <a:buNone/>
            </a:pPr>
            <a:r>
              <a:rPr lang="en-US" sz="1800" dirty="0">
                <a:solidFill>
                  <a:srgbClr val="8B93A3"/>
                </a:solidFill>
                <a:latin typeface="Courier New" pitchFamily="34" charset="0"/>
                <a:ea typeface="Courier New" pitchFamily="34" charset="-122"/>
                <a:cs typeface="Courier New" pitchFamily="34" charset="-120"/>
              </a:rPr>
              <a:t>DATE</a:t>
            </a:r>
            <a:endParaRPr lang="en-US" sz="1800" dirty="0"/>
          </a:p>
        </p:txBody>
      </p:sp>
      <p:sp>
        <p:nvSpPr>
          <p:cNvPr id="50" name="Shape 48"/>
          <p:cNvSpPr/>
          <p:nvPr/>
        </p:nvSpPr>
        <p:spPr>
          <a:xfrm>
            <a:off x="12168188" y="4803204"/>
            <a:ext cx="5153025" cy="9525"/>
          </a:xfrm>
          <a:prstGeom prst="rect">
            <a:avLst/>
          </a:prstGeom>
          <a:solidFill>
            <a:srgbClr val="ECEEF2"/>
          </a:solidFill>
          <a:ln/>
        </p:spPr>
      </p:sp>
      <p:sp>
        <p:nvSpPr>
          <p:cNvPr id="51" name="Text 49"/>
          <p:cNvSpPr/>
          <p:nvPr/>
        </p:nvSpPr>
        <p:spPr>
          <a:xfrm>
            <a:off x="12377738" y="4431729"/>
            <a:ext cx="2414081"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objeto_documento</a:t>
            </a:r>
            <a:endParaRPr lang="en-US" sz="1800" dirty="0"/>
          </a:p>
        </p:txBody>
      </p:sp>
      <p:sp>
        <p:nvSpPr>
          <p:cNvPr id="52" name="Text 50"/>
          <p:cNvSpPr/>
          <p:nvPr/>
        </p:nvSpPr>
        <p:spPr>
          <a:xfrm>
            <a:off x="15465698" y="4431729"/>
            <a:ext cx="1810561" cy="333375"/>
          </a:xfrm>
          <a:prstGeom prst="rect">
            <a:avLst/>
          </a:prstGeom>
          <a:noFill/>
          <a:ln/>
        </p:spPr>
        <p:txBody>
          <a:bodyPr wrap="square" lIns="25400" tIns="25400" rIns="25400" bIns="25400" rtlCol="0" anchor="t">
            <a:normAutofit/>
          </a:bodyPr>
          <a:lstStyle/>
          <a:p>
            <a:pPr algn="l" indent="0" marL="0">
              <a:buNone/>
            </a:pPr>
            <a:r>
              <a:rPr lang="en-US" sz="1800" dirty="0">
                <a:solidFill>
                  <a:srgbClr val="8B93A3"/>
                </a:solidFill>
                <a:latin typeface="Courier New" pitchFamily="34" charset="0"/>
                <a:ea typeface="Courier New" pitchFamily="34" charset="-122"/>
                <a:cs typeface="Courier New" pitchFamily="34" charset="-120"/>
              </a:rPr>
              <a:t>VARCHAR(255)</a:t>
            </a:r>
            <a:endParaRPr lang="en-US" sz="1800" dirty="0"/>
          </a:p>
        </p:txBody>
      </p:sp>
      <p:sp>
        <p:nvSpPr>
          <p:cNvPr id="53" name="Text 51"/>
          <p:cNvSpPr/>
          <p:nvPr/>
        </p:nvSpPr>
        <p:spPr>
          <a:xfrm>
            <a:off x="12377738" y="4888929"/>
            <a:ext cx="1036365"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estatus</a:t>
            </a:r>
            <a:endParaRPr lang="en-US" sz="1800" dirty="0"/>
          </a:p>
        </p:txBody>
      </p:sp>
      <p:sp>
        <p:nvSpPr>
          <p:cNvPr id="54" name="Text 52"/>
          <p:cNvSpPr/>
          <p:nvPr/>
        </p:nvSpPr>
        <p:spPr>
          <a:xfrm>
            <a:off x="16563008" y="4888929"/>
            <a:ext cx="624855" cy="333375"/>
          </a:xfrm>
          <a:prstGeom prst="rect">
            <a:avLst/>
          </a:prstGeom>
          <a:noFill/>
          <a:ln/>
        </p:spPr>
        <p:txBody>
          <a:bodyPr wrap="square" lIns="25400" tIns="25400" rIns="25400" bIns="25400" rtlCol="0" anchor="t">
            <a:normAutofit/>
          </a:bodyPr>
          <a:lstStyle/>
          <a:p>
            <a:pPr algn="l" indent="0" marL="0">
              <a:buNone/>
            </a:pPr>
            <a:r>
              <a:rPr lang="en-US" sz="1800" dirty="0">
                <a:solidFill>
                  <a:srgbClr val="8B93A3"/>
                </a:solidFill>
                <a:latin typeface="Courier New" pitchFamily="34" charset="0"/>
                <a:ea typeface="Courier New" pitchFamily="34" charset="-122"/>
                <a:cs typeface="Courier New" pitchFamily="34" charset="-120"/>
              </a:rPr>
              <a:t>ENUM</a:t>
            </a:r>
            <a:endParaRPr lang="en-US" sz="1800" dirty="0"/>
          </a:p>
        </p:txBody>
      </p:sp>
      <p:sp>
        <p:nvSpPr>
          <p:cNvPr id="55" name="Shape 53"/>
          <p:cNvSpPr/>
          <p:nvPr/>
        </p:nvSpPr>
        <p:spPr>
          <a:xfrm>
            <a:off x="952500" y="5560442"/>
            <a:ext cx="5181600" cy="2852738"/>
          </a:xfrm>
          <a:prstGeom prst="rect">
            <a:avLst/>
          </a:prstGeom>
          <a:solidFill>
            <a:srgbClr val="FFFFFF"/>
          </a:solidFill>
          <a:ln w="14288">
            <a:solidFill>
              <a:srgbClr val="D5D9E0"/>
            </a:solidFill>
            <a:prstDash val="solid"/>
          </a:ln>
        </p:spPr>
      </p:sp>
      <p:sp>
        <p:nvSpPr>
          <p:cNvPr id="56" name="Shape 54"/>
          <p:cNvSpPr/>
          <p:nvPr/>
        </p:nvSpPr>
        <p:spPr>
          <a:xfrm>
            <a:off x="966788" y="5574729"/>
            <a:ext cx="5153025" cy="547688"/>
          </a:xfrm>
          <a:prstGeom prst="rect">
            <a:avLst/>
          </a:prstGeom>
          <a:solidFill>
            <a:srgbClr val="1F3A5F"/>
          </a:solidFill>
          <a:ln/>
        </p:spPr>
      </p:sp>
      <p:sp>
        <p:nvSpPr>
          <p:cNvPr id="57" name="Text 55"/>
          <p:cNvSpPr/>
          <p:nvPr/>
        </p:nvSpPr>
        <p:spPr>
          <a:xfrm>
            <a:off x="1176338" y="5689029"/>
            <a:ext cx="4888516" cy="357188"/>
          </a:xfrm>
          <a:prstGeom prst="rect">
            <a:avLst/>
          </a:prstGeom>
          <a:noFill/>
          <a:ln/>
        </p:spPr>
        <p:txBody>
          <a:bodyPr wrap="square" lIns="25400" tIns="25400" rIns="25400" bIns="25400" rtlCol="0" anchor="t">
            <a:normAutofit/>
          </a:bodyPr>
          <a:lstStyle/>
          <a:p>
            <a:pPr algn="l" indent="0" marL="0">
              <a:buNone/>
            </a:pPr>
            <a:r>
              <a:rPr lang="en-US" sz="1950" spc="117" kern="0" dirty="0">
                <a:solidFill>
                  <a:srgbClr val="F7F8FA"/>
                </a:solidFill>
                <a:latin typeface="Courier New" pitchFamily="34" charset="0"/>
                <a:ea typeface="Courier New" pitchFamily="34" charset="-122"/>
                <a:cs typeface="Courier New" pitchFamily="34" charset="-120"/>
              </a:rPr>
              <a:t>CÁMARA</a:t>
            </a:r>
            <a:endParaRPr lang="en-US" sz="1950" dirty="0"/>
          </a:p>
        </p:txBody>
      </p:sp>
      <p:sp>
        <p:nvSpPr>
          <p:cNvPr id="58" name="Shape 56"/>
          <p:cNvSpPr/>
          <p:nvPr/>
        </p:nvSpPr>
        <p:spPr>
          <a:xfrm>
            <a:off x="966788" y="6570092"/>
            <a:ext cx="5153025" cy="9525"/>
          </a:xfrm>
          <a:prstGeom prst="rect">
            <a:avLst/>
          </a:prstGeom>
          <a:solidFill>
            <a:srgbClr val="ECEEF2"/>
          </a:solidFill>
          <a:ln/>
        </p:spPr>
      </p:sp>
      <p:sp>
        <p:nvSpPr>
          <p:cNvPr id="59" name="Text 57"/>
          <p:cNvSpPr/>
          <p:nvPr/>
        </p:nvSpPr>
        <p:spPr>
          <a:xfrm>
            <a:off x="1176338" y="6198617"/>
            <a:ext cx="1810561"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id_camara </a:t>
            </a:r>
            <a:pPr algn="l" indent="0" marL="0">
              <a:buNone/>
            </a:pPr>
            <a:r>
              <a:rPr lang="en-US" sz="1800" dirty="0">
                <a:solidFill>
                  <a:srgbClr val="1F3A5F"/>
                </a:solidFill>
                <a:latin typeface="Courier New" pitchFamily="34" charset="0"/>
                <a:ea typeface="Courier New" pitchFamily="34" charset="-122"/>
                <a:cs typeface="Courier New" pitchFamily="34" charset="-120"/>
              </a:rPr>
              <a:t>PK</a:t>
            </a:r>
            <a:endParaRPr lang="en-US" sz="1800" dirty="0"/>
          </a:p>
        </p:txBody>
      </p:sp>
      <p:sp>
        <p:nvSpPr>
          <p:cNvPr id="60" name="Text 58"/>
          <p:cNvSpPr/>
          <p:nvPr/>
        </p:nvSpPr>
        <p:spPr>
          <a:xfrm>
            <a:off x="5498753" y="6198617"/>
            <a:ext cx="48771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8B93A3"/>
                </a:solidFill>
                <a:latin typeface="Courier New" pitchFamily="34" charset="0"/>
                <a:ea typeface="Courier New" pitchFamily="34" charset="-122"/>
                <a:cs typeface="Courier New" pitchFamily="34" charset="-120"/>
              </a:rPr>
              <a:t>INT</a:t>
            </a:r>
            <a:endParaRPr lang="en-US" sz="1800" dirty="0"/>
          </a:p>
        </p:txBody>
      </p:sp>
      <p:sp>
        <p:nvSpPr>
          <p:cNvPr id="61" name="Shape 59"/>
          <p:cNvSpPr/>
          <p:nvPr/>
        </p:nvSpPr>
        <p:spPr>
          <a:xfrm>
            <a:off x="966788" y="7027292"/>
            <a:ext cx="5153025" cy="9525"/>
          </a:xfrm>
          <a:prstGeom prst="rect">
            <a:avLst/>
          </a:prstGeom>
          <a:solidFill>
            <a:srgbClr val="ECEEF2"/>
          </a:solidFill>
          <a:ln/>
        </p:spPr>
      </p:sp>
      <p:sp>
        <p:nvSpPr>
          <p:cNvPr id="62" name="Text 60"/>
          <p:cNvSpPr/>
          <p:nvPr/>
        </p:nvSpPr>
        <p:spPr>
          <a:xfrm>
            <a:off x="1176338" y="6655817"/>
            <a:ext cx="624855"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aula</a:t>
            </a:r>
            <a:endParaRPr lang="en-US" sz="1800" dirty="0"/>
          </a:p>
        </p:txBody>
      </p:sp>
      <p:sp>
        <p:nvSpPr>
          <p:cNvPr id="63" name="Text 61"/>
          <p:cNvSpPr/>
          <p:nvPr/>
        </p:nvSpPr>
        <p:spPr>
          <a:xfrm>
            <a:off x="4401443" y="6655817"/>
            <a:ext cx="1659701" cy="333375"/>
          </a:xfrm>
          <a:prstGeom prst="rect">
            <a:avLst/>
          </a:prstGeom>
          <a:noFill/>
          <a:ln/>
        </p:spPr>
        <p:txBody>
          <a:bodyPr wrap="square" lIns="25400" tIns="25400" rIns="25400" bIns="25400" rtlCol="0" anchor="t">
            <a:normAutofit/>
          </a:bodyPr>
          <a:lstStyle/>
          <a:p>
            <a:pPr algn="l" indent="0" marL="0">
              <a:buNone/>
            </a:pPr>
            <a:r>
              <a:rPr lang="en-US" sz="1800" dirty="0">
                <a:solidFill>
                  <a:srgbClr val="8B93A3"/>
                </a:solidFill>
                <a:latin typeface="Courier New" pitchFamily="34" charset="0"/>
                <a:ea typeface="Courier New" pitchFamily="34" charset="-122"/>
                <a:cs typeface="Courier New" pitchFamily="34" charset="-120"/>
              </a:rPr>
              <a:t>VARCHAR(10)</a:t>
            </a:r>
            <a:endParaRPr lang="en-US" sz="1800" dirty="0"/>
          </a:p>
        </p:txBody>
      </p:sp>
      <p:sp>
        <p:nvSpPr>
          <p:cNvPr id="64" name="Shape 62"/>
          <p:cNvSpPr/>
          <p:nvPr/>
        </p:nvSpPr>
        <p:spPr>
          <a:xfrm>
            <a:off x="966788" y="7484492"/>
            <a:ext cx="5153025" cy="9525"/>
          </a:xfrm>
          <a:prstGeom prst="rect">
            <a:avLst/>
          </a:prstGeom>
          <a:solidFill>
            <a:srgbClr val="ECEEF2"/>
          </a:solidFill>
          <a:ln/>
        </p:spPr>
      </p:sp>
      <p:sp>
        <p:nvSpPr>
          <p:cNvPr id="65" name="Text 63"/>
          <p:cNvSpPr/>
          <p:nvPr/>
        </p:nvSpPr>
        <p:spPr>
          <a:xfrm>
            <a:off x="1176338" y="7113017"/>
            <a:ext cx="117351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posicion</a:t>
            </a:r>
            <a:endParaRPr lang="en-US" sz="1800" dirty="0"/>
          </a:p>
        </p:txBody>
      </p:sp>
      <p:sp>
        <p:nvSpPr>
          <p:cNvPr id="66" name="Text 64"/>
          <p:cNvSpPr/>
          <p:nvPr/>
        </p:nvSpPr>
        <p:spPr>
          <a:xfrm>
            <a:off x="5361608" y="7113017"/>
            <a:ext cx="624855" cy="333375"/>
          </a:xfrm>
          <a:prstGeom prst="rect">
            <a:avLst/>
          </a:prstGeom>
          <a:noFill/>
          <a:ln/>
        </p:spPr>
        <p:txBody>
          <a:bodyPr wrap="square" lIns="25400" tIns="25400" rIns="25400" bIns="25400" rtlCol="0" anchor="t">
            <a:normAutofit/>
          </a:bodyPr>
          <a:lstStyle/>
          <a:p>
            <a:pPr algn="l" indent="0" marL="0">
              <a:buNone/>
            </a:pPr>
            <a:r>
              <a:rPr lang="en-US" sz="1800" dirty="0">
                <a:solidFill>
                  <a:srgbClr val="8B93A3"/>
                </a:solidFill>
                <a:latin typeface="Courier New" pitchFamily="34" charset="0"/>
                <a:ea typeface="Courier New" pitchFamily="34" charset="-122"/>
                <a:cs typeface="Courier New" pitchFamily="34" charset="-120"/>
              </a:rPr>
              <a:t>ENUM</a:t>
            </a:r>
            <a:endParaRPr lang="en-US" sz="1800" dirty="0"/>
          </a:p>
        </p:txBody>
      </p:sp>
      <p:sp>
        <p:nvSpPr>
          <p:cNvPr id="67" name="Shape 65"/>
          <p:cNvSpPr/>
          <p:nvPr/>
        </p:nvSpPr>
        <p:spPr>
          <a:xfrm>
            <a:off x="966788" y="7941692"/>
            <a:ext cx="5153025" cy="9525"/>
          </a:xfrm>
          <a:prstGeom prst="rect">
            <a:avLst/>
          </a:prstGeom>
          <a:solidFill>
            <a:srgbClr val="ECEEF2"/>
          </a:solidFill>
          <a:ln/>
        </p:spPr>
      </p:sp>
      <p:sp>
        <p:nvSpPr>
          <p:cNvPr id="68" name="Text 66"/>
          <p:cNvSpPr/>
          <p:nvPr/>
        </p:nvSpPr>
        <p:spPr>
          <a:xfrm>
            <a:off x="1176338" y="7570217"/>
            <a:ext cx="1810561"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direccion_ip</a:t>
            </a:r>
            <a:endParaRPr lang="en-US" sz="1800" dirty="0"/>
          </a:p>
        </p:txBody>
      </p:sp>
      <p:sp>
        <p:nvSpPr>
          <p:cNvPr id="69" name="Text 67"/>
          <p:cNvSpPr/>
          <p:nvPr/>
        </p:nvSpPr>
        <p:spPr>
          <a:xfrm>
            <a:off x="4401443" y="7570217"/>
            <a:ext cx="1659701" cy="333375"/>
          </a:xfrm>
          <a:prstGeom prst="rect">
            <a:avLst/>
          </a:prstGeom>
          <a:noFill/>
          <a:ln/>
        </p:spPr>
        <p:txBody>
          <a:bodyPr wrap="square" lIns="25400" tIns="25400" rIns="25400" bIns="25400" rtlCol="0" anchor="t">
            <a:normAutofit/>
          </a:bodyPr>
          <a:lstStyle/>
          <a:p>
            <a:pPr algn="l" indent="0" marL="0">
              <a:buNone/>
            </a:pPr>
            <a:r>
              <a:rPr lang="en-US" sz="1800" dirty="0">
                <a:solidFill>
                  <a:srgbClr val="8B93A3"/>
                </a:solidFill>
                <a:latin typeface="Courier New" pitchFamily="34" charset="0"/>
                <a:ea typeface="Courier New" pitchFamily="34" charset="-122"/>
                <a:cs typeface="Courier New" pitchFamily="34" charset="-120"/>
              </a:rPr>
              <a:t>VARCHAR(45)</a:t>
            </a:r>
            <a:endParaRPr lang="en-US" sz="1800" dirty="0"/>
          </a:p>
        </p:txBody>
      </p:sp>
      <p:sp>
        <p:nvSpPr>
          <p:cNvPr id="70" name="Text 68"/>
          <p:cNvSpPr/>
          <p:nvPr/>
        </p:nvSpPr>
        <p:spPr>
          <a:xfrm>
            <a:off x="1176338" y="8027417"/>
            <a:ext cx="1036365"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estatus</a:t>
            </a:r>
            <a:endParaRPr lang="en-US" sz="1800" dirty="0"/>
          </a:p>
        </p:txBody>
      </p:sp>
      <p:sp>
        <p:nvSpPr>
          <p:cNvPr id="71" name="Text 69"/>
          <p:cNvSpPr/>
          <p:nvPr/>
        </p:nvSpPr>
        <p:spPr>
          <a:xfrm>
            <a:off x="5361608" y="8027417"/>
            <a:ext cx="624855" cy="333375"/>
          </a:xfrm>
          <a:prstGeom prst="rect">
            <a:avLst/>
          </a:prstGeom>
          <a:noFill/>
          <a:ln/>
        </p:spPr>
        <p:txBody>
          <a:bodyPr wrap="square" lIns="25400" tIns="25400" rIns="25400" bIns="25400" rtlCol="0" anchor="t">
            <a:normAutofit/>
          </a:bodyPr>
          <a:lstStyle/>
          <a:p>
            <a:pPr algn="l" indent="0" marL="0">
              <a:buNone/>
            </a:pPr>
            <a:r>
              <a:rPr lang="en-US" sz="1800" dirty="0">
                <a:solidFill>
                  <a:srgbClr val="8B93A3"/>
                </a:solidFill>
                <a:latin typeface="Courier New" pitchFamily="34" charset="0"/>
                <a:ea typeface="Courier New" pitchFamily="34" charset="-122"/>
                <a:cs typeface="Courier New" pitchFamily="34" charset="-120"/>
              </a:rPr>
              <a:t>ENUM</a:t>
            </a:r>
            <a:endParaRPr lang="en-US" sz="1800" dirty="0"/>
          </a:p>
        </p:txBody>
      </p:sp>
      <p:sp>
        <p:nvSpPr>
          <p:cNvPr id="72" name="Shape 70"/>
          <p:cNvSpPr/>
          <p:nvPr/>
        </p:nvSpPr>
        <p:spPr>
          <a:xfrm>
            <a:off x="6553200" y="5560442"/>
            <a:ext cx="5181600" cy="2852738"/>
          </a:xfrm>
          <a:prstGeom prst="rect">
            <a:avLst/>
          </a:prstGeom>
          <a:solidFill>
            <a:srgbClr val="FFFFFF"/>
          </a:solidFill>
          <a:ln w="14288">
            <a:solidFill>
              <a:srgbClr val="1F3A5F"/>
            </a:solidFill>
            <a:prstDash val="solid"/>
          </a:ln>
        </p:spPr>
      </p:sp>
      <p:sp>
        <p:nvSpPr>
          <p:cNvPr id="73" name="Shape 71"/>
          <p:cNvSpPr/>
          <p:nvPr/>
        </p:nvSpPr>
        <p:spPr>
          <a:xfrm>
            <a:off x="6567488" y="5574729"/>
            <a:ext cx="5153025" cy="547688"/>
          </a:xfrm>
          <a:prstGeom prst="rect">
            <a:avLst/>
          </a:prstGeom>
          <a:solidFill>
            <a:srgbClr val="1F3A5F"/>
          </a:solidFill>
          <a:ln/>
        </p:spPr>
      </p:sp>
      <p:sp>
        <p:nvSpPr>
          <p:cNvPr id="74" name="Text 72"/>
          <p:cNvSpPr/>
          <p:nvPr/>
        </p:nvSpPr>
        <p:spPr>
          <a:xfrm>
            <a:off x="6777038" y="5689029"/>
            <a:ext cx="4888516" cy="357188"/>
          </a:xfrm>
          <a:prstGeom prst="rect">
            <a:avLst/>
          </a:prstGeom>
          <a:noFill/>
          <a:ln/>
        </p:spPr>
        <p:txBody>
          <a:bodyPr wrap="square" lIns="25400" tIns="25400" rIns="25400" bIns="25400" rtlCol="0" anchor="t">
            <a:normAutofit/>
          </a:bodyPr>
          <a:lstStyle/>
          <a:p>
            <a:pPr algn="l" indent="0" marL="0">
              <a:buNone/>
            </a:pPr>
            <a:r>
              <a:rPr lang="en-US" sz="1950" spc="117" kern="0" dirty="0">
                <a:solidFill>
                  <a:srgbClr val="F7F8FA"/>
                </a:solidFill>
                <a:latin typeface="Courier New" pitchFamily="34" charset="0"/>
                <a:ea typeface="Courier New" pitchFamily="34" charset="-122"/>
                <a:cs typeface="Courier New" pitchFamily="34" charset="-120"/>
              </a:rPr>
              <a:t>CAPTURA</a:t>
            </a:r>
            <a:endParaRPr lang="en-US" sz="1950" dirty="0"/>
          </a:p>
        </p:txBody>
      </p:sp>
      <p:sp>
        <p:nvSpPr>
          <p:cNvPr id="75" name="Shape 73"/>
          <p:cNvSpPr/>
          <p:nvPr/>
        </p:nvSpPr>
        <p:spPr>
          <a:xfrm>
            <a:off x="6567488" y="6570092"/>
            <a:ext cx="5153025" cy="9525"/>
          </a:xfrm>
          <a:prstGeom prst="rect">
            <a:avLst/>
          </a:prstGeom>
          <a:solidFill>
            <a:srgbClr val="ECEEF2"/>
          </a:solidFill>
          <a:ln/>
        </p:spPr>
      </p:sp>
      <p:sp>
        <p:nvSpPr>
          <p:cNvPr id="76" name="Text 74"/>
          <p:cNvSpPr/>
          <p:nvPr/>
        </p:nvSpPr>
        <p:spPr>
          <a:xfrm>
            <a:off x="6777038" y="6198617"/>
            <a:ext cx="1961503"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id_captura </a:t>
            </a:r>
            <a:pPr algn="l" indent="0" marL="0">
              <a:buNone/>
            </a:pPr>
            <a:r>
              <a:rPr lang="en-US" sz="1800" dirty="0">
                <a:solidFill>
                  <a:srgbClr val="1F3A5F"/>
                </a:solidFill>
                <a:latin typeface="Courier New" pitchFamily="34" charset="0"/>
                <a:ea typeface="Courier New" pitchFamily="34" charset="-122"/>
                <a:cs typeface="Courier New" pitchFamily="34" charset="-120"/>
              </a:rPr>
              <a:t>PK</a:t>
            </a:r>
            <a:endParaRPr lang="en-US" sz="1800" dirty="0"/>
          </a:p>
        </p:txBody>
      </p:sp>
      <p:sp>
        <p:nvSpPr>
          <p:cNvPr id="77" name="Text 75"/>
          <p:cNvSpPr/>
          <p:nvPr/>
        </p:nvSpPr>
        <p:spPr>
          <a:xfrm>
            <a:off x="10687943" y="6198617"/>
            <a:ext cx="89922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8B93A3"/>
                </a:solidFill>
                <a:latin typeface="Courier New" pitchFamily="34" charset="0"/>
                <a:ea typeface="Courier New" pitchFamily="34" charset="-122"/>
                <a:cs typeface="Courier New" pitchFamily="34" charset="-120"/>
              </a:rPr>
              <a:t>BIGINT</a:t>
            </a:r>
            <a:endParaRPr lang="en-US" sz="1800" dirty="0"/>
          </a:p>
        </p:txBody>
      </p:sp>
      <p:sp>
        <p:nvSpPr>
          <p:cNvPr id="78" name="Shape 76"/>
          <p:cNvSpPr/>
          <p:nvPr/>
        </p:nvSpPr>
        <p:spPr>
          <a:xfrm>
            <a:off x="6567488" y="7027292"/>
            <a:ext cx="5153025" cy="9525"/>
          </a:xfrm>
          <a:prstGeom prst="rect">
            <a:avLst/>
          </a:prstGeom>
          <a:solidFill>
            <a:srgbClr val="ECEEF2"/>
          </a:solidFill>
          <a:ln/>
        </p:spPr>
      </p:sp>
      <p:sp>
        <p:nvSpPr>
          <p:cNvPr id="79" name="Text 77"/>
          <p:cNvSpPr/>
          <p:nvPr/>
        </p:nvSpPr>
        <p:spPr>
          <a:xfrm>
            <a:off x="6777038" y="6655817"/>
            <a:ext cx="1810561"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id_camara </a:t>
            </a:r>
            <a:pPr algn="l" indent="0" marL="0">
              <a:buNone/>
            </a:pPr>
            <a:r>
              <a:rPr lang="en-US" sz="1800" dirty="0">
                <a:solidFill>
                  <a:srgbClr val="7B879B"/>
                </a:solidFill>
                <a:latin typeface="Courier New" pitchFamily="34" charset="0"/>
                <a:ea typeface="Courier New" pitchFamily="34" charset="-122"/>
                <a:cs typeface="Courier New" pitchFamily="34" charset="-120"/>
              </a:rPr>
              <a:t>FK</a:t>
            </a:r>
            <a:endParaRPr lang="en-US" sz="1800" dirty="0"/>
          </a:p>
        </p:txBody>
      </p:sp>
      <p:sp>
        <p:nvSpPr>
          <p:cNvPr id="80" name="Text 78"/>
          <p:cNvSpPr/>
          <p:nvPr/>
        </p:nvSpPr>
        <p:spPr>
          <a:xfrm>
            <a:off x="11099453" y="6655817"/>
            <a:ext cx="48771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8B93A3"/>
                </a:solidFill>
                <a:latin typeface="Courier New" pitchFamily="34" charset="0"/>
                <a:ea typeface="Courier New" pitchFamily="34" charset="-122"/>
                <a:cs typeface="Courier New" pitchFamily="34" charset="-120"/>
              </a:rPr>
              <a:t>INT</a:t>
            </a:r>
            <a:endParaRPr lang="en-US" sz="1800" dirty="0"/>
          </a:p>
        </p:txBody>
      </p:sp>
      <p:sp>
        <p:nvSpPr>
          <p:cNvPr id="81" name="Shape 79"/>
          <p:cNvSpPr/>
          <p:nvPr/>
        </p:nvSpPr>
        <p:spPr>
          <a:xfrm>
            <a:off x="6567488" y="7484492"/>
            <a:ext cx="5153025" cy="9525"/>
          </a:xfrm>
          <a:prstGeom prst="rect">
            <a:avLst/>
          </a:prstGeom>
          <a:solidFill>
            <a:srgbClr val="ECEEF2"/>
          </a:solidFill>
          <a:ln/>
        </p:spPr>
      </p:sp>
      <p:sp>
        <p:nvSpPr>
          <p:cNvPr id="82" name="Text 80"/>
          <p:cNvSpPr/>
          <p:nvPr/>
        </p:nvSpPr>
        <p:spPr>
          <a:xfrm>
            <a:off x="6777038" y="7113017"/>
            <a:ext cx="1810561"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id_sesion </a:t>
            </a:r>
            <a:pPr algn="l" indent="0" marL="0">
              <a:buNone/>
            </a:pPr>
            <a:r>
              <a:rPr lang="en-US" sz="1800" dirty="0">
                <a:solidFill>
                  <a:srgbClr val="7B879B"/>
                </a:solidFill>
                <a:latin typeface="Courier New" pitchFamily="34" charset="0"/>
                <a:ea typeface="Courier New" pitchFamily="34" charset="-122"/>
                <a:cs typeface="Courier New" pitchFamily="34" charset="-120"/>
              </a:rPr>
              <a:t>FK</a:t>
            </a:r>
            <a:endParaRPr lang="en-US" sz="1800" dirty="0"/>
          </a:p>
        </p:txBody>
      </p:sp>
      <p:sp>
        <p:nvSpPr>
          <p:cNvPr id="83" name="Text 81"/>
          <p:cNvSpPr/>
          <p:nvPr/>
        </p:nvSpPr>
        <p:spPr>
          <a:xfrm>
            <a:off x="11099453" y="7113017"/>
            <a:ext cx="48771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8B93A3"/>
                </a:solidFill>
                <a:latin typeface="Courier New" pitchFamily="34" charset="0"/>
                <a:ea typeface="Courier New" pitchFamily="34" charset="-122"/>
                <a:cs typeface="Courier New" pitchFamily="34" charset="-120"/>
              </a:rPr>
              <a:t>INT</a:t>
            </a:r>
            <a:endParaRPr lang="en-US" sz="1800" dirty="0"/>
          </a:p>
        </p:txBody>
      </p:sp>
      <p:sp>
        <p:nvSpPr>
          <p:cNvPr id="84" name="Shape 82"/>
          <p:cNvSpPr/>
          <p:nvPr/>
        </p:nvSpPr>
        <p:spPr>
          <a:xfrm>
            <a:off x="6567488" y="7941692"/>
            <a:ext cx="5153025" cy="9525"/>
          </a:xfrm>
          <a:prstGeom prst="rect">
            <a:avLst/>
          </a:prstGeom>
          <a:solidFill>
            <a:srgbClr val="ECEEF2"/>
          </a:solidFill>
          <a:ln/>
        </p:spPr>
      </p:sp>
      <p:sp>
        <p:nvSpPr>
          <p:cNvPr id="85" name="Text 83"/>
          <p:cNvSpPr/>
          <p:nvPr/>
        </p:nvSpPr>
        <p:spPr>
          <a:xfrm>
            <a:off x="6777038" y="7570217"/>
            <a:ext cx="1810561"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marca_tiempo</a:t>
            </a:r>
            <a:endParaRPr lang="en-US" sz="1800" dirty="0"/>
          </a:p>
        </p:txBody>
      </p:sp>
      <p:sp>
        <p:nvSpPr>
          <p:cNvPr id="86" name="Text 84"/>
          <p:cNvSpPr/>
          <p:nvPr/>
        </p:nvSpPr>
        <p:spPr>
          <a:xfrm>
            <a:off x="10413653" y="7570217"/>
            <a:ext cx="117351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8B93A3"/>
                </a:solidFill>
                <a:latin typeface="Courier New" pitchFamily="34" charset="0"/>
                <a:ea typeface="Courier New" pitchFamily="34" charset="-122"/>
                <a:cs typeface="Courier New" pitchFamily="34" charset="-120"/>
              </a:rPr>
              <a:t>DATETIME</a:t>
            </a:r>
            <a:endParaRPr lang="en-US" sz="1800" dirty="0"/>
          </a:p>
        </p:txBody>
      </p:sp>
      <p:sp>
        <p:nvSpPr>
          <p:cNvPr id="87" name="Text 85"/>
          <p:cNvSpPr/>
          <p:nvPr/>
        </p:nvSpPr>
        <p:spPr>
          <a:xfrm>
            <a:off x="6777038" y="8027417"/>
            <a:ext cx="2715801"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rostros_detectados</a:t>
            </a:r>
            <a:endParaRPr lang="en-US" sz="1800" dirty="0"/>
          </a:p>
        </p:txBody>
      </p:sp>
      <p:sp>
        <p:nvSpPr>
          <p:cNvPr id="88" name="Text 86"/>
          <p:cNvSpPr/>
          <p:nvPr/>
        </p:nvSpPr>
        <p:spPr>
          <a:xfrm>
            <a:off x="10413653" y="8027417"/>
            <a:ext cx="117351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8B93A3"/>
                </a:solidFill>
                <a:latin typeface="Courier New" pitchFamily="34" charset="0"/>
                <a:ea typeface="Courier New" pitchFamily="34" charset="-122"/>
                <a:cs typeface="Courier New" pitchFamily="34" charset="-120"/>
              </a:rPr>
              <a:t>SMALLINT</a:t>
            </a:r>
            <a:endParaRPr lang="en-US" sz="1800" dirty="0"/>
          </a:p>
        </p:txBody>
      </p:sp>
      <p:sp>
        <p:nvSpPr>
          <p:cNvPr id="89" name="Shape 87"/>
          <p:cNvSpPr/>
          <p:nvPr/>
        </p:nvSpPr>
        <p:spPr>
          <a:xfrm>
            <a:off x="12153900" y="5560442"/>
            <a:ext cx="5181600" cy="2852738"/>
          </a:xfrm>
          <a:prstGeom prst="rect">
            <a:avLst/>
          </a:prstGeom>
          <a:solidFill>
            <a:srgbClr val="FFFFFF"/>
          </a:solidFill>
          <a:ln w="14288">
            <a:solidFill>
              <a:srgbClr val="1F3A5F"/>
            </a:solidFill>
            <a:prstDash val="solid"/>
          </a:ln>
        </p:spPr>
      </p:sp>
      <p:sp>
        <p:nvSpPr>
          <p:cNvPr id="90" name="Shape 88"/>
          <p:cNvSpPr/>
          <p:nvPr/>
        </p:nvSpPr>
        <p:spPr>
          <a:xfrm>
            <a:off x="12168188" y="5574729"/>
            <a:ext cx="5153025" cy="547688"/>
          </a:xfrm>
          <a:prstGeom prst="rect">
            <a:avLst/>
          </a:prstGeom>
          <a:solidFill>
            <a:srgbClr val="1F3A5F"/>
          </a:solidFill>
          <a:ln/>
        </p:spPr>
      </p:sp>
      <p:sp>
        <p:nvSpPr>
          <p:cNvPr id="91" name="Text 89"/>
          <p:cNvSpPr/>
          <p:nvPr/>
        </p:nvSpPr>
        <p:spPr>
          <a:xfrm>
            <a:off x="12377737" y="5689029"/>
            <a:ext cx="4888516" cy="357188"/>
          </a:xfrm>
          <a:prstGeom prst="rect">
            <a:avLst/>
          </a:prstGeom>
          <a:noFill/>
          <a:ln/>
        </p:spPr>
        <p:txBody>
          <a:bodyPr wrap="square" lIns="25400" tIns="25400" rIns="25400" bIns="25400" rtlCol="0" anchor="t">
            <a:normAutofit/>
          </a:bodyPr>
          <a:lstStyle/>
          <a:p>
            <a:pPr algn="l" indent="0" marL="0">
              <a:buNone/>
            </a:pPr>
            <a:r>
              <a:rPr lang="en-US" sz="1950" spc="117" kern="0" dirty="0">
                <a:solidFill>
                  <a:srgbClr val="F7F8FA"/>
                </a:solidFill>
                <a:latin typeface="Courier New" pitchFamily="34" charset="0"/>
                <a:ea typeface="Courier New" pitchFamily="34" charset="-122"/>
                <a:cs typeface="Courier New" pitchFamily="34" charset="-120"/>
              </a:rPr>
              <a:t>DETECCIÓN</a:t>
            </a:r>
            <a:endParaRPr lang="en-US" sz="1950" dirty="0"/>
          </a:p>
        </p:txBody>
      </p:sp>
      <p:sp>
        <p:nvSpPr>
          <p:cNvPr id="92" name="Shape 90"/>
          <p:cNvSpPr/>
          <p:nvPr/>
        </p:nvSpPr>
        <p:spPr>
          <a:xfrm>
            <a:off x="12168188" y="6570092"/>
            <a:ext cx="5153025" cy="9525"/>
          </a:xfrm>
          <a:prstGeom prst="rect">
            <a:avLst/>
          </a:prstGeom>
          <a:solidFill>
            <a:srgbClr val="ECEEF2"/>
          </a:solidFill>
          <a:ln/>
        </p:spPr>
      </p:sp>
      <p:sp>
        <p:nvSpPr>
          <p:cNvPr id="93" name="Text 91"/>
          <p:cNvSpPr/>
          <p:nvPr/>
        </p:nvSpPr>
        <p:spPr>
          <a:xfrm>
            <a:off x="12377738" y="6198617"/>
            <a:ext cx="2263222"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id_deteccion </a:t>
            </a:r>
            <a:pPr algn="l" indent="0" marL="0">
              <a:buNone/>
            </a:pPr>
            <a:r>
              <a:rPr lang="en-US" sz="1800" dirty="0">
                <a:solidFill>
                  <a:srgbClr val="1F3A5F"/>
                </a:solidFill>
                <a:latin typeface="Courier New" pitchFamily="34" charset="0"/>
                <a:ea typeface="Courier New" pitchFamily="34" charset="-122"/>
                <a:cs typeface="Courier New" pitchFamily="34" charset="-120"/>
              </a:rPr>
              <a:t>PK</a:t>
            </a:r>
            <a:endParaRPr lang="en-US" sz="1800" dirty="0"/>
          </a:p>
        </p:txBody>
      </p:sp>
      <p:sp>
        <p:nvSpPr>
          <p:cNvPr id="94" name="Text 92"/>
          <p:cNvSpPr/>
          <p:nvPr/>
        </p:nvSpPr>
        <p:spPr>
          <a:xfrm>
            <a:off x="16288643" y="6198617"/>
            <a:ext cx="89922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8B93A3"/>
                </a:solidFill>
                <a:latin typeface="Courier New" pitchFamily="34" charset="0"/>
                <a:ea typeface="Courier New" pitchFamily="34" charset="-122"/>
                <a:cs typeface="Courier New" pitchFamily="34" charset="-120"/>
              </a:rPr>
              <a:t>BIGINT</a:t>
            </a:r>
            <a:endParaRPr lang="en-US" sz="1800" dirty="0"/>
          </a:p>
        </p:txBody>
      </p:sp>
      <p:sp>
        <p:nvSpPr>
          <p:cNvPr id="95" name="Shape 93"/>
          <p:cNvSpPr/>
          <p:nvPr/>
        </p:nvSpPr>
        <p:spPr>
          <a:xfrm>
            <a:off x="12168188" y="7027292"/>
            <a:ext cx="5153025" cy="9525"/>
          </a:xfrm>
          <a:prstGeom prst="rect">
            <a:avLst/>
          </a:prstGeom>
          <a:solidFill>
            <a:srgbClr val="ECEEF2"/>
          </a:solidFill>
          <a:ln/>
        </p:spPr>
      </p:sp>
      <p:sp>
        <p:nvSpPr>
          <p:cNvPr id="96" name="Text 94"/>
          <p:cNvSpPr/>
          <p:nvPr/>
        </p:nvSpPr>
        <p:spPr>
          <a:xfrm>
            <a:off x="12377738" y="6655817"/>
            <a:ext cx="1961503"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id_captura </a:t>
            </a:r>
            <a:pPr algn="l" indent="0" marL="0">
              <a:buNone/>
            </a:pPr>
            <a:r>
              <a:rPr lang="en-US" sz="1800" dirty="0">
                <a:solidFill>
                  <a:srgbClr val="7B879B"/>
                </a:solidFill>
                <a:latin typeface="Courier New" pitchFamily="34" charset="0"/>
                <a:ea typeface="Courier New" pitchFamily="34" charset="-122"/>
                <a:cs typeface="Courier New" pitchFamily="34" charset="-120"/>
              </a:rPr>
              <a:t>FK</a:t>
            </a:r>
            <a:endParaRPr lang="en-US" sz="1800" dirty="0"/>
          </a:p>
        </p:txBody>
      </p:sp>
      <p:sp>
        <p:nvSpPr>
          <p:cNvPr id="97" name="Text 95"/>
          <p:cNvSpPr/>
          <p:nvPr/>
        </p:nvSpPr>
        <p:spPr>
          <a:xfrm>
            <a:off x="16288643" y="6655817"/>
            <a:ext cx="89922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8B93A3"/>
                </a:solidFill>
                <a:latin typeface="Courier New" pitchFamily="34" charset="0"/>
                <a:ea typeface="Courier New" pitchFamily="34" charset="-122"/>
                <a:cs typeface="Courier New" pitchFamily="34" charset="-120"/>
              </a:rPr>
              <a:t>BIGINT</a:t>
            </a:r>
            <a:endParaRPr lang="en-US" sz="1800" dirty="0"/>
          </a:p>
        </p:txBody>
      </p:sp>
      <p:sp>
        <p:nvSpPr>
          <p:cNvPr id="98" name="Shape 96"/>
          <p:cNvSpPr/>
          <p:nvPr/>
        </p:nvSpPr>
        <p:spPr>
          <a:xfrm>
            <a:off x="12168188" y="7484492"/>
            <a:ext cx="5153025" cy="9525"/>
          </a:xfrm>
          <a:prstGeom prst="rect">
            <a:avLst/>
          </a:prstGeom>
          <a:solidFill>
            <a:srgbClr val="ECEEF2"/>
          </a:solidFill>
          <a:ln/>
        </p:spPr>
      </p:sp>
      <p:sp>
        <p:nvSpPr>
          <p:cNvPr id="99" name="Text 97"/>
          <p:cNvSpPr/>
          <p:nvPr/>
        </p:nvSpPr>
        <p:spPr>
          <a:xfrm>
            <a:off x="12377738" y="7113017"/>
            <a:ext cx="2263222"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id_plantilla </a:t>
            </a:r>
            <a:pPr algn="l" indent="0" marL="0">
              <a:buNone/>
            </a:pPr>
            <a:r>
              <a:rPr lang="en-US" sz="1800" dirty="0">
                <a:solidFill>
                  <a:srgbClr val="7B879B"/>
                </a:solidFill>
                <a:latin typeface="Courier New" pitchFamily="34" charset="0"/>
                <a:ea typeface="Courier New" pitchFamily="34" charset="-122"/>
                <a:cs typeface="Courier New" pitchFamily="34" charset="-120"/>
              </a:rPr>
              <a:t>FK</a:t>
            </a:r>
            <a:endParaRPr lang="en-US" sz="1800" dirty="0"/>
          </a:p>
        </p:txBody>
      </p:sp>
      <p:sp>
        <p:nvSpPr>
          <p:cNvPr id="100" name="Text 98"/>
          <p:cNvSpPr/>
          <p:nvPr/>
        </p:nvSpPr>
        <p:spPr>
          <a:xfrm>
            <a:off x="16014353" y="7113017"/>
            <a:ext cx="117351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8B93A3"/>
                </a:solidFill>
                <a:latin typeface="Courier New" pitchFamily="34" charset="0"/>
                <a:ea typeface="Courier New" pitchFamily="34" charset="-122"/>
                <a:cs typeface="Courier New" pitchFamily="34" charset="-120"/>
              </a:rPr>
              <a:t>INT NULL</a:t>
            </a:r>
            <a:endParaRPr lang="en-US" sz="1800" dirty="0"/>
          </a:p>
        </p:txBody>
      </p:sp>
      <p:sp>
        <p:nvSpPr>
          <p:cNvPr id="101" name="Shape 99"/>
          <p:cNvSpPr/>
          <p:nvPr/>
        </p:nvSpPr>
        <p:spPr>
          <a:xfrm>
            <a:off x="12168188" y="7941692"/>
            <a:ext cx="5153025" cy="9525"/>
          </a:xfrm>
          <a:prstGeom prst="rect">
            <a:avLst/>
          </a:prstGeom>
          <a:solidFill>
            <a:srgbClr val="ECEEF2"/>
          </a:solidFill>
          <a:ln/>
        </p:spPr>
      </p:sp>
      <p:sp>
        <p:nvSpPr>
          <p:cNvPr id="102" name="Text 100"/>
          <p:cNvSpPr/>
          <p:nvPr/>
        </p:nvSpPr>
        <p:spPr>
          <a:xfrm>
            <a:off x="12377738" y="7570217"/>
            <a:ext cx="226314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score_similitud</a:t>
            </a:r>
            <a:endParaRPr lang="en-US" sz="1800" dirty="0"/>
          </a:p>
        </p:txBody>
      </p:sp>
      <p:sp>
        <p:nvSpPr>
          <p:cNvPr id="103" name="Text 101"/>
          <p:cNvSpPr/>
          <p:nvPr/>
        </p:nvSpPr>
        <p:spPr>
          <a:xfrm>
            <a:off x="15465698" y="7570217"/>
            <a:ext cx="1810561" cy="333375"/>
          </a:xfrm>
          <a:prstGeom prst="rect">
            <a:avLst/>
          </a:prstGeom>
          <a:noFill/>
          <a:ln/>
        </p:spPr>
        <p:txBody>
          <a:bodyPr wrap="square" lIns="25400" tIns="25400" rIns="25400" bIns="25400" rtlCol="0" anchor="t">
            <a:normAutofit/>
          </a:bodyPr>
          <a:lstStyle/>
          <a:p>
            <a:pPr algn="l" indent="0" marL="0">
              <a:buNone/>
            </a:pPr>
            <a:r>
              <a:rPr lang="en-US" sz="1800" dirty="0">
                <a:solidFill>
                  <a:srgbClr val="8B93A3"/>
                </a:solidFill>
                <a:latin typeface="Courier New" pitchFamily="34" charset="0"/>
                <a:ea typeface="Courier New" pitchFamily="34" charset="-122"/>
                <a:cs typeface="Courier New" pitchFamily="34" charset="-120"/>
              </a:rPr>
              <a:t>DECIMAL(4,3)</a:t>
            </a:r>
            <a:endParaRPr lang="en-US" sz="1800" dirty="0"/>
          </a:p>
        </p:txBody>
      </p:sp>
      <p:sp>
        <p:nvSpPr>
          <p:cNvPr id="104" name="Text 102"/>
          <p:cNvSpPr/>
          <p:nvPr/>
        </p:nvSpPr>
        <p:spPr>
          <a:xfrm>
            <a:off x="12377738" y="8027417"/>
            <a:ext cx="211228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objeto_recorte</a:t>
            </a:r>
            <a:endParaRPr lang="en-US" sz="1800" dirty="0"/>
          </a:p>
        </p:txBody>
      </p:sp>
      <p:sp>
        <p:nvSpPr>
          <p:cNvPr id="105" name="Text 103"/>
          <p:cNvSpPr/>
          <p:nvPr/>
        </p:nvSpPr>
        <p:spPr>
          <a:xfrm>
            <a:off x="15465698" y="8027417"/>
            <a:ext cx="1810561" cy="333375"/>
          </a:xfrm>
          <a:prstGeom prst="rect">
            <a:avLst/>
          </a:prstGeom>
          <a:noFill/>
          <a:ln/>
        </p:spPr>
        <p:txBody>
          <a:bodyPr wrap="square" lIns="25400" tIns="25400" rIns="25400" bIns="25400" rtlCol="0" anchor="t">
            <a:normAutofit/>
          </a:bodyPr>
          <a:lstStyle/>
          <a:p>
            <a:pPr algn="l" indent="0" marL="0">
              <a:buNone/>
            </a:pPr>
            <a:r>
              <a:rPr lang="en-US" sz="1800" dirty="0">
                <a:solidFill>
                  <a:srgbClr val="8B93A3"/>
                </a:solidFill>
                <a:latin typeface="Courier New" pitchFamily="34" charset="0"/>
                <a:ea typeface="Courier New" pitchFamily="34" charset="-122"/>
                <a:cs typeface="Courier New" pitchFamily="34" charset="-120"/>
              </a:rPr>
              <a:t>VARCHAR(255)</a:t>
            </a:r>
            <a:endParaRPr lang="en-US" sz="1800" dirty="0"/>
          </a:p>
        </p:txBody>
      </p:sp>
      <p:sp>
        <p:nvSpPr>
          <p:cNvPr id="106" name="Text 104"/>
          <p:cNvSpPr/>
          <p:nvPr/>
        </p:nvSpPr>
        <p:spPr>
          <a:xfrm>
            <a:off x="952500" y="8717979"/>
            <a:ext cx="18021300" cy="406673"/>
          </a:xfrm>
          <a:prstGeom prst="rect">
            <a:avLst/>
          </a:prstGeom>
          <a:noFill/>
          <a:ln/>
        </p:spPr>
        <p:txBody>
          <a:bodyPr wrap="square" lIns="25400" tIns="25400" rIns="25400" bIns="25400" rtlCol="0" anchor="t">
            <a:normAutofit/>
          </a:bodyPr>
          <a:lstStyle/>
          <a:p>
            <a:pPr algn="l" indent="0" marL="0">
              <a:lnSpc>
                <a:spcPct val="125667"/>
              </a:lnSpc>
              <a:buNone/>
            </a:pPr>
            <a:r>
              <a:rPr lang="en-US" sz="1950" dirty="0">
                <a:solidFill>
                  <a:srgbClr val="8B93A3"/>
                </a:solidFill>
                <a:latin typeface="Arial" pitchFamily="34" charset="0"/>
                <a:ea typeface="Arial" pitchFamily="34" charset="-122"/>
                <a:cs typeface="Arial" pitchFamily="34" charset="-120"/>
              </a:rPr>
              <a:t>Los vectores viven en el índice FAISS y las imágenes en el bucket: todo campo que empieza con </a:t>
            </a:r>
            <a:pPr algn="l" indent="0" marL="0">
              <a:lnSpc>
                <a:spcPct val="125667"/>
              </a:lnSpc>
              <a:buNone/>
            </a:pPr>
            <a:r>
              <a:rPr lang="en-US" sz="1950" dirty="0">
                <a:solidFill>
                  <a:srgbClr val="5A6070"/>
                </a:solidFill>
                <a:latin typeface="Courier New" pitchFamily="34" charset="0"/>
                <a:ea typeface="Courier New" pitchFamily="34" charset="-122"/>
                <a:cs typeface="Courier New" pitchFamily="34" charset="-120"/>
              </a:rPr>
              <a:t>objeto_ </a:t>
            </a:r>
            <a:pPr algn="l" indent="0" marL="0">
              <a:lnSpc>
                <a:spcPct val="125667"/>
              </a:lnSpc>
              <a:buNone/>
            </a:pPr>
            <a:r>
              <a:rPr lang="en-US" sz="1950" dirty="0">
                <a:solidFill>
                  <a:srgbClr val="8B93A3"/>
                </a:solidFill>
                <a:latin typeface="Arial" pitchFamily="34" charset="0"/>
                <a:ea typeface="Arial" pitchFamily="34" charset="-122"/>
                <a:cs typeface="Arial" pitchFamily="34" charset="-120"/>
              </a:rPr>
              <a:t>es una ruta, no un archivo.</a:t>
            </a:r>
            <a:endParaRPr lang="en-US" sz="1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8F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952500" y="952500"/>
            <a:ext cx="18021300" cy="3333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1F3A5F"/>
                </a:solidFill>
                <a:latin typeface="Courier New" pitchFamily="34" charset="0"/>
                <a:ea typeface="Courier New" pitchFamily="34" charset="-122"/>
                <a:cs typeface="Courier New" pitchFamily="34" charset="-120"/>
              </a:rPr>
              <a:t>RELACIONES Y CARDINALIDADES</a:t>
            </a:r>
            <a:endParaRPr lang="en-US" sz="1800" dirty="0"/>
          </a:p>
        </p:txBody>
      </p:sp>
      <p:sp>
        <p:nvSpPr>
          <p:cNvPr id="3" name="Text 1"/>
          <p:cNvSpPr/>
          <p:nvPr/>
        </p:nvSpPr>
        <p:spPr>
          <a:xfrm>
            <a:off x="952500" y="1438275"/>
            <a:ext cx="18021300" cy="602679"/>
          </a:xfrm>
          <a:prstGeom prst="rect">
            <a:avLst/>
          </a:prstGeom>
          <a:noFill/>
          <a:ln/>
        </p:spPr>
        <p:txBody>
          <a:bodyPr wrap="square" lIns="25400" tIns="25400" rIns="25400" bIns="25400" rtlCol="0" anchor="t">
            <a:normAutofit/>
          </a:bodyPr>
          <a:lstStyle/>
          <a:p>
            <a:pPr algn="l" indent="0" marL="0">
              <a:lnSpc>
                <a:spcPct val="100475"/>
              </a:lnSpc>
              <a:buNone/>
            </a:pPr>
            <a:r>
              <a:rPr lang="en-US" sz="3900" b="1" spc="-58" kern="0" dirty="0">
                <a:solidFill>
                  <a:srgbClr val="16181D"/>
                </a:solidFill>
                <a:latin typeface="Georgia" pitchFamily="34" charset="0"/>
                <a:ea typeface="Georgia" pitchFamily="34" charset="-122"/>
                <a:cs typeface="Georgia" pitchFamily="34" charset="-120"/>
              </a:rPr>
              <a:t>Trece relaciones, una sola de muchos a muchos</a:t>
            </a:r>
            <a:endParaRPr lang="en-US" sz="3900" dirty="0"/>
          </a:p>
        </p:txBody>
      </p:sp>
      <p:sp>
        <p:nvSpPr>
          <p:cNvPr id="4" name="Shape 2"/>
          <p:cNvSpPr/>
          <p:nvPr/>
        </p:nvSpPr>
        <p:spPr>
          <a:xfrm>
            <a:off x="952500" y="2345754"/>
            <a:ext cx="16383000" cy="19050"/>
          </a:xfrm>
          <a:prstGeom prst="rect">
            <a:avLst/>
          </a:prstGeom>
          <a:solidFill>
            <a:srgbClr val="1F3A5F"/>
          </a:solidFill>
          <a:ln/>
        </p:spPr>
      </p:sp>
      <p:sp>
        <p:nvSpPr>
          <p:cNvPr id="5" name="Text 3"/>
          <p:cNvSpPr/>
          <p:nvPr/>
        </p:nvSpPr>
        <p:spPr>
          <a:xfrm>
            <a:off x="952500" y="2479104"/>
            <a:ext cx="3809943"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1F3A5F"/>
                </a:solidFill>
                <a:latin typeface="Courier New" pitchFamily="34" charset="0"/>
                <a:ea typeface="Courier New" pitchFamily="34" charset="-122"/>
                <a:cs typeface="Courier New" pitchFamily="34" charset="-120"/>
              </a:rPr>
              <a:t>ENTIDAD</a:t>
            </a:r>
            <a:endParaRPr lang="en-US" sz="1800" dirty="0"/>
          </a:p>
        </p:txBody>
      </p:sp>
      <p:sp>
        <p:nvSpPr>
          <p:cNvPr id="6" name="Text 4"/>
          <p:cNvSpPr/>
          <p:nvPr/>
        </p:nvSpPr>
        <p:spPr>
          <a:xfrm>
            <a:off x="4956274" y="2479104"/>
            <a:ext cx="4156309"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1F3A5F"/>
                </a:solidFill>
                <a:latin typeface="Courier New" pitchFamily="34" charset="0"/>
                <a:ea typeface="Courier New" pitchFamily="34" charset="-122"/>
                <a:cs typeface="Courier New" pitchFamily="34" charset="-120"/>
              </a:rPr>
              <a:t>RELACIÓN</a:t>
            </a:r>
            <a:endParaRPr lang="en-US" sz="1800" dirty="0"/>
          </a:p>
        </p:txBody>
      </p:sp>
      <p:sp>
        <p:nvSpPr>
          <p:cNvPr id="7" name="Text 5"/>
          <p:cNvSpPr/>
          <p:nvPr/>
        </p:nvSpPr>
        <p:spPr>
          <a:xfrm>
            <a:off x="9296326" y="2479104"/>
            <a:ext cx="3810020"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1F3A5F"/>
                </a:solidFill>
                <a:latin typeface="Courier New" pitchFamily="34" charset="0"/>
                <a:ea typeface="Courier New" pitchFamily="34" charset="-122"/>
                <a:cs typeface="Courier New" pitchFamily="34" charset="-120"/>
              </a:rPr>
              <a:t>ENTIDAD</a:t>
            </a:r>
            <a:endParaRPr lang="en-US" sz="1800" dirty="0"/>
          </a:p>
        </p:txBody>
      </p:sp>
      <p:sp>
        <p:nvSpPr>
          <p:cNvPr id="8" name="Text 6"/>
          <p:cNvSpPr/>
          <p:nvPr/>
        </p:nvSpPr>
        <p:spPr>
          <a:xfrm>
            <a:off x="13300174" y="2479104"/>
            <a:ext cx="4156309" cy="333375"/>
          </a:xfrm>
          <a:prstGeom prst="rect">
            <a:avLst/>
          </a:prstGeom>
          <a:noFill/>
          <a:ln/>
        </p:spPr>
        <p:txBody>
          <a:bodyPr wrap="square" lIns="25400" tIns="25400" rIns="25400" bIns="25400" rtlCol="0" anchor="t">
            <a:normAutofit/>
          </a:bodyPr>
          <a:lstStyle/>
          <a:p>
            <a:pPr algn="l" indent="0" marL="0">
              <a:buNone/>
            </a:pPr>
            <a:r>
              <a:rPr lang="en-US" sz="1800" spc="144" kern="0" dirty="0">
                <a:solidFill>
                  <a:srgbClr val="1F3A5F"/>
                </a:solidFill>
                <a:latin typeface="Courier New" pitchFamily="34" charset="0"/>
                <a:ea typeface="Courier New" pitchFamily="34" charset="-122"/>
                <a:cs typeface="Courier New" pitchFamily="34" charset="-120"/>
              </a:rPr>
              <a:t>CARDINALIDAD</a:t>
            </a:r>
            <a:endParaRPr lang="en-US" sz="1800" dirty="0"/>
          </a:p>
        </p:txBody>
      </p:sp>
      <p:sp>
        <p:nvSpPr>
          <p:cNvPr id="9" name="Shape 7"/>
          <p:cNvSpPr/>
          <p:nvPr/>
        </p:nvSpPr>
        <p:spPr>
          <a:xfrm>
            <a:off x="952500" y="2869629"/>
            <a:ext cx="3698974" cy="9525"/>
          </a:xfrm>
          <a:prstGeom prst="rect">
            <a:avLst/>
          </a:prstGeom>
          <a:solidFill>
            <a:srgbClr val="D5D9E0"/>
          </a:solidFill>
          <a:ln/>
        </p:spPr>
      </p:sp>
      <p:sp>
        <p:nvSpPr>
          <p:cNvPr id="10" name="Text 8"/>
          <p:cNvSpPr/>
          <p:nvPr/>
        </p:nvSpPr>
        <p:spPr>
          <a:xfrm>
            <a:off x="952500" y="2964879"/>
            <a:ext cx="3809943"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MATERIA</a:t>
            </a:r>
            <a:endParaRPr lang="en-US" sz="1800" dirty="0"/>
          </a:p>
        </p:txBody>
      </p:sp>
      <p:sp>
        <p:nvSpPr>
          <p:cNvPr id="11" name="Shape 9"/>
          <p:cNvSpPr/>
          <p:nvPr/>
        </p:nvSpPr>
        <p:spPr>
          <a:xfrm>
            <a:off x="4956274" y="2869629"/>
            <a:ext cx="4035251" cy="9525"/>
          </a:xfrm>
          <a:prstGeom prst="rect">
            <a:avLst/>
          </a:prstGeom>
          <a:solidFill>
            <a:srgbClr val="D5D9E0"/>
          </a:solidFill>
          <a:ln/>
        </p:spPr>
      </p:sp>
      <p:sp>
        <p:nvSpPr>
          <p:cNvPr id="12" name="Text 10"/>
          <p:cNvSpPr/>
          <p:nvPr/>
        </p:nvSpPr>
        <p:spPr>
          <a:xfrm>
            <a:off x="4956274" y="2964879"/>
            <a:ext cx="4156309" cy="333375"/>
          </a:xfrm>
          <a:prstGeom prst="rect">
            <a:avLst/>
          </a:prstGeom>
          <a:noFill/>
          <a:ln/>
        </p:spPr>
        <p:txBody>
          <a:bodyPr wrap="square" lIns="25400" tIns="25400" rIns="25400" bIns="25400" rtlCol="0" anchor="t">
            <a:normAutofit/>
          </a:bodyPr>
          <a:lstStyle/>
          <a:p>
            <a:pPr algn="l" indent="0" marL="0">
              <a:buNone/>
            </a:pPr>
            <a:r>
              <a:rPr lang="en-US" sz="1950" dirty="0">
                <a:solidFill>
                  <a:srgbClr val="3C4250"/>
                </a:solidFill>
                <a:latin typeface="Arial" pitchFamily="34" charset="0"/>
                <a:ea typeface="Arial" pitchFamily="34" charset="-122"/>
                <a:cs typeface="Arial" pitchFamily="34" charset="-120"/>
              </a:rPr>
              <a:t>se imparte en</a:t>
            </a:r>
            <a:endParaRPr lang="en-US" sz="1950" dirty="0"/>
          </a:p>
        </p:txBody>
      </p:sp>
      <p:sp>
        <p:nvSpPr>
          <p:cNvPr id="13" name="Shape 11"/>
          <p:cNvSpPr/>
          <p:nvPr/>
        </p:nvSpPr>
        <p:spPr>
          <a:xfrm>
            <a:off x="9296326" y="2869629"/>
            <a:ext cx="3699049" cy="9525"/>
          </a:xfrm>
          <a:prstGeom prst="rect">
            <a:avLst/>
          </a:prstGeom>
          <a:solidFill>
            <a:srgbClr val="D5D9E0"/>
          </a:solidFill>
          <a:ln/>
        </p:spPr>
      </p:sp>
      <p:sp>
        <p:nvSpPr>
          <p:cNvPr id="14" name="Text 12"/>
          <p:cNvSpPr/>
          <p:nvPr/>
        </p:nvSpPr>
        <p:spPr>
          <a:xfrm>
            <a:off x="9296326" y="2964879"/>
            <a:ext cx="381002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GRUPO</a:t>
            </a:r>
            <a:endParaRPr lang="en-US" sz="1800" dirty="0"/>
          </a:p>
        </p:txBody>
      </p:sp>
      <p:sp>
        <p:nvSpPr>
          <p:cNvPr id="15" name="Shape 13"/>
          <p:cNvSpPr/>
          <p:nvPr/>
        </p:nvSpPr>
        <p:spPr>
          <a:xfrm>
            <a:off x="13300174" y="2869629"/>
            <a:ext cx="4035251" cy="9525"/>
          </a:xfrm>
          <a:prstGeom prst="rect">
            <a:avLst/>
          </a:prstGeom>
          <a:solidFill>
            <a:srgbClr val="D5D9E0"/>
          </a:solidFill>
          <a:ln/>
        </p:spPr>
      </p:sp>
      <p:sp>
        <p:nvSpPr>
          <p:cNvPr id="16" name="Text 14"/>
          <p:cNvSpPr/>
          <p:nvPr/>
        </p:nvSpPr>
        <p:spPr>
          <a:xfrm>
            <a:off x="13300174" y="2964879"/>
            <a:ext cx="4156309" cy="333375"/>
          </a:xfrm>
          <a:prstGeom prst="rect">
            <a:avLst/>
          </a:prstGeom>
          <a:noFill/>
          <a:ln/>
        </p:spPr>
        <p:txBody>
          <a:bodyPr wrap="square" lIns="25400" tIns="25400" rIns="25400" bIns="25400" rtlCol="0" anchor="t">
            <a:normAutofit/>
          </a:bodyPr>
          <a:lstStyle/>
          <a:p>
            <a:pPr algn="l" indent="0" marL="0">
              <a:buNone/>
            </a:pPr>
            <a:r>
              <a:rPr lang="en-US" sz="1950" dirty="0">
                <a:solidFill>
                  <a:srgbClr val="3C4250"/>
                </a:solidFill>
                <a:latin typeface="Arial" pitchFamily="34" charset="0"/>
                <a:ea typeface="Arial" pitchFamily="34" charset="-122"/>
                <a:cs typeface="Arial" pitchFamily="34" charset="-120"/>
              </a:rPr>
              <a:t>1 : N</a:t>
            </a:r>
            <a:endParaRPr lang="en-US" sz="1950" dirty="0"/>
          </a:p>
        </p:txBody>
      </p:sp>
      <p:sp>
        <p:nvSpPr>
          <p:cNvPr id="17" name="Shape 15"/>
          <p:cNvSpPr/>
          <p:nvPr/>
        </p:nvSpPr>
        <p:spPr>
          <a:xfrm>
            <a:off x="952500" y="3345879"/>
            <a:ext cx="3698974" cy="9525"/>
          </a:xfrm>
          <a:prstGeom prst="rect">
            <a:avLst/>
          </a:prstGeom>
          <a:solidFill>
            <a:srgbClr val="D5D9E0"/>
          </a:solidFill>
          <a:ln/>
        </p:spPr>
      </p:sp>
      <p:sp>
        <p:nvSpPr>
          <p:cNvPr id="18" name="Text 16"/>
          <p:cNvSpPr/>
          <p:nvPr/>
        </p:nvSpPr>
        <p:spPr>
          <a:xfrm>
            <a:off x="952500" y="3441129"/>
            <a:ext cx="3809943"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DOCENTE</a:t>
            </a:r>
            <a:endParaRPr lang="en-US" sz="1800" dirty="0"/>
          </a:p>
        </p:txBody>
      </p:sp>
      <p:sp>
        <p:nvSpPr>
          <p:cNvPr id="19" name="Shape 17"/>
          <p:cNvSpPr/>
          <p:nvPr/>
        </p:nvSpPr>
        <p:spPr>
          <a:xfrm>
            <a:off x="4956274" y="3345879"/>
            <a:ext cx="4035251" cy="9525"/>
          </a:xfrm>
          <a:prstGeom prst="rect">
            <a:avLst/>
          </a:prstGeom>
          <a:solidFill>
            <a:srgbClr val="D5D9E0"/>
          </a:solidFill>
          <a:ln/>
        </p:spPr>
      </p:sp>
      <p:sp>
        <p:nvSpPr>
          <p:cNvPr id="20" name="Text 18"/>
          <p:cNvSpPr/>
          <p:nvPr/>
        </p:nvSpPr>
        <p:spPr>
          <a:xfrm>
            <a:off x="4956274" y="3441129"/>
            <a:ext cx="4156309" cy="333375"/>
          </a:xfrm>
          <a:prstGeom prst="rect">
            <a:avLst/>
          </a:prstGeom>
          <a:noFill/>
          <a:ln/>
        </p:spPr>
        <p:txBody>
          <a:bodyPr wrap="square" lIns="25400" tIns="25400" rIns="25400" bIns="25400" rtlCol="0" anchor="t">
            <a:normAutofit/>
          </a:bodyPr>
          <a:lstStyle/>
          <a:p>
            <a:pPr algn="l" indent="0" marL="0">
              <a:buNone/>
            </a:pPr>
            <a:r>
              <a:rPr lang="en-US" sz="1950" dirty="0">
                <a:solidFill>
                  <a:srgbClr val="3C4250"/>
                </a:solidFill>
                <a:latin typeface="Arial" pitchFamily="34" charset="0"/>
                <a:ea typeface="Arial" pitchFamily="34" charset="-122"/>
                <a:cs typeface="Arial" pitchFamily="34" charset="-120"/>
              </a:rPr>
              <a:t>imparte</a:t>
            </a:r>
            <a:endParaRPr lang="en-US" sz="1950" dirty="0"/>
          </a:p>
        </p:txBody>
      </p:sp>
      <p:sp>
        <p:nvSpPr>
          <p:cNvPr id="21" name="Shape 19"/>
          <p:cNvSpPr/>
          <p:nvPr/>
        </p:nvSpPr>
        <p:spPr>
          <a:xfrm>
            <a:off x="9296326" y="3345879"/>
            <a:ext cx="3699049" cy="9525"/>
          </a:xfrm>
          <a:prstGeom prst="rect">
            <a:avLst/>
          </a:prstGeom>
          <a:solidFill>
            <a:srgbClr val="D5D9E0"/>
          </a:solidFill>
          <a:ln/>
        </p:spPr>
      </p:sp>
      <p:sp>
        <p:nvSpPr>
          <p:cNvPr id="22" name="Text 20"/>
          <p:cNvSpPr/>
          <p:nvPr/>
        </p:nvSpPr>
        <p:spPr>
          <a:xfrm>
            <a:off x="9296326" y="3441129"/>
            <a:ext cx="381002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GRUPO</a:t>
            </a:r>
            <a:endParaRPr lang="en-US" sz="1800" dirty="0"/>
          </a:p>
        </p:txBody>
      </p:sp>
      <p:sp>
        <p:nvSpPr>
          <p:cNvPr id="23" name="Shape 21"/>
          <p:cNvSpPr/>
          <p:nvPr/>
        </p:nvSpPr>
        <p:spPr>
          <a:xfrm>
            <a:off x="13300174" y="3345879"/>
            <a:ext cx="4035251" cy="9525"/>
          </a:xfrm>
          <a:prstGeom prst="rect">
            <a:avLst/>
          </a:prstGeom>
          <a:solidFill>
            <a:srgbClr val="D5D9E0"/>
          </a:solidFill>
          <a:ln/>
        </p:spPr>
      </p:sp>
      <p:sp>
        <p:nvSpPr>
          <p:cNvPr id="24" name="Text 22"/>
          <p:cNvSpPr/>
          <p:nvPr/>
        </p:nvSpPr>
        <p:spPr>
          <a:xfrm>
            <a:off x="13300174" y="3441129"/>
            <a:ext cx="4156309" cy="333375"/>
          </a:xfrm>
          <a:prstGeom prst="rect">
            <a:avLst/>
          </a:prstGeom>
          <a:noFill/>
          <a:ln/>
        </p:spPr>
        <p:txBody>
          <a:bodyPr wrap="square" lIns="25400" tIns="25400" rIns="25400" bIns="25400" rtlCol="0" anchor="t">
            <a:normAutofit/>
          </a:bodyPr>
          <a:lstStyle/>
          <a:p>
            <a:pPr algn="l" indent="0" marL="0">
              <a:buNone/>
            </a:pPr>
            <a:r>
              <a:rPr lang="en-US" sz="1950" dirty="0">
                <a:solidFill>
                  <a:srgbClr val="3C4250"/>
                </a:solidFill>
                <a:latin typeface="Arial" pitchFamily="34" charset="0"/>
                <a:ea typeface="Arial" pitchFamily="34" charset="-122"/>
                <a:cs typeface="Arial" pitchFamily="34" charset="-120"/>
              </a:rPr>
              <a:t>1 : N</a:t>
            </a:r>
            <a:endParaRPr lang="en-US" sz="1950" dirty="0"/>
          </a:p>
        </p:txBody>
      </p:sp>
      <p:sp>
        <p:nvSpPr>
          <p:cNvPr id="25" name="Shape 23"/>
          <p:cNvSpPr/>
          <p:nvPr/>
        </p:nvSpPr>
        <p:spPr>
          <a:xfrm>
            <a:off x="952500" y="3822129"/>
            <a:ext cx="3698974" cy="9525"/>
          </a:xfrm>
          <a:prstGeom prst="rect">
            <a:avLst/>
          </a:prstGeom>
          <a:solidFill>
            <a:srgbClr val="D5D9E0"/>
          </a:solidFill>
          <a:ln/>
        </p:spPr>
      </p:sp>
      <p:sp>
        <p:nvSpPr>
          <p:cNvPr id="26" name="Text 24"/>
          <p:cNvSpPr/>
          <p:nvPr/>
        </p:nvSpPr>
        <p:spPr>
          <a:xfrm>
            <a:off x="952500" y="3917379"/>
            <a:ext cx="3809943"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ALUMNO</a:t>
            </a:r>
            <a:endParaRPr lang="en-US" sz="1800" dirty="0"/>
          </a:p>
        </p:txBody>
      </p:sp>
      <p:sp>
        <p:nvSpPr>
          <p:cNvPr id="27" name="Shape 25"/>
          <p:cNvSpPr/>
          <p:nvPr/>
        </p:nvSpPr>
        <p:spPr>
          <a:xfrm>
            <a:off x="4956274" y="3822129"/>
            <a:ext cx="4035251" cy="9525"/>
          </a:xfrm>
          <a:prstGeom prst="rect">
            <a:avLst/>
          </a:prstGeom>
          <a:solidFill>
            <a:srgbClr val="D5D9E0"/>
          </a:solidFill>
          <a:ln/>
        </p:spPr>
      </p:sp>
      <p:sp>
        <p:nvSpPr>
          <p:cNvPr id="28" name="Text 26"/>
          <p:cNvSpPr/>
          <p:nvPr/>
        </p:nvSpPr>
        <p:spPr>
          <a:xfrm>
            <a:off x="4956274" y="3917379"/>
            <a:ext cx="4156309" cy="333375"/>
          </a:xfrm>
          <a:prstGeom prst="rect">
            <a:avLst/>
          </a:prstGeom>
          <a:noFill/>
          <a:ln/>
        </p:spPr>
        <p:txBody>
          <a:bodyPr wrap="square" lIns="25400" tIns="25400" rIns="25400" bIns="25400" rtlCol="0" anchor="t">
            <a:normAutofit/>
          </a:bodyPr>
          <a:lstStyle/>
          <a:p>
            <a:pPr algn="l" indent="0" marL="0">
              <a:buNone/>
            </a:pPr>
            <a:r>
              <a:rPr lang="en-US" sz="1950" dirty="0">
                <a:solidFill>
                  <a:srgbClr val="3C4250"/>
                </a:solidFill>
                <a:latin typeface="Arial" pitchFamily="34" charset="0"/>
                <a:ea typeface="Arial" pitchFamily="34" charset="-122"/>
                <a:cs typeface="Arial" pitchFamily="34" charset="-120"/>
              </a:rPr>
              <a:t>se inscribe en</a:t>
            </a:r>
            <a:endParaRPr lang="en-US" sz="1950" dirty="0"/>
          </a:p>
        </p:txBody>
      </p:sp>
      <p:sp>
        <p:nvSpPr>
          <p:cNvPr id="29" name="Shape 27"/>
          <p:cNvSpPr/>
          <p:nvPr/>
        </p:nvSpPr>
        <p:spPr>
          <a:xfrm>
            <a:off x="9296326" y="3822129"/>
            <a:ext cx="3699049" cy="9525"/>
          </a:xfrm>
          <a:prstGeom prst="rect">
            <a:avLst/>
          </a:prstGeom>
          <a:solidFill>
            <a:srgbClr val="D5D9E0"/>
          </a:solidFill>
          <a:ln/>
        </p:spPr>
      </p:sp>
      <p:sp>
        <p:nvSpPr>
          <p:cNvPr id="30" name="Text 28"/>
          <p:cNvSpPr/>
          <p:nvPr/>
        </p:nvSpPr>
        <p:spPr>
          <a:xfrm>
            <a:off x="9296326" y="3917379"/>
            <a:ext cx="381002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GRUPO</a:t>
            </a:r>
            <a:endParaRPr lang="en-US" sz="1800" dirty="0"/>
          </a:p>
        </p:txBody>
      </p:sp>
      <p:sp>
        <p:nvSpPr>
          <p:cNvPr id="31" name="Shape 29"/>
          <p:cNvSpPr/>
          <p:nvPr/>
        </p:nvSpPr>
        <p:spPr>
          <a:xfrm>
            <a:off x="13300174" y="3822129"/>
            <a:ext cx="4035251" cy="9525"/>
          </a:xfrm>
          <a:prstGeom prst="rect">
            <a:avLst/>
          </a:prstGeom>
          <a:solidFill>
            <a:srgbClr val="D5D9E0"/>
          </a:solidFill>
          <a:ln/>
        </p:spPr>
      </p:sp>
      <p:sp>
        <p:nvSpPr>
          <p:cNvPr id="32" name="Text 30"/>
          <p:cNvSpPr/>
          <p:nvPr/>
        </p:nvSpPr>
        <p:spPr>
          <a:xfrm>
            <a:off x="13300174" y="3917379"/>
            <a:ext cx="4156309" cy="333375"/>
          </a:xfrm>
          <a:prstGeom prst="rect">
            <a:avLst/>
          </a:prstGeom>
          <a:noFill/>
          <a:ln/>
        </p:spPr>
        <p:txBody>
          <a:bodyPr wrap="square" lIns="25400" tIns="25400" rIns="25400" bIns="25400" rtlCol="0" anchor="t">
            <a:normAutofit/>
          </a:bodyPr>
          <a:lstStyle/>
          <a:p>
            <a:pPr algn="l" indent="0" marL="0">
              <a:buNone/>
            </a:pPr>
            <a:r>
              <a:rPr lang="en-US" sz="1950" dirty="0">
                <a:solidFill>
                  <a:srgbClr val="1F3A5F"/>
                </a:solidFill>
                <a:latin typeface="Arial" pitchFamily="34" charset="0"/>
                <a:ea typeface="Arial" pitchFamily="34" charset="-122"/>
                <a:cs typeface="Arial" pitchFamily="34" charset="-120"/>
              </a:rPr>
              <a:t>N : M · vía INSCRIPCIÓN</a:t>
            </a:r>
            <a:endParaRPr lang="en-US" sz="1950" dirty="0"/>
          </a:p>
        </p:txBody>
      </p:sp>
      <p:sp>
        <p:nvSpPr>
          <p:cNvPr id="33" name="Shape 31"/>
          <p:cNvSpPr/>
          <p:nvPr/>
        </p:nvSpPr>
        <p:spPr>
          <a:xfrm>
            <a:off x="952500" y="4298379"/>
            <a:ext cx="3698974" cy="9525"/>
          </a:xfrm>
          <a:prstGeom prst="rect">
            <a:avLst/>
          </a:prstGeom>
          <a:solidFill>
            <a:srgbClr val="D5D9E0"/>
          </a:solidFill>
          <a:ln/>
        </p:spPr>
      </p:sp>
      <p:sp>
        <p:nvSpPr>
          <p:cNvPr id="34" name="Text 32"/>
          <p:cNvSpPr/>
          <p:nvPr/>
        </p:nvSpPr>
        <p:spPr>
          <a:xfrm>
            <a:off x="952500" y="4393629"/>
            <a:ext cx="3809943"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GRUPO</a:t>
            </a:r>
            <a:endParaRPr lang="en-US" sz="1800" dirty="0"/>
          </a:p>
        </p:txBody>
      </p:sp>
      <p:sp>
        <p:nvSpPr>
          <p:cNvPr id="35" name="Shape 33"/>
          <p:cNvSpPr/>
          <p:nvPr/>
        </p:nvSpPr>
        <p:spPr>
          <a:xfrm>
            <a:off x="4956274" y="4298379"/>
            <a:ext cx="4035251" cy="9525"/>
          </a:xfrm>
          <a:prstGeom prst="rect">
            <a:avLst/>
          </a:prstGeom>
          <a:solidFill>
            <a:srgbClr val="D5D9E0"/>
          </a:solidFill>
          <a:ln/>
        </p:spPr>
      </p:sp>
      <p:sp>
        <p:nvSpPr>
          <p:cNvPr id="36" name="Text 34"/>
          <p:cNvSpPr/>
          <p:nvPr/>
        </p:nvSpPr>
        <p:spPr>
          <a:xfrm>
            <a:off x="4956274" y="4393629"/>
            <a:ext cx="4156309" cy="333375"/>
          </a:xfrm>
          <a:prstGeom prst="rect">
            <a:avLst/>
          </a:prstGeom>
          <a:noFill/>
          <a:ln/>
        </p:spPr>
        <p:txBody>
          <a:bodyPr wrap="square" lIns="25400" tIns="25400" rIns="25400" bIns="25400" rtlCol="0" anchor="t">
            <a:normAutofit/>
          </a:bodyPr>
          <a:lstStyle/>
          <a:p>
            <a:pPr algn="l" indent="0" marL="0">
              <a:buNone/>
            </a:pPr>
            <a:r>
              <a:rPr lang="en-US" sz="1950" dirty="0">
                <a:solidFill>
                  <a:srgbClr val="3C4250"/>
                </a:solidFill>
                <a:latin typeface="Arial" pitchFamily="34" charset="0"/>
                <a:ea typeface="Arial" pitchFamily="34" charset="-122"/>
                <a:cs typeface="Arial" pitchFamily="34" charset="-120"/>
              </a:rPr>
              <a:t>programa</a:t>
            </a:r>
            <a:endParaRPr lang="en-US" sz="1950" dirty="0"/>
          </a:p>
        </p:txBody>
      </p:sp>
      <p:sp>
        <p:nvSpPr>
          <p:cNvPr id="37" name="Shape 35"/>
          <p:cNvSpPr/>
          <p:nvPr/>
        </p:nvSpPr>
        <p:spPr>
          <a:xfrm>
            <a:off x="9296326" y="4298379"/>
            <a:ext cx="3699049" cy="9525"/>
          </a:xfrm>
          <a:prstGeom prst="rect">
            <a:avLst/>
          </a:prstGeom>
          <a:solidFill>
            <a:srgbClr val="D5D9E0"/>
          </a:solidFill>
          <a:ln/>
        </p:spPr>
      </p:sp>
      <p:sp>
        <p:nvSpPr>
          <p:cNvPr id="38" name="Text 36"/>
          <p:cNvSpPr/>
          <p:nvPr/>
        </p:nvSpPr>
        <p:spPr>
          <a:xfrm>
            <a:off x="9296326" y="4393629"/>
            <a:ext cx="381002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SESIÓN_CLASE</a:t>
            </a:r>
            <a:endParaRPr lang="en-US" sz="1800" dirty="0"/>
          </a:p>
        </p:txBody>
      </p:sp>
      <p:sp>
        <p:nvSpPr>
          <p:cNvPr id="39" name="Shape 37"/>
          <p:cNvSpPr/>
          <p:nvPr/>
        </p:nvSpPr>
        <p:spPr>
          <a:xfrm>
            <a:off x="13300174" y="4298379"/>
            <a:ext cx="4035251" cy="9525"/>
          </a:xfrm>
          <a:prstGeom prst="rect">
            <a:avLst/>
          </a:prstGeom>
          <a:solidFill>
            <a:srgbClr val="D5D9E0"/>
          </a:solidFill>
          <a:ln/>
        </p:spPr>
      </p:sp>
      <p:sp>
        <p:nvSpPr>
          <p:cNvPr id="40" name="Text 38"/>
          <p:cNvSpPr/>
          <p:nvPr/>
        </p:nvSpPr>
        <p:spPr>
          <a:xfrm>
            <a:off x="13300174" y="4393629"/>
            <a:ext cx="4156309" cy="333375"/>
          </a:xfrm>
          <a:prstGeom prst="rect">
            <a:avLst/>
          </a:prstGeom>
          <a:noFill/>
          <a:ln/>
        </p:spPr>
        <p:txBody>
          <a:bodyPr wrap="square" lIns="25400" tIns="25400" rIns="25400" bIns="25400" rtlCol="0" anchor="t">
            <a:normAutofit/>
          </a:bodyPr>
          <a:lstStyle/>
          <a:p>
            <a:pPr algn="l" indent="0" marL="0">
              <a:buNone/>
            </a:pPr>
            <a:r>
              <a:rPr lang="en-US" sz="1950" dirty="0">
                <a:solidFill>
                  <a:srgbClr val="3C4250"/>
                </a:solidFill>
                <a:latin typeface="Arial" pitchFamily="34" charset="0"/>
                <a:ea typeface="Arial" pitchFamily="34" charset="-122"/>
                <a:cs typeface="Arial" pitchFamily="34" charset="-120"/>
              </a:rPr>
              <a:t>1 : N</a:t>
            </a:r>
            <a:endParaRPr lang="en-US" sz="1950" dirty="0"/>
          </a:p>
        </p:txBody>
      </p:sp>
      <p:sp>
        <p:nvSpPr>
          <p:cNvPr id="41" name="Shape 39"/>
          <p:cNvSpPr/>
          <p:nvPr/>
        </p:nvSpPr>
        <p:spPr>
          <a:xfrm>
            <a:off x="952500" y="4774629"/>
            <a:ext cx="3698974" cy="9525"/>
          </a:xfrm>
          <a:prstGeom prst="rect">
            <a:avLst/>
          </a:prstGeom>
          <a:solidFill>
            <a:srgbClr val="D5D9E0"/>
          </a:solidFill>
          <a:ln/>
        </p:spPr>
      </p:sp>
      <p:sp>
        <p:nvSpPr>
          <p:cNvPr id="42" name="Text 40"/>
          <p:cNvSpPr/>
          <p:nvPr/>
        </p:nvSpPr>
        <p:spPr>
          <a:xfrm>
            <a:off x="952500" y="4869879"/>
            <a:ext cx="3809943"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SESIÓN_CLASE</a:t>
            </a:r>
            <a:endParaRPr lang="en-US" sz="1800" dirty="0"/>
          </a:p>
        </p:txBody>
      </p:sp>
      <p:sp>
        <p:nvSpPr>
          <p:cNvPr id="43" name="Shape 41"/>
          <p:cNvSpPr/>
          <p:nvPr/>
        </p:nvSpPr>
        <p:spPr>
          <a:xfrm>
            <a:off x="4956274" y="4774629"/>
            <a:ext cx="4035251" cy="9525"/>
          </a:xfrm>
          <a:prstGeom prst="rect">
            <a:avLst/>
          </a:prstGeom>
          <a:solidFill>
            <a:srgbClr val="D5D9E0"/>
          </a:solidFill>
          <a:ln/>
        </p:spPr>
      </p:sp>
      <p:sp>
        <p:nvSpPr>
          <p:cNvPr id="44" name="Text 42"/>
          <p:cNvSpPr/>
          <p:nvPr/>
        </p:nvSpPr>
        <p:spPr>
          <a:xfrm>
            <a:off x="4956274" y="4869879"/>
            <a:ext cx="4156309" cy="333375"/>
          </a:xfrm>
          <a:prstGeom prst="rect">
            <a:avLst/>
          </a:prstGeom>
          <a:noFill/>
          <a:ln/>
        </p:spPr>
        <p:txBody>
          <a:bodyPr wrap="square" lIns="25400" tIns="25400" rIns="25400" bIns="25400" rtlCol="0" anchor="t">
            <a:normAutofit/>
          </a:bodyPr>
          <a:lstStyle/>
          <a:p>
            <a:pPr algn="l" indent="0" marL="0">
              <a:buNone/>
            </a:pPr>
            <a:r>
              <a:rPr lang="en-US" sz="1950" dirty="0">
                <a:solidFill>
                  <a:srgbClr val="3C4250"/>
                </a:solidFill>
                <a:latin typeface="Arial" pitchFamily="34" charset="0"/>
                <a:ea typeface="Arial" pitchFamily="34" charset="-122"/>
                <a:cs typeface="Arial" pitchFamily="34" charset="-120"/>
              </a:rPr>
              <a:t>genera</a:t>
            </a:r>
            <a:endParaRPr lang="en-US" sz="1950" dirty="0"/>
          </a:p>
        </p:txBody>
      </p:sp>
      <p:sp>
        <p:nvSpPr>
          <p:cNvPr id="45" name="Shape 43"/>
          <p:cNvSpPr/>
          <p:nvPr/>
        </p:nvSpPr>
        <p:spPr>
          <a:xfrm>
            <a:off x="9296326" y="4774629"/>
            <a:ext cx="3699049" cy="9525"/>
          </a:xfrm>
          <a:prstGeom prst="rect">
            <a:avLst/>
          </a:prstGeom>
          <a:solidFill>
            <a:srgbClr val="D5D9E0"/>
          </a:solidFill>
          <a:ln/>
        </p:spPr>
      </p:sp>
      <p:sp>
        <p:nvSpPr>
          <p:cNvPr id="46" name="Text 44"/>
          <p:cNvSpPr/>
          <p:nvPr/>
        </p:nvSpPr>
        <p:spPr>
          <a:xfrm>
            <a:off x="9296326" y="4869879"/>
            <a:ext cx="381002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ASISTENCIA</a:t>
            </a:r>
            <a:endParaRPr lang="en-US" sz="1800" dirty="0"/>
          </a:p>
        </p:txBody>
      </p:sp>
      <p:sp>
        <p:nvSpPr>
          <p:cNvPr id="47" name="Shape 45"/>
          <p:cNvSpPr/>
          <p:nvPr/>
        </p:nvSpPr>
        <p:spPr>
          <a:xfrm>
            <a:off x="13300174" y="4774629"/>
            <a:ext cx="4035251" cy="9525"/>
          </a:xfrm>
          <a:prstGeom prst="rect">
            <a:avLst/>
          </a:prstGeom>
          <a:solidFill>
            <a:srgbClr val="D5D9E0"/>
          </a:solidFill>
          <a:ln/>
        </p:spPr>
      </p:sp>
      <p:sp>
        <p:nvSpPr>
          <p:cNvPr id="48" name="Text 46"/>
          <p:cNvSpPr/>
          <p:nvPr/>
        </p:nvSpPr>
        <p:spPr>
          <a:xfrm>
            <a:off x="13300174" y="4869879"/>
            <a:ext cx="4156309" cy="333375"/>
          </a:xfrm>
          <a:prstGeom prst="rect">
            <a:avLst/>
          </a:prstGeom>
          <a:noFill/>
          <a:ln/>
        </p:spPr>
        <p:txBody>
          <a:bodyPr wrap="square" lIns="25400" tIns="25400" rIns="25400" bIns="25400" rtlCol="0" anchor="t">
            <a:normAutofit/>
          </a:bodyPr>
          <a:lstStyle/>
          <a:p>
            <a:pPr algn="l" indent="0" marL="0">
              <a:buNone/>
            </a:pPr>
            <a:r>
              <a:rPr lang="en-US" sz="1950" dirty="0">
                <a:solidFill>
                  <a:srgbClr val="3C4250"/>
                </a:solidFill>
                <a:latin typeface="Arial" pitchFamily="34" charset="0"/>
                <a:ea typeface="Arial" pitchFamily="34" charset="-122"/>
                <a:cs typeface="Arial" pitchFamily="34" charset="-120"/>
              </a:rPr>
              <a:t>1 : N</a:t>
            </a:r>
            <a:endParaRPr lang="en-US" sz="1950" dirty="0"/>
          </a:p>
        </p:txBody>
      </p:sp>
      <p:sp>
        <p:nvSpPr>
          <p:cNvPr id="49" name="Shape 47"/>
          <p:cNvSpPr/>
          <p:nvPr/>
        </p:nvSpPr>
        <p:spPr>
          <a:xfrm>
            <a:off x="952500" y="5250879"/>
            <a:ext cx="3698974" cy="9525"/>
          </a:xfrm>
          <a:prstGeom prst="rect">
            <a:avLst/>
          </a:prstGeom>
          <a:solidFill>
            <a:srgbClr val="D5D9E0"/>
          </a:solidFill>
          <a:ln/>
        </p:spPr>
      </p:sp>
      <p:sp>
        <p:nvSpPr>
          <p:cNvPr id="50" name="Text 48"/>
          <p:cNvSpPr/>
          <p:nvPr/>
        </p:nvSpPr>
        <p:spPr>
          <a:xfrm>
            <a:off x="952500" y="5346129"/>
            <a:ext cx="3809943"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ALUMNO</a:t>
            </a:r>
            <a:endParaRPr lang="en-US" sz="1800" dirty="0"/>
          </a:p>
        </p:txBody>
      </p:sp>
      <p:sp>
        <p:nvSpPr>
          <p:cNvPr id="51" name="Shape 49"/>
          <p:cNvSpPr/>
          <p:nvPr/>
        </p:nvSpPr>
        <p:spPr>
          <a:xfrm>
            <a:off x="4956274" y="5250879"/>
            <a:ext cx="4035251" cy="9525"/>
          </a:xfrm>
          <a:prstGeom prst="rect">
            <a:avLst/>
          </a:prstGeom>
          <a:solidFill>
            <a:srgbClr val="D5D9E0"/>
          </a:solidFill>
          <a:ln/>
        </p:spPr>
      </p:sp>
      <p:sp>
        <p:nvSpPr>
          <p:cNvPr id="52" name="Text 50"/>
          <p:cNvSpPr/>
          <p:nvPr/>
        </p:nvSpPr>
        <p:spPr>
          <a:xfrm>
            <a:off x="4956274" y="5346129"/>
            <a:ext cx="4156309" cy="333375"/>
          </a:xfrm>
          <a:prstGeom prst="rect">
            <a:avLst/>
          </a:prstGeom>
          <a:noFill/>
          <a:ln/>
        </p:spPr>
        <p:txBody>
          <a:bodyPr wrap="square" lIns="25400" tIns="25400" rIns="25400" bIns="25400" rtlCol="0" anchor="t">
            <a:normAutofit/>
          </a:bodyPr>
          <a:lstStyle/>
          <a:p>
            <a:pPr algn="l" indent="0" marL="0">
              <a:buNone/>
            </a:pPr>
            <a:r>
              <a:rPr lang="en-US" sz="1950" dirty="0">
                <a:solidFill>
                  <a:srgbClr val="3C4250"/>
                </a:solidFill>
                <a:latin typeface="Arial" pitchFamily="34" charset="0"/>
                <a:ea typeface="Arial" pitchFamily="34" charset="-122"/>
                <a:cs typeface="Arial" pitchFamily="34" charset="-120"/>
              </a:rPr>
              <a:t>registra</a:t>
            </a:r>
            <a:endParaRPr lang="en-US" sz="1950" dirty="0"/>
          </a:p>
        </p:txBody>
      </p:sp>
      <p:sp>
        <p:nvSpPr>
          <p:cNvPr id="53" name="Shape 51"/>
          <p:cNvSpPr/>
          <p:nvPr/>
        </p:nvSpPr>
        <p:spPr>
          <a:xfrm>
            <a:off x="9296326" y="5250879"/>
            <a:ext cx="3699049" cy="9525"/>
          </a:xfrm>
          <a:prstGeom prst="rect">
            <a:avLst/>
          </a:prstGeom>
          <a:solidFill>
            <a:srgbClr val="D5D9E0"/>
          </a:solidFill>
          <a:ln/>
        </p:spPr>
      </p:sp>
      <p:sp>
        <p:nvSpPr>
          <p:cNvPr id="54" name="Text 52"/>
          <p:cNvSpPr/>
          <p:nvPr/>
        </p:nvSpPr>
        <p:spPr>
          <a:xfrm>
            <a:off x="9296326" y="5346129"/>
            <a:ext cx="381002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ASISTENCIA</a:t>
            </a:r>
            <a:endParaRPr lang="en-US" sz="1800" dirty="0"/>
          </a:p>
        </p:txBody>
      </p:sp>
      <p:sp>
        <p:nvSpPr>
          <p:cNvPr id="55" name="Shape 53"/>
          <p:cNvSpPr/>
          <p:nvPr/>
        </p:nvSpPr>
        <p:spPr>
          <a:xfrm>
            <a:off x="13300174" y="5250879"/>
            <a:ext cx="4035251" cy="9525"/>
          </a:xfrm>
          <a:prstGeom prst="rect">
            <a:avLst/>
          </a:prstGeom>
          <a:solidFill>
            <a:srgbClr val="D5D9E0"/>
          </a:solidFill>
          <a:ln/>
        </p:spPr>
      </p:sp>
      <p:sp>
        <p:nvSpPr>
          <p:cNvPr id="56" name="Text 54"/>
          <p:cNvSpPr/>
          <p:nvPr/>
        </p:nvSpPr>
        <p:spPr>
          <a:xfrm>
            <a:off x="13300174" y="5346129"/>
            <a:ext cx="4156309" cy="333375"/>
          </a:xfrm>
          <a:prstGeom prst="rect">
            <a:avLst/>
          </a:prstGeom>
          <a:noFill/>
          <a:ln/>
        </p:spPr>
        <p:txBody>
          <a:bodyPr wrap="square" lIns="25400" tIns="25400" rIns="25400" bIns="25400" rtlCol="0" anchor="t">
            <a:normAutofit/>
          </a:bodyPr>
          <a:lstStyle/>
          <a:p>
            <a:pPr algn="l" indent="0" marL="0">
              <a:buNone/>
            </a:pPr>
            <a:r>
              <a:rPr lang="en-US" sz="1950" dirty="0">
                <a:solidFill>
                  <a:srgbClr val="3C4250"/>
                </a:solidFill>
                <a:latin typeface="Arial" pitchFamily="34" charset="0"/>
                <a:ea typeface="Arial" pitchFamily="34" charset="-122"/>
                <a:cs typeface="Arial" pitchFamily="34" charset="-120"/>
              </a:rPr>
              <a:t>1 : N</a:t>
            </a:r>
            <a:endParaRPr lang="en-US" sz="1950" dirty="0"/>
          </a:p>
        </p:txBody>
      </p:sp>
      <p:sp>
        <p:nvSpPr>
          <p:cNvPr id="57" name="Shape 55"/>
          <p:cNvSpPr/>
          <p:nvPr/>
        </p:nvSpPr>
        <p:spPr>
          <a:xfrm>
            <a:off x="952500" y="5727129"/>
            <a:ext cx="3698974" cy="9525"/>
          </a:xfrm>
          <a:prstGeom prst="rect">
            <a:avLst/>
          </a:prstGeom>
          <a:solidFill>
            <a:srgbClr val="D5D9E0"/>
          </a:solidFill>
          <a:ln/>
        </p:spPr>
      </p:sp>
      <p:sp>
        <p:nvSpPr>
          <p:cNvPr id="58" name="Text 56"/>
          <p:cNvSpPr/>
          <p:nvPr/>
        </p:nvSpPr>
        <p:spPr>
          <a:xfrm>
            <a:off x="952500" y="5822379"/>
            <a:ext cx="3809943"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ALUMNO</a:t>
            </a:r>
            <a:endParaRPr lang="en-US" sz="1800" dirty="0"/>
          </a:p>
        </p:txBody>
      </p:sp>
      <p:sp>
        <p:nvSpPr>
          <p:cNvPr id="59" name="Shape 57"/>
          <p:cNvSpPr/>
          <p:nvPr/>
        </p:nvSpPr>
        <p:spPr>
          <a:xfrm>
            <a:off x="4956274" y="5727129"/>
            <a:ext cx="4035251" cy="9525"/>
          </a:xfrm>
          <a:prstGeom prst="rect">
            <a:avLst/>
          </a:prstGeom>
          <a:solidFill>
            <a:srgbClr val="D5D9E0"/>
          </a:solidFill>
          <a:ln/>
        </p:spPr>
      </p:sp>
      <p:sp>
        <p:nvSpPr>
          <p:cNvPr id="60" name="Text 58"/>
          <p:cNvSpPr/>
          <p:nvPr/>
        </p:nvSpPr>
        <p:spPr>
          <a:xfrm>
            <a:off x="4956274" y="5822379"/>
            <a:ext cx="4156309" cy="333375"/>
          </a:xfrm>
          <a:prstGeom prst="rect">
            <a:avLst/>
          </a:prstGeom>
          <a:noFill/>
          <a:ln/>
        </p:spPr>
        <p:txBody>
          <a:bodyPr wrap="square" lIns="25400" tIns="25400" rIns="25400" bIns="25400" rtlCol="0" anchor="t">
            <a:normAutofit/>
          </a:bodyPr>
          <a:lstStyle/>
          <a:p>
            <a:pPr algn="l" indent="0" marL="0">
              <a:buNone/>
            </a:pPr>
            <a:r>
              <a:rPr lang="en-US" sz="1950" dirty="0">
                <a:solidFill>
                  <a:srgbClr val="3C4250"/>
                </a:solidFill>
                <a:latin typeface="Arial" pitchFamily="34" charset="0"/>
                <a:ea typeface="Arial" pitchFamily="34" charset="-122"/>
                <a:cs typeface="Arial" pitchFamily="34" charset="-120"/>
              </a:rPr>
              <a:t>tiene</a:t>
            </a:r>
            <a:endParaRPr lang="en-US" sz="1950" dirty="0"/>
          </a:p>
        </p:txBody>
      </p:sp>
      <p:sp>
        <p:nvSpPr>
          <p:cNvPr id="61" name="Shape 59"/>
          <p:cNvSpPr/>
          <p:nvPr/>
        </p:nvSpPr>
        <p:spPr>
          <a:xfrm>
            <a:off x="9296326" y="5727129"/>
            <a:ext cx="3699049" cy="9525"/>
          </a:xfrm>
          <a:prstGeom prst="rect">
            <a:avLst/>
          </a:prstGeom>
          <a:solidFill>
            <a:srgbClr val="D5D9E0"/>
          </a:solidFill>
          <a:ln/>
        </p:spPr>
      </p:sp>
      <p:sp>
        <p:nvSpPr>
          <p:cNvPr id="62" name="Text 60"/>
          <p:cNvSpPr/>
          <p:nvPr/>
        </p:nvSpPr>
        <p:spPr>
          <a:xfrm>
            <a:off x="9296326" y="5822379"/>
            <a:ext cx="381002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PLANTILLA_FACIAL</a:t>
            </a:r>
            <a:endParaRPr lang="en-US" sz="1800" dirty="0"/>
          </a:p>
        </p:txBody>
      </p:sp>
      <p:sp>
        <p:nvSpPr>
          <p:cNvPr id="63" name="Shape 61"/>
          <p:cNvSpPr/>
          <p:nvPr/>
        </p:nvSpPr>
        <p:spPr>
          <a:xfrm>
            <a:off x="13300174" y="5727129"/>
            <a:ext cx="4035251" cy="9525"/>
          </a:xfrm>
          <a:prstGeom prst="rect">
            <a:avLst/>
          </a:prstGeom>
          <a:solidFill>
            <a:srgbClr val="D5D9E0"/>
          </a:solidFill>
          <a:ln/>
        </p:spPr>
      </p:sp>
      <p:sp>
        <p:nvSpPr>
          <p:cNvPr id="64" name="Text 62"/>
          <p:cNvSpPr/>
          <p:nvPr/>
        </p:nvSpPr>
        <p:spPr>
          <a:xfrm>
            <a:off x="13300174" y="5822379"/>
            <a:ext cx="4156309" cy="333375"/>
          </a:xfrm>
          <a:prstGeom prst="rect">
            <a:avLst/>
          </a:prstGeom>
          <a:noFill/>
          <a:ln/>
        </p:spPr>
        <p:txBody>
          <a:bodyPr wrap="square" lIns="25400" tIns="25400" rIns="25400" bIns="25400" rtlCol="0" anchor="t">
            <a:normAutofit/>
          </a:bodyPr>
          <a:lstStyle/>
          <a:p>
            <a:pPr algn="l" indent="0" marL="0">
              <a:buNone/>
            </a:pPr>
            <a:r>
              <a:rPr lang="en-US" sz="1950" dirty="0">
                <a:solidFill>
                  <a:srgbClr val="3C4250"/>
                </a:solidFill>
                <a:latin typeface="Arial" pitchFamily="34" charset="0"/>
                <a:ea typeface="Arial" pitchFamily="34" charset="-122"/>
                <a:cs typeface="Arial" pitchFamily="34" charset="-120"/>
              </a:rPr>
              <a:t>1 : N · una activa</a:t>
            </a:r>
            <a:endParaRPr lang="en-US" sz="1950" dirty="0"/>
          </a:p>
        </p:txBody>
      </p:sp>
      <p:sp>
        <p:nvSpPr>
          <p:cNvPr id="65" name="Shape 63"/>
          <p:cNvSpPr/>
          <p:nvPr/>
        </p:nvSpPr>
        <p:spPr>
          <a:xfrm>
            <a:off x="952500" y="6203379"/>
            <a:ext cx="3698974" cy="9525"/>
          </a:xfrm>
          <a:prstGeom prst="rect">
            <a:avLst/>
          </a:prstGeom>
          <a:solidFill>
            <a:srgbClr val="D5D9E0"/>
          </a:solidFill>
          <a:ln/>
        </p:spPr>
      </p:sp>
      <p:sp>
        <p:nvSpPr>
          <p:cNvPr id="66" name="Text 64"/>
          <p:cNvSpPr/>
          <p:nvPr/>
        </p:nvSpPr>
        <p:spPr>
          <a:xfrm>
            <a:off x="952500" y="6298629"/>
            <a:ext cx="3809943"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ÍNDICE_FAISS</a:t>
            </a:r>
            <a:endParaRPr lang="en-US" sz="1800" dirty="0"/>
          </a:p>
        </p:txBody>
      </p:sp>
      <p:sp>
        <p:nvSpPr>
          <p:cNvPr id="67" name="Shape 65"/>
          <p:cNvSpPr/>
          <p:nvPr/>
        </p:nvSpPr>
        <p:spPr>
          <a:xfrm>
            <a:off x="4956274" y="6203379"/>
            <a:ext cx="4035251" cy="9525"/>
          </a:xfrm>
          <a:prstGeom prst="rect">
            <a:avLst/>
          </a:prstGeom>
          <a:solidFill>
            <a:srgbClr val="D5D9E0"/>
          </a:solidFill>
          <a:ln/>
        </p:spPr>
      </p:sp>
      <p:sp>
        <p:nvSpPr>
          <p:cNvPr id="68" name="Text 66"/>
          <p:cNvSpPr/>
          <p:nvPr/>
        </p:nvSpPr>
        <p:spPr>
          <a:xfrm>
            <a:off x="4956274" y="6298629"/>
            <a:ext cx="4156309" cy="333375"/>
          </a:xfrm>
          <a:prstGeom prst="rect">
            <a:avLst/>
          </a:prstGeom>
          <a:noFill/>
          <a:ln/>
        </p:spPr>
        <p:txBody>
          <a:bodyPr wrap="square" lIns="25400" tIns="25400" rIns="25400" bIns="25400" rtlCol="0" anchor="t">
            <a:normAutofit/>
          </a:bodyPr>
          <a:lstStyle/>
          <a:p>
            <a:pPr algn="l" indent="0" marL="0">
              <a:buNone/>
            </a:pPr>
            <a:r>
              <a:rPr lang="en-US" sz="1950" dirty="0">
                <a:solidFill>
                  <a:srgbClr val="3C4250"/>
                </a:solidFill>
                <a:latin typeface="Arial" pitchFamily="34" charset="0"/>
                <a:ea typeface="Arial" pitchFamily="34" charset="-122"/>
                <a:cs typeface="Arial" pitchFamily="34" charset="-120"/>
              </a:rPr>
              <a:t>indexa</a:t>
            </a:r>
            <a:endParaRPr lang="en-US" sz="1950" dirty="0"/>
          </a:p>
        </p:txBody>
      </p:sp>
      <p:sp>
        <p:nvSpPr>
          <p:cNvPr id="69" name="Shape 67"/>
          <p:cNvSpPr/>
          <p:nvPr/>
        </p:nvSpPr>
        <p:spPr>
          <a:xfrm>
            <a:off x="9296326" y="6203379"/>
            <a:ext cx="3699049" cy="9525"/>
          </a:xfrm>
          <a:prstGeom prst="rect">
            <a:avLst/>
          </a:prstGeom>
          <a:solidFill>
            <a:srgbClr val="D5D9E0"/>
          </a:solidFill>
          <a:ln/>
        </p:spPr>
      </p:sp>
      <p:sp>
        <p:nvSpPr>
          <p:cNvPr id="70" name="Text 68"/>
          <p:cNvSpPr/>
          <p:nvPr/>
        </p:nvSpPr>
        <p:spPr>
          <a:xfrm>
            <a:off x="9296326" y="6298629"/>
            <a:ext cx="381002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PLANTILLA_FACIAL</a:t>
            </a:r>
            <a:endParaRPr lang="en-US" sz="1800" dirty="0"/>
          </a:p>
        </p:txBody>
      </p:sp>
      <p:sp>
        <p:nvSpPr>
          <p:cNvPr id="71" name="Shape 69"/>
          <p:cNvSpPr/>
          <p:nvPr/>
        </p:nvSpPr>
        <p:spPr>
          <a:xfrm>
            <a:off x="13300174" y="6203379"/>
            <a:ext cx="4035251" cy="9525"/>
          </a:xfrm>
          <a:prstGeom prst="rect">
            <a:avLst/>
          </a:prstGeom>
          <a:solidFill>
            <a:srgbClr val="D5D9E0"/>
          </a:solidFill>
          <a:ln/>
        </p:spPr>
      </p:sp>
      <p:sp>
        <p:nvSpPr>
          <p:cNvPr id="72" name="Text 70"/>
          <p:cNvSpPr/>
          <p:nvPr/>
        </p:nvSpPr>
        <p:spPr>
          <a:xfrm>
            <a:off x="13300174" y="6298629"/>
            <a:ext cx="4156309" cy="333375"/>
          </a:xfrm>
          <a:prstGeom prst="rect">
            <a:avLst/>
          </a:prstGeom>
          <a:noFill/>
          <a:ln/>
        </p:spPr>
        <p:txBody>
          <a:bodyPr wrap="square" lIns="25400" tIns="25400" rIns="25400" bIns="25400" rtlCol="0" anchor="t">
            <a:normAutofit/>
          </a:bodyPr>
          <a:lstStyle/>
          <a:p>
            <a:pPr algn="l" indent="0" marL="0">
              <a:buNone/>
            </a:pPr>
            <a:r>
              <a:rPr lang="en-US" sz="1950" dirty="0">
                <a:solidFill>
                  <a:srgbClr val="3C4250"/>
                </a:solidFill>
                <a:latin typeface="Arial" pitchFamily="34" charset="0"/>
                <a:ea typeface="Arial" pitchFamily="34" charset="-122"/>
                <a:cs typeface="Arial" pitchFamily="34" charset="-120"/>
              </a:rPr>
              <a:t>1 : N</a:t>
            </a:r>
            <a:endParaRPr lang="en-US" sz="1950" dirty="0"/>
          </a:p>
        </p:txBody>
      </p:sp>
      <p:sp>
        <p:nvSpPr>
          <p:cNvPr id="73" name="Shape 71"/>
          <p:cNvSpPr/>
          <p:nvPr/>
        </p:nvSpPr>
        <p:spPr>
          <a:xfrm>
            <a:off x="952500" y="6679629"/>
            <a:ext cx="3698974" cy="9525"/>
          </a:xfrm>
          <a:prstGeom prst="rect">
            <a:avLst/>
          </a:prstGeom>
          <a:solidFill>
            <a:srgbClr val="D5D9E0"/>
          </a:solidFill>
          <a:ln/>
        </p:spPr>
      </p:sp>
      <p:sp>
        <p:nvSpPr>
          <p:cNvPr id="74" name="Text 72"/>
          <p:cNvSpPr/>
          <p:nvPr/>
        </p:nvSpPr>
        <p:spPr>
          <a:xfrm>
            <a:off x="952500" y="6774879"/>
            <a:ext cx="3809943"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CÁMARA</a:t>
            </a:r>
            <a:endParaRPr lang="en-US" sz="1800" dirty="0"/>
          </a:p>
        </p:txBody>
      </p:sp>
      <p:sp>
        <p:nvSpPr>
          <p:cNvPr id="75" name="Shape 73"/>
          <p:cNvSpPr/>
          <p:nvPr/>
        </p:nvSpPr>
        <p:spPr>
          <a:xfrm>
            <a:off x="4956274" y="6679629"/>
            <a:ext cx="4035251" cy="9525"/>
          </a:xfrm>
          <a:prstGeom prst="rect">
            <a:avLst/>
          </a:prstGeom>
          <a:solidFill>
            <a:srgbClr val="D5D9E0"/>
          </a:solidFill>
          <a:ln/>
        </p:spPr>
      </p:sp>
      <p:sp>
        <p:nvSpPr>
          <p:cNvPr id="76" name="Text 74"/>
          <p:cNvSpPr/>
          <p:nvPr/>
        </p:nvSpPr>
        <p:spPr>
          <a:xfrm>
            <a:off x="4956274" y="6774879"/>
            <a:ext cx="4156309" cy="333375"/>
          </a:xfrm>
          <a:prstGeom prst="rect">
            <a:avLst/>
          </a:prstGeom>
          <a:noFill/>
          <a:ln/>
        </p:spPr>
        <p:txBody>
          <a:bodyPr wrap="square" lIns="25400" tIns="25400" rIns="25400" bIns="25400" rtlCol="0" anchor="t">
            <a:normAutofit/>
          </a:bodyPr>
          <a:lstStyle/>
          <a:p>
            <a:pPr algn="l" indent="0" marL="0">
              <a:buNone/>
            </a:pPr>
            <a:r>
              <a:rPr lang="en-US" sz="1950" dirty="0">
                <a:solidFill>
                  <a:srgbClr val="3C4250"/>
                </a:solidFill>
                <a:latin typeface="Arial" pitchFamily="34" charset="0"/>
                <a:ea typeface="Arial" pitchFamily="34" charset="-122"/>
                <a:cs typeface="Arial" pitchFamily="34" charset="-120"/>
              </a:rPr>
              <a:t>produce</a:t>
            </a:r>
            <a:endParaRPr lang="en-US" sz="1950" dirty="0"/>
          </a:p>
        </p:txBody>
      </p:sp>
      <p:sp>
        <p:nvSpPr>
          <p:cNvPr id="77" name="Shape 75"/>
          <p:cNvSpPr/>
          <p:nvPr/>
        </p:nvSpPr>
        <p:spPr>
          <a:xfrm>
            <a:off x="9296326" y="6679629"/>
            <a:ext cx="3699049" cy="9525"/>
          </a:xfrm>
          <a:prstGeom prst="rect">
            <a:avLst/>
          </a:prstGeom>
          <a:solidFill>
            <a:srgbClr val="D5D9E0"/>
          </a:solidFill>
          <a:ln/>
        </p:spPr>
      </p:sp>
      <p:sp>
        <p:nvSpPr>
          <p:cNvPr id="78" name="Text 76"/>
          <p:cNvSpPr/>
          <p:nvPr/>
        </p:nvSpPr>
        <p:spPr>
          <a:xfrm>
            <a:off x="9296326" y="6774879"/>
            <a:ext cx="381002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CAPTURA</a:t>
            </a:r>
            <a:endParaRPr lang="en-US" sz="1800" dirty="0"/>
          </a:p>
        </p:txBody>
      </p:sp>
      <p:sp>
        <p:nvSpPr>
          <p:cNvPr id="79" name="Shape 77"/>
          <p:cNvSpPr/>
          <p:nvPr/>
        </p:nvSpPr>
        <p:spPr>
          <a:xfrm>
            <a:off x="13300174" y="6679629"/>
            <a:ext cx="4035251" cy="9525"/>
          </a:xfrm>
          <a:prstGeom prst="rect">
            <a:avLst/>
          </a:prstGeom>
          <a:solidFill>
            <a:srgbClr val="D5D9E0"/>
          </a:solidFill>
          <a:ln/>
        </p:spPr>
      </p:sp>
      <p:sp>
        <p:nvSpPr>
          <p:cNvPr id="80" name="Text 78"/>
          <p:cNvSpPr/>
          <p:nvPr/>
        </p:nvSpPr>
        <p:spPr>
          <a:xfrm>
            <a:off x="13300174" y="6774879"/>
            <a:ext cx="4156309" cy="333375"/>
          </a:xfrm>
          <a:prstGeom prst="rect">
            <a:avLst/>
          </a:prstGeom>
          <a:noFill/>
          <a:ln/>
        </p:spPr>
        <p:txBody>
          <a:bodyPr wrap="square" lIns="25400" tIns="25400" rIns="25400" bIns="25400" rtlCol="0" anchor="t">
            <a:normAutofit/>
          </a:bodyPr>
          <a:lstStyle/>
          <a:p>
            <a:pPr algn="l" indent="0" marL="0">
              <a:buNone/>
            </a:pPr>
            <a:r>
              <a:rPr lang="en-US" sz="1950" dirty="0">
                <a:solidFill>
                  <a:srgbClr val="3C4250"/>
                </a:solidFill>
                <a:latin typeface="Arial" pitchFamily="34" charset="0"/>
                <a:ea typeface="Arial" pitchFamily="34" charset="-122"/>
                <a:cs typeface="Arial" pitchFamily="34" charset="-120"/>
              </a:rPr>
              <a:t>1 : N</a:t>
            </a:r>
            <a:endParaRPr lang="en-US" sz="1950" dirty="0"/>
          </a:p>
        </p:txBody>
      </p:sp>
      <p:sp>
        <p:nvSpPr>
          <p:cNvPr id="81" name="Shape 79"/>
          <p:cNvSpPr/>
          <p:nvPr/>
        </p:nvSpPr>
        <p:spPr>
          <a:xfrm>
            <a:off x="952500" y="7155879"/>
            <a:ext cx="3698974" cy="9525"/>
          </a:xfrm>
          <a:prstGeom prst="rect">
            <a:avLst/>
          </a:prstGeom>
          <a:solidFill>
            <a:srgbClr val="D5D9E0"/>
          </a:solidFill>
          <a:ln/>
        </p:spPr>
      </p:sp>
      <p:sp>
        <p:nvSpPr>
          <p:cNvPr id="82" name="Text 80"/>
          <p:cNvSpPr/>
          <p:nvPr/>
        </p:nvSpPr>
        <p:spPr>
          <a:xfrm>
            <a:off x="952500" y="7251129"/>
            <a:ext cx="3809943"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SESIÓN_CLASE</a:t>
            </a:r>
            <a:endParaRPr lang="en-US" sz="1800" dirty="0"/>
          </a:p>
        </p:txBody>
      </p:sp>
      <p:sp>
        <p:nvSpPr>
          <p:cNvPr id="83" name="Shape 81"/>
          <p:cNvSpPr/>
          <p:nvPr/>
        </p:nvSpPr>
        <p:spPr>
          <a:xfrm>
            <a:off x="4956274" y="7155879"/>
            <a:ext cx="4035251" cy="9525"/>
          </a:xfrm>
          <a:prstGeom prst="rect">
            <a:avLst/>
          </a:prstGeom>
          <a:solidFill>
            <a:srgbClr val="D5D9E0"/>
          </a:solidFill>
          <a:ln/>
        </p:spPr>
      </p:sp>
      <p:sp>
        <p:nvSpPr>
          <p:cNvPr id="84" name="Text 82"/>
          <p:cNvSpPr/>
          <p:nvPr/>
        </p:nvSpPr>
        <p:spPr>
          <a:xfrm>
            <a:off x="4956274" y="7251129"/>
            <a:ext cx="4156309" cy="333375"/>
          </a:xfrm>
          <a:prstGeom prst="rect">
            <a:avLst/>
          </a:prstGeom>
          <a:noFill/>
          <a:ln/>
        </p:spPr>
        <p:txBody>
          <a:bodyPr wrap="square" lIns="25400" tIns="25400" rIns="25400" bIns="25400" rtlCol="0" anchor="t">
            <a:normAutofit/>
          </a:bodyPr>
          <a:lstStyle/>
          <a:p>
            <a:pPr algn="l" indent="0" marL="0">
              <a:buNone/>
            </a:pPr>
            <a:r>
              <a:rPr lang="en-US" sz="1950" dirty="0">
                <a:solidFill>
                  <a:srgbClr val="3C4250"/>
                </a:solidFill>
                <a:latin typeface="Arial" pitchFamily="34" charset="0"/>
                <a:ea typeface="Arial" pitchFamily="34" charset="-122"/>
                <a:cs typeface="Arial" pitchFamily="34" charset="-120"/>
              </a:rPr>
              <a:t>contiene</a:t>
            </a:r>
            <a:endParaRPr lang="en-US" sz="1950" dirty="0"/>
          </a:p>
        </p:txBody>
      </p:sp>
      <p:sp>
        <p:nvSpPr>
          <p:cNvPr id="85" name="Shape 83"/>
          <p:cNvSpPr/>
          <p:nvPr/>
        </p:nvSpPr>
        <p:spPr>
          <a:xfrm>
            <a:off x="9296326" y="7155879"/>
            <a:ext cx="3699049" cy="9525"/>
          </a:xfrm>
          <a:prstGeom prst="rect">
            <a:avLst/>
          </a:prstGeom>
          <a:solidFill>
            <a:srgbClr val="D5D9E0"/>
          </a:solidFill>
          <a:ln/>
        </p:spPr>
      </p:sp>
      <p:sp>
        <p:nvSpPr>
          <p:cNvPr id="86" name="Text 84"/>
          <p:cNvSpPr/>
          <p:nvPr/>
        </p:nvSpPr>
        <p:spPr>
          <a:xfrm>
            <a:off x="9296326" y="7251129"/>
            <a:ext cx="381002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CAPTURA</a:t>
            </a:r>
            <a:endParaRPr lang="en-US" sz="1800" dirty="0"/>
          </a:p>
        </p:txBody>
      </p:sp>
      <p:sp>
        <p:nvSpPr>
          <p:cNvPr id="87" name="Shape 85"/>
          <p:cNvSpPr/>
          <p:nvPr/>
        </p:nvSpPr>
        <p:spPr>
          <a:xfrm>
            <a:off x="13300174" y="7155879"/>
            <a:ext cx="4035251" cy="9525"/>
          </a:xfrm>
          <a:prstGeom prst="rect">
            <a:avLst/>
          </a:prstGeom>
          <a:solidFill>
            <a:srgbClr val="D5D9E0"/>
          </a:solidFill>
          <a:ln/>
        </p:spPr>
      </p:sp>
      <p:sp>
        <p:nvSpPr>
          <p:cNvPr id="88" name="Text 86"/>
          <p:cNvSpPr/>
          <p:nvPr/>
        </p:nvSpPr>
        <p:spPr>
          <a:xfrm>
            <a:off x="13300174" y="7251129"/>
            <a:ext cx="4156309" cy="333375"/>
          </a:xfrm>
          <a:prstGeom prst="rect">
            <a:avLst/>
          </a:prstGeom>
          <a:noFill/>
          <a:ln/>
        </p:spPr>
        <p:txBody>
          <a:bodyPr wrap="square" lIns="25400" tIns="25400" rIns="25400" bIns="25400" rtlCol="0" anchor="t">
            <a:normAutofit/>
          </a:bodyPr>
          <a:lstStyle/>
          <a:p>
            <a:pPr algn="l" indent="0" marL="0">
              <a:buNone/>
            </a:pPr>
            <a:r>
              <a:rPr lang="en-US" sz="1950" dirty="0">
                <a:solidFill>
                  <a:srgbClr val="3C4250"/>
                </a:solidFill>
                <a:latin typeface="Arial" pitchFamily="34" charset="0"/>
                <a:ea typeface="Arial" pitchFamily="34" charset="-122"/>
                <a:cs typeface="Arial" pitchFamily="34" charset="-120"/>
              </a:rPr>
              <a:t>1 : N</a:t>
            </a:r>
            <a:endParaRPr lang="en-US" sz="1950" dirty="0"/>
          </a:p>
        </p:txBody>
      </p:sp>
      <p:sp>
        <p:nvSpPr>
          <p:cNvPr id="89" name="Shape 87"/>
          <p:cNvSpPr/>
          <p:nvPr/>
        </p:nvSpPr>
        <p:spPr>
          <a:xfrm>
            <a:off x="952500" y="7632129"/>
            <a:ext cx="3698974" cy="9525"/>
          </a:xfrm>
          <a:prstGeom prst="rect">
            <a:avLst/>
          </a:prstGeom>
          <a:solidFill>
            <a:srgbClr val="D5D9E0"/>
          </a:solidFill>
          <a:ln/>
        </p:spPr>
      </p:sp>
      <p:sp>
        <p:nvSpPr>
          <p:cNvPr id="90" name="Text 88"/>
          <p:cNvSpPr/>
          <p:nvPr/>
        </p:nvSpPr>
        <p:spPr>
          <a:xfrm>
            <a:off x="952500" y="7727379"/>
            <a:ext cx="3809943"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CAPTURA</a:t>
            </a:r>
            <a:endParaRPr lang="en-US" sz="1800" dirty="0"/>
          </a:p>
        </p:txBody>
      </p:sp>
      <p:sp>
        <p:nvSpPr>
          <p:cNvPr id="91" name="Shape 89"/>
          <p:cNvSpPr/>
          <p:nvPr/>
        </p:nvSpPr>
        <p:spPr>
          <a:xfrm>
            <a:off x="4956274" y="7632129"/>
            <a:ext cx="4035251" cy="9525"/>
          </a:xfrm>
          <a:prstGeom prst="rect">
            <a:avLst/>
          </a:prstGeom>
          <a:solidFill>
            <a:srgbClr val="D5D9E0"/>
          </a:solidFill>
          <a:ln/>
        </p:spPr>
      </p:sp>
      <p:sp>
        <p:nvSpPr>
          <p:cNvPr id="92" name="Text 90"/>
          <p:cNvSpPr/>
          <p:nvPr/>
        </p:nvSpPr>
        <p:spPr>
          <a:xfrm>
            <a:off x="4956274" y="7727379"/>
            <a:ext cx="4156309" cy="333375"/>
          </a:xfrm>
          <a:prstGeom prst="rect">
            <a:avLst/>
          </a:prstGeom>
          <a:noFill/>
          <a:ln/>
        </p:spPr>
        <p:txBody>
          <a:bodyPr wrap="square" lIns="25400" tIns="25400" rIns="25400" bIns="25400" rtlCol="0" anchor="t">
            <a:normAutofit/>
          </a:bodyPr>
          <a:lstStyle/>
          <a:p>
            <a:pPr algn="l" indent="0" marL="0">
              <a:buNone/>
            </a:pPr>
            <a:r>
              <a:rPr lang="en-US" sz="1950" dirty="0">
                <a:solidFill>
                  <a:srgbClr val="3C4250"/>
                </a:solidFill>
                <a:latin typeface="Arial" pitchFamily="34" charset="0"/>
                <a:ea typeface="Arial" pitchFamily="34" charset="-122"/>
                <a:cs typeface="Arial" pitchFamily="34" charset="-120"/>
              </a:rPr>
              <a:t>arroja</a:t>
            </a:r>
            <a:endParaRPr lang="en-US" sz="1950" dirty="0"/>
          </a:p>
        </p:txBody>
      </p:sp>
      <p:sp>
        <p:nvSpPr>
          <p:cNvPr id="93" name="Shape 91"/>
          <p:cNvSpPr/>
          <p:nvPr/>
        </p:nvSpPr>
        <p:spPr>
          <a:xfrm>
            <a:off x="9296326" y="7632129"/>
            <a:ext cx="3699049" cy="9525"/>
          </a:xfrm>
          <a:prstGeom prst="rect">
            <a:avLst/>
          </a:prstGeom>
          <a:solidFill>
            <a:srgbClr val="D5D9E0"/>
          </a:solidFill>
          <a:ln/>
        </p:spPr>
      </p:sp>
      <p:sp>
        <p:nvSpPr>
          <p:cNvPr id="94" name="Text 92"/>
          <p:cNvSpPr/>
          <p:nvPr/>
        </p:nvSpPr>
        <p:spPr>
          <a:xfrm>
            <a:off x="9296326" y="7727379"/>
            <a:ext cx="381002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DETECCIÓN</a:t>
            </a:r>
            <a:endParaRPr lang="en-US" sz="1800" dirty="0"/>
          </a:p>
        </p:txBody>
      </p:sp>
      <p:sp>
        <p:nvSpPr>
          <p:cNvPr id="95" name="Shape 93"/>
          <p:cNvSpPr/>
          <p:nvPr/>
        </p:nvSpPr>
        <p:spPr>
          <a:xfrm>
            <a:off x="13300174" y="7632129"/>
            <a:ext cx="4035251" cy="9525"/>
          </a:xfrm>
          <a:prstGeom prst="rect">
            <a:avLst/>
          </a:prstGeom>
          <a:solidFill>
            <a:srgbClr val="D5D9E0"/>
          </a:solidFill>
          <a:ln/>
        </p:spPr>
      </p:sp>
      <p:sp>
        <p:nvSpPr>
          <p:cNvPr id="96" name="Text 94"/>
          <p:cNvSpPr/>
          <p:nvPr/>
        </p:nvSpPr>
        <p:spPr>
          <a:xfrm>
            <a:off x="13300174" y="7727379"/>
            <a:ext cx="4156309" cy="333375"/>
          </a:xfrm>
          <a:prstGeom prst="rect">
            <a:avLst/>
          </a:prstGeom>
          <a:noFill/>
          <a:ln/>
        </p:spPr>
        <p:txBody>
          <a:bodyPr wrap="square" lIns="25400" tIns="25400" rIns="25400" bIns="25400" rtlCol="0" anchor="t">
            <a:normAutofit/>
          </a:bodyPr>
          <a:lstStyle/>
          <a:p>
            <a:pPr algn="l" indent="0" marL="0">
              <a:buNone/>
            </a:pPr>
            <a:r>
              <a:rPr lang="en-US" sz="1950" dirty="0">
                <a:solidFill>
                  <a:srgbClr val="3C4250"/>
                </a:solidFill>
                <a:latin typeface="Arial" pitchFamily="34" charset="0"/>
                <a:ea typeface="Arial" pitchFamily="34" charset="-122"/>
                <a:cs typeface="Arial" pitchFamily="34" charset="-120"/>
              </a:rPr>
              <a:t>1 : N</a:t>
            </a:r>
            <a:endParaRPr lang="en-US" sz="1950" dirty="0"/>
          </a:p>
        </p:txBody>
      </p:sp>
      <p:sp>
        <p:nvSpPr>
          <p:cNvPr id="97" name="Shape 95"/>
          <p:cNvSpPr/>
          <p:nvPr/>
        </p:nvSpPr>
        <p:spPr>
          <a:xfrm>
            <a:off x="952500" y="8108379"/>
            <a:ext cx="3698974" cy="9525"/>
          </a:xfrm>
          <a:prstGeom prst="rect">
            <a:avLst/>
          </a:prstGeom>
          <a:solidFill>
            <a:srgbClr val="D5D9E0"/>
          </a:solidFill>
          <a:ln/>
        </p:spPr>
      </p:sp>
      <p:sp>
        <p:nvSpPr>
          <p:cNvPr id="98" name="Text 96"/>
          <p:cNvSpPr/>
          <p:nvPr/>
        </p:nvSpPr>
        <p:spPr>
          <a:xfrm>
            <a:off x="952500" y="8203629"/>
            <a:ext cx="3809943"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PLANTILLA_FACIAL</a:t>
            </a:r>
            <a:endParaRPr lang="en-US" sz="1800" dirty="0"/>
          </a:p>
        </p:txBody>
      </p:sp>
      <p:sp>
        <p:nvSpPr>
          <p:cNvPr id="99" name="Shape 97"/>
          <p:cNvSpPr/>
          <p:nvPr/>
        </p:nvSpPr>
        <p:spPr>
          <a:xfrm>
            <a:off x="4956274" y="8108379"/>
            <a:ext cx="4035251" cy="9525"/>
          </a:xfrm>
          <a:prstGeom prst="rect">
            <a:avLst/>
          </a:prstGeom>
          <a:solidFill>
            <a:srgbClr val="D5D9E0"/>
          </a:solidFill>
          <a:ln/>
        </p:spPr>
      </p:sp>
      <p:sp>
        <p:nvSpPr>
          <p:cNvPr id="100" name="Text 98"/>
          <p:cNvSpPr/>
          <p:nvPr/>
        </p:nvSpPr>
        <p:spPr>
          <a:xfrm>
            <a:off x="4956274" y="8203629"/>
            <a:ext cx="4156309" cy="333375"/>
          </a:xfrm>
          <a:prstGeom prst="rect">
            <a:avLst/>
          </a:prstGeom>
          <a:noFill/>
          <a:ln/>
        </p:spPr>
        <p:txBody>
          <a:bodyPr wrap="square" lIns="25400" tIns="25400" rIns="25400" bIns="25400" rtlCol="0" anchor="t">
            <a:normAutofit/>
          </a:bodyPr>
          <a:lstStyle/>
          <a:p>
            <a:pPr algn="l" indent="0" marL="0">
              <a:buNone/>
            </a:pPr>
            <a:r>
              <a:rPr lang="en-US" sz="1950" dirty="0">
                <a:solidFill>
                  <a:srgbClr val="3C4250"/>
                </a:solidFill>
                <a:latin typeface="Arial" pitchFamily="34" charset="0"/>
                <a:ea typeface="Arial" pitchFamily="34" charset="-122"/>
                <a:cs typeface="Arial" pitchFamily="34" charset="-120"/>
              </a:rPr>
              <a:t>identifica</a:t>
            </a:r>
            <a:endParaRPr lang="en-US" sz="1950" dirty="0"/>
          </a:p>
        </p:txBody>
      </p:sp>
      <p:sp>
        <p:nvSpPr>
          <p:cNvPr id="101" name="Shape 99"/>
          <p:cNvSpPr/>
          <p:nvPr/>
        </p:nvSpPr>
        <p:spPr>
          <a:xfrm>
            <a:off x="9296326" y="8108379"/>
            <a:ext cx="3699049" cy="9525"/>
          </a:xfrm>
          <a:prstGeom prst="rect">
            <a:avLst/>
          </a:prstGeom>
          <a:solidFill>
            <a:srgbClr val="D5D9E0"/>
          </a:solidFill>
          <a:ln/>
        </p:spPr>
      </p:sp>
      <p:sp>
        <p:nvSpPr>
          <p:cNvPr id="102" name="Text 100"/>
          <p:cNvSpPr/>
          <p:nvPr/>
        </p:nvSpPr>
        <p:spPr>
          <a:xfrm>
            <a:off x="9296326" y="8203629"/>
            <a:ext cx="381002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DETECCIÓN</a:t>
            </a:r>
            <a:endParaRPr lang="en-US" sz="1800" dirty="0"/>
          </a:p>
        </p:txBody>
      </p:sp>
      <p:sp>
        <p:nvSpPr>
          <p:cNvPr id="103" name="Shape 101"/>
          <p:cNvSpPr/>
          <p:nvPr/>
        </p:nvSpPr>
        <p:spPr>
          <a:xfrm>
            <a:off x="13300174" y="8108379"/>
            <a:ext cx="4035251" cy="9525"/>
          </a:xfrm>
          <a:prstGeom prst="rect">
            <a:avLst/>
          </a:prstGeom>
          <a:solidFill>
            <a:srgbClr val="D5D9E0"/>
          </a:solidFill>
          <a:ln/>
        </p:spPr>
      </p:sp>
      <p:sp>
        <p:nvSpPr>
          <p:cNvPr id="104" name="Text 102"/>
          <p:cNvSpPr/>
          <p:nvPr/>
        </p:nvSpPr>
        <p:spPr>
          <a:xfrm>
            <a:off x="13300174" y="8203629"/>
            <a:ext cx="4156309" cy="333375"/>
          </a:xfrm>
          <a:prstGeom prst="rect">
            <a:avLst/>
          </a:prstGeom>
          <a:noFill/>
          <a:ln/>
        </p:spPr>
        <p:txBody>
          <a:bodyPr wrap="square" lIns="25400" tIns="25400" rIns="25400" bIns="25400" rtlCol="0" anchor="t">
            <a:normAutofit/>
          </a:bodyPr>
          <a:lstStyle/>
          <a:p>
            <a:pPr algn="l" indent="0" marL="0">
              <a:buNone/>
            </a:pPr>
            <a:r>
              <a:rPr lang="en-US" sz="1950" dirty="0">
                <a:solidFill>
                  <a:srgbClr val="3C4250"/>
                </a:solidFill>
                <a:latin typeface="Arial" pitchFamily="34" charset="0"/>
                <a:ea typeface="Arial" pitchFamily="34" charset="-122"/>
                <a:cs typeface="Arial" pitchFamily="34" charset="-120"/>
              </a:rPr>
              <a:t>1 : N · 0..1 por lectura</a:t>
            </a:r>
            <a:endParaRPr lang="en-US" sz="1950" dirty="0"/>
          </a:p>
        </p:txBody>
      </p:sp>
      <p:sp>
        <p:nvSpPr>
          <p:cNvPr id="105" name="Shape 103"/>
          <p:cNvSpPr/>
          <p:nvPr/>
        </p:nvSpPr>
        <p:spPr>
          <a:xfrm>
            <a:off x="952500" y="8584629"/>
            <a:ext cx="3698974" cy="9525"/>
          </a:xfrm>
          <a:prstGeom prst="rect">
            <a:avLst/>
          </a:prstGeom>
          <a:solidFill>
            <a:srgbClr val="D5D9E0"/>
          </a:solidFill>
          <a:ln/>
        </p:spPr>
      </p:sp>
      <p:sp>
        <p:nvSpPr>
          <p:cNvPr id="106" name="Text 104"/>
          <p:cNvSpPr/>
          <p:nvPr/>
        </p:nvSpPr>
        <p:spPr>
          <a:xfrm>
            <a:off x="952500" y="8679879"/>
            <a:ext cx="3809943"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DETECCIÓN</a:t>
            </a:r>
            <a:endParaRPr lang="en-US" sz="1800" dirty="0"/>
          </a:p>
        </p:txBody>
      </p:sp>
      <p:sp>
        <p:nvSpPr>
          <p:cNvPr id="107" name="Shape 105"/>
          <p:cNvSpPr/>
          <p:nvPr/>
        </p:nvSpPr>
        <p:spPr>
          <a:xfrm>
            <a:off x="4956274" y="8584629"/>
            <a:ext cx="4035251" cy="9525"/>
          </a:xfrm>
          <a:prstGeom prst="rect">
            <a:avLst/>
          </a:prstGeom>
          <a:solidFill>
            <a:srgbClr val="D5D9E0"/>
          </a:solidFill>
          <a:ln/>
        </p:spPr>
      </p:sp>
      <p:sp>
        <p:nvSpPr>
          <p:cNvPr id="108" name="Text 106"/>
          <p:cNvSpPr/>
          <p:nvPr/>
        </p:nvSpPr>
        <p:spPr>
          <a:xfrm>
            <a:off x="4956274" y="8679879"/>
            <a:ext cx="4156309" cy="333375"/>
          </a:xfrm>
          <a:prstGeom prst="rect">
            <a:avLst/>
          </a:prstGeom>
          <a:noFill/>
          <a:ln/>
        </p:spPr>
        <p:txBody>
          <a:bodyPr wrap="square" lIns="25400" tIns="25400" rIns="25400" bIns="25400" rtlCol="0" anchor="t">
            <a:normAutofit/>
          </a:bodyPr>
          <a:lstStyle/>
          <a:p>
            <a:pPr algn="l" indent="0" marL="0">
              <a:buNone/>
            </a:pPr>
            <a:r>
              <a:rPr lang="en-US" sz="1950" dirty="0">
                <a:solidFill>
                  <a:srgbClr val="3C4250"/>
                </a:solidFill>
                <a:latin typeface="Arial" pitchFamily="34" charset="0"/>
                <a:ea typeface="Arial" pitchFamily="34" charset="-122"/>
                <a:cs typeface="Arial" pitchFamily="34" charset="-120"/>
              </a:rPr>
              <a:t>respalda</a:t>
            </a:r>
            <a:endParaRPr lang="en-US" sz="1950" dirty="0"/>
          </a:p>
        </p:txBody>
      </p:sp>
      <p:sp>
        <p:nvSpPr>
          <p:cNvPr id="109" name="Shape 107"/>
          <p:cNvSpPr/>
          <p:nvPr/>
        </p:nvSpPr>
        <p:spPr>
          <a:xfrm>
            <a:off x="9296326" y="8584629"/>
            <a:ext cx="3699049" cy="9525"/>
          </a:xfrm>
          <a:prstGeom prst="rect">
            <a:avLst/>
          </a:prstGeom>
          <a:solidFill>
            <a:srgbClr val="D5D9E0"/>
          </a:solidFill>
          <a:ln/>
        </p:spPr>
      </p:sp>
      <p:sp>
        <p:nvSpPr>
          <p:cNvPr id="110" name="Text 108"/>
          <p:cNvSpPr/>
          <p:nvPr/>
        </p:nvSpPr>
        <p:spPr>
          <a:xfrm>
            <a:off x="9296326" y="8679879"/>
            <a:ext cx="381002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16181D"/>
                </a:solidFill>
                <a:latin typeface="Courier New" pitchFamily="34" charset="0"/>
                <a:ea typeface="Courier New" pitchFamily="34" charset="-122"/>
                <a:cs typeface="Courier New" pitchFamily="34" charset="-120"/>
              </a:rPr>
              <a:t>ASISTENCIA</a:t>
            </a:r>
            <a:endParaRPr lang="en-US" sz="1800" dirty="0"/>
          </a:p>
        </p:txBody>
      </p:sp>
      <p:sp>
        <p:nvSpPr>
          <p:cNvPr id="111" name="Shape 109"/>
          <p:cNvSpPr/>
          <p:nvPr/>
        </p:nvSpPr>
        <p:spPr>
          <a:xfrm>
            <a:off x="13300174" y="8584629"/>
            <a:ext cx="4035251" cy="9525"/>
          </a:xfrm>
          <a:prstGeom prst="rect">
            <a:avLst/>
          </a:prstGeom>
          <a:solidFill>
            <a:srgbClr val="D5D9E0"/>
          </a:solidFill>
          <a:ln/>
        </p:spPr>
      </p:sp>
      <p:sp>
        <p:nvSpPr>
          <p:cNvPr id="112" name="Text 110"/>
          <p:cNvSpPr/>
          <p:nvPr/>
        </p:nvSpPr>
        <p:spPr>
          <a:xfrm>
            <a:off x="13300174" y="8679879"/>
            <a:ext cx="4156309" cy="333375"/>
          </a:xfrm>
          <a:prstGeom prst="rect">
            <a:avLst/>
          </a:prstGeom>
          <a:noFill/>
          <a:ln/>
        </p:spPr>
        <p:txBody>
          <a:bodyPr wrap="square" lIns="25400" tIns="25400" rIns="25400" bIns="25400" rtlCol="0" anchor="t">
            <a:normAutofit/>
          </a:bodyPr>
          <a:lstStyle/>
          <a:p>
            <a:pPr algn="l" indent="0" marL="0">
              <a:buNone/>
            </a:pPr>
            <a:r>
              <a:rPr lang="en-US" sz="1950" dirty="0">
                <a:solidFill>
                  <a:srgbClr val="3C4250"/>
                </a:solidFill>
                <a:latin typeface="Arial" pitchFamily="34" charset="0"/>
                <a:ea typeface="Arial" pitchFamily="34" charset="-122"/>
                <a:cs typeface="Arial" pitchFamily="34" charset="-120"/>
              </a:rPr>
              <a:t>N : 1 · varias por registro</a:t>
            </a:r>
            <a:endParaRPr lang="en-US" sz="1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952500" y="952500"/>
            <a:ext cx="18021300" cy="3333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1F3A5F"/>
                </a:solidFill>
                <a:latin typeface="Courier New" pitchFamily="34" charset="0"/>
                <a:ea typeface="Courier New" pitchFamily="34" charset="-122"/>
                <a:cs typeface="Courier New" pitchFamily="34" charset="-120"/>
              </a:rPr>
              <a:t>REGLAS DE NEGOCIO · 1 DE 2</a:t>
            </a:r>
            <a:endParaRPr lang="en-US" sz="1800" dirty="0"/>
          </a:p>
        </p:txBody>
      </p:sp>
      <p:sp>
        <p:nvSpPr>
          <p:cNvPr id="3" name="Text 1"/>
          <p:cNvSpPr/>
          <p:nvPr/>
        </p:nvSpPr>
        <p:spPr>
          <a:xfrm>
            <a:off x="952500" y="1438275"/>
            <a:ext cx="18021300" cy="602679"/>
          </a:xfrm>
          <a:prstGeom prst="rect">
            <a:avLst/>
          </a:prstGeom>
          <a:noFill/>
          <a:ln/>
        </p:spPr>
        <p:txBody>
          <a:bodyPr wrap="square" lIns="25400" tIns="25400" rIns="25400" bIns="25400" rtlCol="0" anchor="t">
            <a:normAutofit/>
          </a:bodyPr>
          <a:lstStyle/>
          <a:p>
            <a:pPr algn="l" indent="0" marL="0">
              <a:lnSpc>
                <a:spcPct val="100475"/>
              </a:lnSpc>
              <a:buNone/>
            </a:pPr>
            <a:r>
              <a:rPr lang="en-US" sz="3900" b="1" spc="-58" kern="0" dirty="0">
                <a:solidFill>
                  <a:srgbClr val="16181D"/>
                </a:solidFill>
                <a:latin typeface="Georgia" pitchFamily="34" charset="0"/>
                <a:ea typeface="Georgia" pitchFamily="34" charset="-122"/>
                <a:cs typeface="Georgia" pitchFamily="34" charset="-120"/>
              </a:rPr>
              <a:t>Registro de la asistencia</a:t>
            </a:r>
            <a:endParaRPr lang="en-US" sz="3900" dirty="0"/>
          </a:p>
        </p:txBody>
      </p:sp>
      <p:sp>
        <p:nvSpPr>
          <p:cNvPr id="4" name="Shape 2"/>
          <p:cNvSpPr/>
          <p:nvPr/>
        </p:nvSpPr>
        <p:spPr>
          <a:xfrm>
            <a:off x="952500" y="2421954"/>
            <a:ext cx="16383000" cy="9525"/>
          </a:xfrm>
          <a:prstGeom prst="rect">
            <a:avLst/>
          </a:prstGeom>
          <a:solidFill>
            <a:srgbClr val="D5D9E0"/>
          </a:solidFill>
          <a:ln/>
        </p:spPr>
      </p:sp>
      <p:sp>
        <p:nvSpPr>
          <p:cNvPr id="5" name="Text 3"/>
          <p:cNvSpPr/>
          <p:nvPr/>
        </p:nvSpPr>
        <p:spPr>
          <a:xfrm>
            <a:off x="952500" y="2621979"/>
            <a:ext cx="1571625" cy="411435"/>
          </a:xfrm>
          <a:prstGeom prst="rect">
            <a:avLst/>
          </a:prstGeom>
          <a:noFill/>
          <a:ln/>
        </p:spPr>
        <p:txBody>
          <a:bodyPr wrap="square" lIns="25400" tIns="25400" rIns="25400" bIns="25400" rtlCol="0" anchor="t">
            <a:normAutofit/>
          </a:bodyPr>
          <a:lstStyle/>
          <a:p>
            <a:pPr algn="l" indent="0" marL="0">
              <a:buNone/>
            </a:pPr>
            <a:r>
              <a:rPr lang="en-US" sz="1950" dirty="0">
                <a:solidFill>
                  <a:srgbClr val="1F3A5F"/>
                </a:solidFill>
                <a:latin typeface="Courier New" pitchFamily="34" charset="0"/>
                <a:ea typeface="Courier New" pitchFamily="34" charset="-122"/>
                <a:cs typeface="Courier New" pitchFamily="34" charset="-120"/>
              </a:rPr>
              <a:t>RN-01</a:t>
            </a:r>
            <a:endParaRPr lang="en-US" sz="1950" dirty="0"/>
          </a:p>
        </p:txBody>
      </p:sp>
      <p:sp>
        <p:nvSpPr>
          <p:cNvPr id="6" name="Text 4"/>
          <p:cNvSpPr/>
          <p:nvPr/>
        </p:nvSpPr>
        <p:spPr>
          <a:xfrm>
            <a:off x="2724150" y="2621979"/>
            <a:ext cx="16072485" cy="411435"/>
          </a:xfrm>
          <a:prstGeom prst="rect">
            <a:avLst/>
          </a:prstGeom>
          <a:noFill/>
          <a:ln/>
        </p:spPr>
        <p:txBody>
          <a:bodyPr wrap="square" lIns="25400" tIns="25400" rIns="25400" bIns="25400" rtlCol="0" anchor="t">
            <a:normAutofit/>
          </a:bodyPr>
          <a:lstStyle/>
          <a:p>
            <a:pPr algn="l" indent="0" marL="0">
              <a:lnSpc>
                <a:spcPct val="120615"/>
              </a:lnSpc>
              <a:buNone/>
            </a:pPr>
            <a:r>
              <a:rPr lang="en-US" sz="2100" dirty="0">
                <a:solidFill>
                  <a:srgbClr val="16181D"/>
                </a:solidFill>
                <a:latin typeface="Arial" pitchFamily="34" charset="0"/>
                <a:ea typeface="Arial" pitchFamily="34" charset="-122"/>
                <a:cs typeface="Arial" pitchFamily="34" charset="-120"/>
              </a:rPr>
              <a:t>Un alumno solo puede registrar asistencia en sesiones de grupos donde tenga una inscripción activa.</a:t>
            </a:r>
            <a:endParaRPr lang="en-US" sz="2100" dirty="0"/>
          </a:p>
        </p:txBody>
      </p:sp>
      <p:sp>
        <p:nvSpPr>
          <p:cNvPr id="7" name="Shape 5"/>
          <p:cNvSpPr/>
          <p:nvPr/>
        </p:nvSpPr>
        <p:spPr>
          <a:xfrm>
            <a:off x="952500" y="3185815"/>
            <a:ext cx="16383000" cy="9525"/>
          </a:xfrm>
          <a:prstGeom prst="rect">
            <a:avLst/>
          </a:prstGeom>
          <a:solidFill>
            <a:srgbClr val="D5D9E0"/>
          </a:solidFill>
          <a:ln/>
        </p:spPr>
      </p:sp>
      <p:sp>
        <p:nvSpPr>
          <p:cNvPr id="8" name="Text 6"/>
          <p:cNvSpPr/>
          <p:nvPr/>
        </p:nvSpPr>
        <p:spPr>
          <a:xfrm>
            <a:off x="952500" y="3385840"/>
            <a:ext cx="1571625" cy="411435"/>
          </a:xfrm>
          <a:prstGeom prst="rect">
            <a:avLst/>
          </a:prstGeom>
          <a:noFill/>
          <a:ln/>
        </p:spPr>
        <p:txBody>
          <a:bodyPr wrap="square" lIns="25400" tIns="25400" rIns="25400" bIns="25400" rtlCol="0" anchor="t">
            <a:normAutofit/>
          </a:bodyPr>
          <a:lstStyle/>
          <a:p>
            <a:pPr algn="l" indent="0" marL="0">
              <a:buNone/>
            </a:pPr>
            <a:r>
              <a:rPr lang="en-US" sz="1950" dirty="0">
                <a:solidFill>
                  <a:srgbClr val="1F3A5F"/>
                </a:solidFill>
                <a:latin typeface="Courier New" pitchFamily="34" charset="0"/>
                <a:ea typeface="Courier New" pitchFamily="34" charset="-122"/>
                <a:cs typeface="Courier New" pitchFamily="34" charset="-120"/>
              </a:rPr>
              <a:t>RN-02</a:t>
            </a:r>
            <a:endParaRPr lang="en-US" sz="1950" dirty="0"/>
          </a:p>
        </p:txBody>
      </p:sp>
      <p:sp>
        <p:nvSpPr>
          <p:cNvPr id="9" name="Text 7"/>
          <p:cNvSpPr/>
          <p:nvPr/>
        </p:nvSpPr>
        <p:spPr>
          <a:xfrm>
            <a:off x="2724150" y="3385840"/>
            <a:ext cx="16072485" cy="411435"/>
          </a:xfrm>
          <a:prstGeom prst="rect">
            <a:avLst/>
          </a:prstGeom>
          <a:noFill/>
          <a:ln/>
        </p:spPr>
        <p:txBody>
          <a:bodyPr wrap="square" lIns="25400" tIns="25400" rIns="25400" bIns="25400" rtlCol="0" anchor="t">
            <a:normAutofit/>
          </a:bodyPr>
          <a:lstStyle/>
          <a:p>
            <a:pPr algn="l" indent="0" marL="0">
              <a:lnSpc>
                <a:spcPct val="120615"/>
              </a:lnSpc>
              <a:buNone/>
            </a:pPr>
            <a:r>
              <a:rPr lang="en-US" sz="2100" dirty="0">
                <a:solidFill>
                  <a:srgbClr val="16181D"/>
                </a:solidFill>
                <a:latin typeface="Arial" pitchFamily="34" charset="0"/>
                <a:ea typeface="Arial" pitchFamily="34" charset="-122"/>
                <a:cs typeface="Arial" pitchFamily="34" charset="-120"/>
              </a:rPr>
              <a:t>Aunque el muestreo produzca varias detecciones del mismo alumno, la sesión genera un único registro de asistencia.</a:t>
            </a:r>
            <a:endParaRPr lang="en-US" sz="2100" dirty="0"/>
          </a:p>
        </p:txBody>
      </p:sp>
      <p:sp>
        <p:nvSpPr>
          <p:cNvPr id="10" name="Shape 8"/>
          <p:cNvSpPr/>
          <p:nvPr/>
        </p:nvSpPr>
        <p:spPr>
          <a:xfrm>
            <a:off x="952500" y="3949675"/>
            <a:ext cx="16383000" cy="9525"/>
          </a:xfrm>
          <a:prstGeom prst="rect">
            <a:avLst/>
          </a:prstGeom>
          <a:solidFill>
            <a:srgbClr val="D5D9E0"/>
          </a:solidFill>
          <a:ln/>
        </p:spPr>
      </p:sp>
      <p:sp>
        <p:nvSpPr>
          <p:cNvPr id="11" name="Text 9"/>
          <p:cNvSpPr/>
          <p:nvPr/>
        </p:nvSpPr>
        <p:spPr>
          <a:xfrm>
            <a:off x="952500" y="4149700"/>
            <a:ext cx="1504950" cy="784771"/>
          </a:xfrm>
          <a:prstGeom prst="rect">
            <a:avLst/>
          </a:prstGeom>
          <a:noFill/>
          <a:ln/>
        </p:spPr>
        <p:txBody>
          <a:bodyPr wrap="square" lIns="25400" tIns="25400" rIns="25400" bIns="25400" rtlCol="0" anchor="t">
            <a:normAutofit/>
          </a:bodyPr>
          <a:lstStyle/>
          <a:p>
            <a:pPr algn="l" indent="0" marL="0">
              <a:buNone/>
            </a:pPr>
            <a:r>
              <a:rPr lang="en-US" sz="1950" dirty="0">
                <a:solidFill>
                  <a:srgbClr val="1F3A5F"/>
                </a:solidFill>
                <a:latin typeface="Courier New" pitchFamily="34" charset="0"/>
                <a:ea typeface="Courier New" pitchFamily="34" charset="-122"/>
                <a:cs typeface="Courier New" pitchFamily="34" charset="-120"/>
              </a:rPr>
              <a:t>RN-03</a:t>
            </a:r>
            <a:endParaRPr lang="en-US" sz="1950" dirty="0"/>
          </a:p>
        </p:txBody>
      </p:sp>
      <p:sp>
        <p:nvSpPr>
          <p:cNvPr id="12" name="Text 10"/>
          <p:cNvSpPr/>
          <p:nvPr/>
        </p:nvSpPr>
        <p:spPr>
          <a:xfrm>
            <a:off x="2724150" y="4149700"/>
            <a:ext cx="15049690" cy="784771"/>
          </a:xfrm>
          <a:prstGeom prst="rect">
            <a:avLst/>
          </a:prstGeom>
          <a:noFill/>
          <a:ln/>
        </p:spPr>
        <p:txBody>
          <a:bodyPr wrap="square" lIns="25400" tIns="25400" rIns="25400" bIns="25400" rtlCol="0" anchor="t">
            <a:normAutofit/>
          </a:bodyPr>
          <a:lstStyle/>
          <a:p>
            <a:pPr algn="l" indent="0" marL="0">
              <a:lnSpc>
                <a:spcPct val="120615"/>
              </a:lnSpc>
              <a:buNone/>
            </a:pPr>
            <a:r>
              <a:rPr lang="en-US" sz="2100" dirty="0">
                <a:solidFill>
                  <a:srgbClr val="16181D"/>
                </a:solidFill>
                <a:latin typeface="Arial" pitchFamily="34" charset="0"/>
                <a:ea typeface="Arial" pitchFamily="34" charset="-122"/>
                <a:cs typeface="Arial" pitchFamily="34" charset="-120"/>
              </a:rPr>
              <a:t>El estado se asigna por la hora de la primera detección válida: presente en los primeros 10 minutos, retardo hasta el minuto 20.</a:t>
            </a:r>
            <a:endParaRPr lang="en-US" sz="2100" dirty="0"/>
          </a:p>
        </p:txBody>
      </p:sp>
      <p:sp>
        <p:nvSpPr>
          <p:cNvPr id="13" name="Shape 11"/>
          <p:cNvSpPr/>
          <p:nvPr/>
        </p:nvSpPr>
        <p:spPr>
          <a:xfrm>
            <a:off x="952500" y="5086871"/>
            <a:ext cx="16383000" cy="9525"/>
          </a:xfrm>
          <a:prstGeom prst="rect">
            <a:avLst/>
          </a:prstGeom>
          <a:solidFill>
            <a:srgbClr val="D5D9E0"/>
          </a:solidFill>
          <a:ln/>
        </p:spPr>
      </p:sp>
      <p:sp>
        <p:nvSpPr>
          <p:cNvPr id="14" name="Text 12"/>
          <p:cNvSpPr/>
          <p:nvPr/>
        </p:nvSpPr>
        <p:spPr>
          <a:xfrm>
            <a:off x="952500" y="5286896"/>
            <a:ext cx="1504950" cy="784771"/>
          </a:xfrm>
          <a:prstGeom prst="rect">
            <a:avLst/>
          </a:prstGeom>
          <a:noFill/>
          <a:ln/>
        </p:spPr>
        <p:txBody>
          <a:bodyPr wrap="square" lIns="25400" tIns="25400" rIns="25400" bIns="25400" rtlCol="0" anchor="t">
            <a:normAutofit/>
          </a:bodyPr>
          <a:lstStyle/>
          <a:p>
            <a:pPr algn="l" indent="0" marL="0">
              <a:buNone/>
            </a:pPr>
            <a:r>
              <a:rPr lang="en-US" sz="1950" dirty="0">
                <a:solidFill>
                  <a:srgbClr val="1F3A5F"/>
                </a:solidFill>
                <a:latin typeface="Courier New" pitchFamily="34" charset="0"/>
                <a:ea typeface="Courier New" pitchFamily="34" charset="-122"/>
                <a:cs typeface="Courier New" pitchFamily="34" charset="-120"/>
              </a:rPr>
              <a:t>RN-04</a:t>
            </a:r>
            <a:endParaRPr lang="en-US" sz="1950" dirty="0"/>
          </a:p>
        </p:txBody>
      </p:sp>
      <p:sp>
        <p:nvSpPr>
          <p:cNvPr id="15" name="Text 13"/>
          <p:cNvSpPr/>
          <p:nvPr/>
        </p:nvSpPr>
        <p:spPr>
          <a:xfrm>
            <a:off x="2724150" y="5286896"/>
            <a:ext cx="15049690" cy="784771"/>
          </a:xfrm>
          <a:prstGeom prst="rect">
            <a:avLst/>
          </a:prstGeom>
          <a:noFill/>
          <a:ln/>
        </p:spPr>
        <p:txBody>
          <a:bodyPr wrap="square" lIns="25400" tIns="25400" rIns="25400" bIns="25400" rtlCol="0" anchor="t">
            <a:normAutofit/>
          </a:bodyPr>
          <a:lstStyle/>
          <a:p>
            <a:pPr algn="l" indent="0" marL="0">
              <a:lnSpc>
                <a:spcPct val="120615"/>
              </a:lnSpc>
              <a:buNone/>
            </a:pPr>
            <a:r>
              <a:rPr lang="en-US" sz="2100" dirty="0">
                <a:solidFill>
                  <a:srgbClr val="16181D"/>
                </a:solidFill>
                <a:latin typeface="Arial" pitchFamily="34" charset="0"/>
                <a:ea typeface="Arial" pitchFamily="34" charset="-122"/>
                <a:cs typeface="Arial" pitchFamily="34" charset="-120"/>
              </a:rPr>
              <a:t>Una detección se atribuye al alumno del vecino más cercano que devuelve el índice FAISS, y solo si su score es mayor o igual a 0.850.</a:t>
            </a:r>
            <a:endParaRPr lang="en-US" sz="2100" dirty="0"/>
          </a:p>
        </p:txBody>
      </p:sp>
      <p:sp>
        <p:nvSpPr>
          <p:cNvPr id="16" name="Shape 14"/>
          <p:cNvSpPr/>
          <p:nvPr/>
        </p:nvSpPr>
        <p:spPr>
          <a:xfrm>
            <a:off x="952500" y="6224067"/>
            <a:ext cx="16383000" cy="9525"/>
          </a:xfrm>
          <a:prstGeom prst="rect">
            <a:avLst/>
          </a:prstGeom>
          <a:solidFill>
            <a:srgbClr val="D5D9E0"/>
          </a:solidFill>
          <a:ln/>
        </p:spPr>
      </p:sp>
      <p:sp>
        <p:nvSpPr>
          <p:cNvPr id="17" name="Text 15"/>
          <p:cNvSpPr/>
          <p:nvPr/>
        </p:nvSpPr>
        <p:spPr>
          <a:xfrm>
            <a:off x="952500" y="6424092"/>
            <a:ext cx="1504950" cy="784771"/>
          </a:xfrm>
          <a:prstGeom prst="rect">
            <a:avLst/>
          </a:prstGeom>
          <a:noFill/>
          <a:ln/>
        </p:spPr>
        <p:txBody>
          <a:bodyPr wrap="square" lIns="25400" tIns="25400" rIns="25400" bIns="25400" rtlCol="0" anchor="t">
            <a:normAutofit/>
          </a:bodyPr>
          <a:lstStyle/>
          <a:p>
            <a:pPr algn="l" indent="0" marL="0">
              <a:buNone/>
            </a:pPr>
            <a:r>
              <a:rPr lang="en-US" sz="1950" dirty="0">
                <a:solidFill>
                  <a:srgbClr val="1F3A5F"/>
                </a:solidFill>
                <a:latin typeface="Courier New" pitchFamily="34" charset="0"/>
                <a:ea typeface="Courier New" pitchFamily="34" charset="-122"/>
                <a:cs typeface="Courier New" pitchFamily="34" charset="-120"/>
              </a:rPr>
              <a:t>RN-05</a:t>
            </a:r>
            <a:endParaRPr lang="en-US" sz="1950" dirty="0"/>
          </a:p>
        </p:txBody>
      </p:sp>
      <p:sp>
        <p:nvSpPr>
          <p:cNvPr id="18" name="Text 16"/>
          <p:cNvSpPr/>
          <p:nvPr/>
        </p:nvSpPr>
        <p:spPr>
          <a:xfrm>
            <a:off x="2724150" y="6424092"/>
            <a:ext cx="15049690" cy="784771"/>
          </a:xfrm>
          <a:prstGeom prst="rect">
            <a:avLst/>
          </a:prstGeom>
          <a:noFill/>
          <a:ln/>
        </p:spPr>
        <p:txBody>
          <a:bodyPr wrap="square" lIns="25400" tIns="25400" rIns="25400" bIns="25400" rtlCol="0" anchor="t">
            <a:normAutofit/>
          </a:bodyPr>
          <a:lstStyle/>
          <a:p>
            <a:pPr algn="l" indent="0" marL="0">
              <a:lnSpc>
                <a:spcPct val="120615"/>
              </a:lnSpc>
              <a:buNone/>
            </a:pPr>
            <a:r>
              <a:rPr lang="en-US" sz="2100" dirty="0">
                <a:solidFill>
                  <a:srgbClr val="16181D"/>
                </a:solidFill>
                <a:latin typeface="Arial" pitchFamily="34" charset="0"/>
                <a:ea typeface="Arial" pitchFamily="34" charset="-122"/>
                <a:cs typeface="Arial" pitchFamily="34" charset="-120"/>
              </a:rPr>
              <a:t>La asistencia se confirma con al menos tres detecciones válidas del mismo alumno en capturas distintas; con una o dos queda pendiente de revisión del docente.</a:t>
            </a:r>
            <a:endParaRPr lang="en-US" sz="2100" dirty="0"/>
          </a:p>
        </p:txBody>
      </p:sp>
      <p:sp>
        <p:nvSpPr>
          <p:cNvPr id="19" name="Shape 17"/>
          <p:cNvSpPr/>
          <p:nvPr/>
        </p:nvSpPr>
        <p:spPr>
          <a:xfrm>
            <a:off x="952500" y="7361262"/>
            <a:ext cx="16383000" cy="9525"/>
          </a:xfrm>
          <a:prstGeom prst="rect">
            <a:avLst/>
          </a:prstGeom>
          <a:solidFill>
            <a:srgbClr val="D5D9E0"/>
          </a:solidFill>
          <a:ln/>
        </p:spPr>
      </p:sp>
      <p:sp>
        <p:nvSpPr>
          <p:cNvPr id="20" name="Text 18"/>
          <p:cNvSpPr/>
          <p:nvPr/>
        </p:nvSpPr>
        <p:spPr>
          <a:xfrm>
            <a:off x="952500" y="7561287"/>
            <a:ext cx="1504950" cy="784771"/>
          </a:xfrm>
          <a:prstGeom prst="rect">
            <a:avLst/>
          </a:prstGeom>
          <a:noFill/>
          <a:ln/>
        </p:spPr>
        <p:txBody>
          <a:bodyPr wrap="square" lIns="25400" tIns="25400" rIns="25400" bIns="25400" rtlCol="0" anchor="t">
            <a:normAutofit/>
          </a:bodyPr>
          <a:lstStyle/>
          <a:p>
            <a:pPr algn="l" indent="0" marL="0">
              <a:buNone/>
            </a:pPr>
            <a:r>
              <a:rPr lang="en-US" sz="1950" dirty="0">
                <a:solidFill>
                  <a:srgbClr val="1F3A5F"/>
                </a:solidFill>
                <a:latin typeface="Courier New" pitchFamily="34" charset="0"/>
                <a:ea typeface="Courier New" pitchFamily="34" charset="-122"/>
                <a:cs typeface="Courier New" pitchFamily="34" charset="-120"/>
              </a:rPr>
              <a:t>RN-06</a:t>
            </a:r>
            <a:endParaRPr lang="en-US" sz="1950" dirty="0"/>
          </a:p>
        </p:txBody>
      </p:sp>
      <p:sp>
        <p:nvSpPr>
          <p:cNvPr id="21" name="Text 19"/>
          <p:cNvSpPr/>
          <p:nvPr/>
        </p:nvSpPr>
        <p:spPr>
          <a:xfrm>
            <a:off x="2724150" y="7561287"/>
            <a:ext cx="15049690" cy="784771"/>
          </a:xfrm>
          <a:prstGeom prst="rect">
            <a:avLst/>
          </a:prstGeom>
          <a:noFill/>
          <a:ln/>
        </p:spPr>
        <p:txBody>
          <a:bodyPr wrap="square" lIns="25400" tIns="25400" rIns="25400" bIns="25400" rtlCol="0" anchor="t">
            <a:normAutofit/>
          </a:bodyPr>
          <a:lstStyle/>
          <a:p>
            <a:pPr algn="l" indent="0" marL="0">
              <a:lnSpc>
                <a:spcPct val="120615"/>
              </a:lnSpc>
              <a:buNone/>
            </a:pPr>
            <a:r>
              <a:rPr lang="en-US" sz="2100" dirty="0">
                <a:solidFill>
                  <a:srgbClr val="16181D"/>
                </a:solidFill>
                <a:latin typeface="Arial" pitchFamily="34" charset="0"/>
                <a:ea typeface="Arial" pitchFamily="34" charset="-122"/>
                <a:cs typeface="Arial" pitchFamily="34" charset="-120"/>
              </a:rPr>
              <a:t>Una sesión solo se abre en el horario y el aula del grupo; si ninguna cámara del aula está activa, se habilita el pase de lista manual.</a:t>
            </a:r>
            <a:endParaRPr lang="en-US" sz="2100" dirty="0"/>
          </a:p>
        </p:txBody>
      </p:sp>
      <p:sp>
        <p:nvSpPr>
          <p:cNvPr id="22" name="Shape 20"/>
          <p:cNvSpPr/>
          <p:nvPr/>
        </p:nvSpPr>
        <p:spPr>
          <a:xfrm>
            <a:off x="952500" y="8498458"/>
            <a:ext cx="16383000" cy="9525"/>
          </a:xfrm>
          <a:prstGeom prst="rect">
            <a:avLst/>
          </a:prstGeom>
          <a:solidFill>
            <a:srgbClr val="D5D9E0"/>
          </a:solidFill>
          <a:ln/>
        </p:spPr>
      </p:sp>
      <p:sp>
        <p:nvSpPr>
          <p:cNvPr id="23" name="Text 21"/>
          <p:cNvSpPr/>
          <p:nvPr/>
        </p:nvSpPr>
        <p:spPr>
          <a:xfrm>
            <a:off x="952500" y="8698483"/>
            <a:ext cx="1571625" cy="411435"/>
          </a:xfrm>
          <a:prstGeom prst="rect">
            <a:avLst/>
          </a:prstGeom>
          <a:noFill/>
          <a:ln/>
        </p:spPr>
        <p:txBody>
          <a:bodyPr wrap="square" lIns="25400" tIns="25400" rIns="25400" bIns="25400" rtlCol="0" anchor="t">
            <a:normAutofit/>
          </a:bodyPr>
          <a:lstStyle/>
          <a:p>
            <a:pPr algn="l" indent="0" marL="0">
              <a:buNone/>
            </a:pPr>
            <a:r>
              <a:rPr lang="en-US" sz="1950" dirty="0">
                <a:solidFill>
                  <a:srgbClr val="1F3A5F"/>
                </a:solidFill>
                <a:latin typeface="Courier New" pitchFamily="34" charset="0"/>
                <a:ea typeface="Courier New" pitchFamily="34" charset="-122"/>
                <a:cs typeface="Courier New" pitchFamily="34" charset="-120"/>
              </a:rPr>
              <a:t>RN-07</a:t>
            </a:r>
            <a:endParaRPr lang="en-US" sz="1950" dirty="0"/>
          </a:p>
        </p:txBody>
      </p:sp>
      <p:sp>
        <p:nvSpPr>
          <p:cNvPr id="24" name="Text 22"/>
          <p:cNvSpPr/>
          <p:nvPr/>
        </p:nvSpPr>
        <p:spPr>
          <a:xfrm>
            <a:off x="2724150" y="8698483"/>
            <a:ext cx="16072485" cy="411435"/>
          </a:xfrm>
          <a:prstGeom prst="rect">
            <a:avLst/>
          </a:prstGeom>
          <a:noFill/>
          <a:ln/>
        </p:spPr>
        <p:txBody>
          <a:bodyPr wrap="square" lIns="25400" tIns="25400" rIns="25400" bIns="25400" rtlCol="0" anchor="t">
            <a:normAutofit/>
          </a:bodyPr>
          <a:lstStyle/>
          <a:p>
            <a:pPr algn="l" indent="0" marL="0">
              <a:lnSpc>
                <a:spcPct val="120615"/>
              </a:lnSpc>
              <a:buNone/>
            </a:pPr>
            <a:r>
              <a:rPr lang="en-US" sz="2100" dirty="0">
                <a:solidFill>
                  <a:srgbClr val="16181D"/>
                </a:solidFill>
                <a:latin typeface="Arial" pitchFamily="34" charset="0"/>
                <a:ea typeface="Arial" pitchFamily="34" charset="-122"/>
                <a:cs typeface="Arial" pitchFamily="34" charset="-120"/>
              </a:rPr>
              <a:t>Al cerrar la sesión, los alumnos inscritos sin detecciones suficientes quedan marcados como ausentes.</a:t>
            </a:r>
            <a:endParaRPr lang="en-US" sz="2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952500" y="952500"/>
            <a:ext cx="18021300" cy="3333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1F3A5F"/>
                </a:solidFill>
                <a:latin typeface="Courier New" pitchFamily="34" charset="0"/>
                <a:ea typeface="Courier New" pitchFamily="34" charset="-122"/>
                <a:cs typeface="Courier New" pitchFamily="34" charset="-120"/>
              </a:rPr>
              <a:t>REGLAS DE NEGOCIO · 2 DE 2</a:t>
            </a:r>
            <a:endParaRPr lang="en-US" sz="1800" dirty="0"/>
          </a:p>
        </p:txBody>
      </p:sp>
      <p:sp>
        <p:nvSpPr>
          <p:cNvPr id="3" name="Text 1"/>
          <p:cNvSpPr/>
          <p:nvPr/>
        </p:nvSpPr>
        <p:spPr>
          <a:xfrm>
            <a:off x="952500" y="1438275"/>
            <a:ext cx="18021300" cy="602679"/>
          </a:xfrm>
          <a:prstGeom prst="rect">
            <a:avLst/>
          </a:prstGeom>
          <a:noFill/>
          <a:ln/>
        </p:spPr>
        <p:txBody>
          <a:bodyPr wrap="square" lIns="25400" tIns="25400" rIns="25400" bIns="25400" rtlCol="0" anchor="t">
            <a:normAutofit/>
          </a:bodyPr>
          <a:lstStyle/>
          <a:p>
            <a:pPr algn="l" indent="0" marL="0">
              <a:lnSpc>
                <a:spcPct val="100475"/>
              </a:lnSpc>
              <a:buNone/>
            </a:pPr>
            <a:r>
              <a:rPr lang="en-US" sz="3900" b="1" spc="-58" kern="0" dirty="0">
                <a:solidFill>
                  <a:srgbClr val="16181D"/>
                </a:solidFill>
                <a:latin typeface="Georgia" pitchFamily="34" charset="0"/>
                <a:ea typeface="Georgia" pitchFamily="34" charset="-122"/>
                <a:cs typeface="Georgia" pitchFamily="34" charset="-120"/>
              </a:rPr>
              <a:t>Corrección, control y resguardo</a:t>
            </a:r>
            <a:endParaRPr lang="en-US" sz="3900" dirty="0"/>
          </a:p>
        </p:txBody>
      </p:sp>
      <p:sp>
        <p:nvSpPr>
          <p:cNvPr id="4" name="Shape 2"/>
          <p:cNvSpPr/>
          <p:nvPr/>
        </p:nvSpPr>
        <p:spPr>
          <a:xfrm>
            <a:off x="952500" y="2498154"/>
            <a:ext cx="16383000" cy="9525"/>
          </a:xfrm>
          <a:prstGeom prst="rect">
            <a:avLst/>
          </a:prstGeom>
          <a:solidFill>
            <a:srgbClr val="D5D9E0"/>
          </a:solidFill>
          <a:ln/>
        </p:spPr>
      </p:sp>
      <p:sp>
        <p:nvSpPr>
          <p:cNvPr id="5" name="Text 3"/>
          <p:cNvSpPr/>
          <p:nvPr/>
        </p:nvSpPr>
        <p:spPr>
          <a:xfrm>
            <a:off x="952500" y="2736279"/>
            <a:ext cx="1504950" cy="849511"/>
          </a:xfrm>
          <a:prstGeom prst="rect">
            <a:avLst/>
          </a:prstGeom>
          <a:noFill/>
          <a:ln/>
        </p:spPr>
        <p:txBody>
          <a:bodyPr wrap="square" lIns="25400" tIns="25400" rIns="25400" bIns="25400" rtlCol="0" anchor="t">
            <a:normAutofit/>
          </a:bodyPr>
          <a:lstStyle/>
          <a:p>
            <a:pPr algn="l" indent="0" marL="0">
              <a:buNone/>
            </a:pPr>
            <a:r>
              <a:rPr lang="en-US" sz="1950" dirty="0">
                <a:solidFill>
                  <a:srgbClr val="1F3A5F"/>
                </a:solidFill>
                <a:latin typeface="Courier New" pitchFamily="34" charset="0"/>
                <a:ea typeface="Courier New" pitchFamily="34" charset="-122"/>
                <a:cs typeface="Courier New" pitchFamily="34" charset="-120"/>
              </a:rPr>
              <a:t>RN-08</a:t>
            </a:r>
            <a:endParaRPr lang="en-US" sz="1950" dirty="0"/>
          </a:p>
        </p:txBody>
      </p:sp>
      <p:sp>
        <p:nvSpPr>
          <p:cNvPr id="6" name="Text 4"/>
          <p:cNvSpPr/>
          <p:nvPr/>
        </p:nvSpPr>
        <p:spPr>
          <a:xfrm>
            <a:off x="2724150" y="2736279"/>
            <a:ext cx="15049690" cy="849511"/>
          </a:xfrm>
          <a:prstGeom prst="rect">
            <a:avLst/>
          </a:prstGeom>
          <a:noFill/>
          <a:ln/>
        </p:spPr>
        <p:txBody>
          <a:bodyPr wrap="square" lIns="25400" tIns="25400" rIns="25400" bIns="25400" rtlCol="0" anchor="t">
            <a:normAutofit/>
          </a:bodyPr>
          <a:lstStyle/>
          <a:p>
            <a:pPr algn="l" indent="0" marL="0">
              <a:lnSpc>
                <a:spcPct val="123478"/>
              </a:lnSpc>
              <a:buNone/>
            </a:pPr>
            <a:r>
              <a:rPr lang="en-US" sz="2250" dirty="0">
                <a:solidFill>
                  <a:srgbClr val="16181D"/>
                </a:solidFill>
                <a:latin typeface="Arial" pitchFamily="34" charset="0"/>
                <a:ea typeface="Arial" pitchFamily="34" charset="-122"/>
                <a:cs typeface="Arial" pitchFamily="34" charset="-120"/>
              </a:rPr>
              <a:t>El docente puede corregir un registro hasta 48 horas después de la sesión; toda corrección conserva el valor anterior en bitácora, con usuario y fecha.</a:t>
            </a:r>
            <a:endParaRPr lang="en-US" sz="2250" dirty="0"/>
          </a:p>
        </p:txBody>
      </p:sp>
      <p:sp>
        <p:nvSpPr>
          <p:cNvPr id="7" name="Shape 5"/>
          <p:cNvSpPr/>
          <p:nvPr/>
        </p:nvSpPr>
        <p:spPr>
          <a:xfrm>
            <a:off x="952500" y="3795340"/>
            <a:ext cx="16383000" cy="9525"/>
          </a:xfrm>
          <a:prstGeom prst="rect">
            <a:avLst/>
          </a:prstGeom>
          <a:solidFill>
            <a:srgbClr val="D5D9E0"/>
          </a:solidFill>
          <a:ln/>
        </p:spPr>
      </p:sp>
      <p:sp>
        <p:nvSpPr>
          <p:cNvPr id="8" name="Text 6"/>
          <p:cNvSpPr/>
          <p:nvPr/>
        </p:nvSpPr>
        <p:spPr>
          <a:xfrm>
            <a:off x="952500" y="4033465"/>
            <a:ext cx="1504950" cy="849511"/>
          </a:xfrm>
          <a:prstGeom prst="rect">
            <a:avLst/>
          </a:prstGeom>
          <a:noFill/>
          <a:ln/>
        </p:spPr>
        <p:txBody>
          <a:bodyPr wrap="square" lIns="25400" tIns="25400" rIns="25400" bIns="25400" rtlCol="0" anchor="t">
            <a:normAutofit/>
          </a:bodyPr>
          <a:lstStyle/>
          <a:p>
            <a:pPr algn="l" indent="0" marL="0">
              <a:buNone/>
            </a:pPr>
            <a:r>
              <a:rPr lang="en-US" sz="1950" dirty="0">
                <a:solidFill>
                  <a:srgbClr val="1F3A5F"/>
                </a:solidFill>
                <a:latin typeface="Courier New" pitchFamily="34" charset="0"/>
                <a:ea typeface="Courier New" pitchFamily="34" charset="-122"/>
                <a:cs typeface="Courier New" pitchFamily="34" charset="-120"/>
              </a:rPr>
              <a:t>RN-09</a:t>
            </a:r>
            <a:endParaRPr lang="en-US" sz="1950" dirty="0"/>
          </a:p>
        </p:txBody>
      </p:sp>
      <p:sp>
        <p:nvSpPr>
          <p:cNvPr id="9" name="Text 7"/>
          <p:cNvSpPr/>
          <p:nvPr/>
        </p:nvSpPr>
        <p:spPr>
          <a:xfrm>
            <a:off x="2724150" y="4033465"/>
            <a:ext cx="15049690" cy="849511"/>
          </a:xfrm>
          <a:prstGeom prst="rect">
            <a:avLst/>
          </a:prstGeom>
          <a:noFill/>
          <a:ln/>
        </p:spPr>
        <p:txBody>
          <a:bodyPr wrap="square" lIns="25400" tIns="25400" rIns="25400" bIns="25400" rtlCol="0" anchor="t">
            <a:normAutofit/>
          </a:bodyPr>
          <a:lstStyle/>
          <a:p>
            <a:pPr algn="l" indent="0" marL="0">
              <a:lnSpc>
                <a:spcPct val="123478"/>
              </a:lnSpc>
              <a:buNone/>
            </a:pPr>
            <a:r>
              <a:rPr lang="en-US" sz="2250" dirty="0">
                <a:solidFill>
                  <a:srgbClr val="16181D"/>
                </a:solidFill>
                <a:latin typeface="Arial" pitchFamily="34" charset="0"/>
                <a:ea typeface="Arial" pitchFamily="34" charset="-122"/>
                <a:cs typeface="Arial" pitchFamily="34" charset="-120"/>
              </a:rPr>
              <a:t>Un justificante aprobado cambia el estado a justificado sin eliminar el registro original ni las detecciones que lo respaldan.</a:t>
            </a:r>
            <a:endParaRPr lang="en-US" sz="2250" dirty="0"/>
          </a:p>
        </p:txBody>
      </p:sp>
      <p:sp>
        <p:nvSpPr>
          <p:cNvPr id="10" name="Shape 8"/>
          <p:cNvSpPr/>
          <p:nvPr/>
        </p:nvSpPr>
        <p:spPr>
          <a:xfrm>
            <a:off x="952500" y="5092526"/>
            <a:ext cx="16383000" cy="9525"/>
          </a:xfrm>
          <a:prstGeom prst="rect">
            <a:avLst/>
          </a:prstGeom>
          <a:solidFill>
            <a:srgbClr val="D5D9E0"/>
          </a:solidFill>
          <a:ln/>
        </p:spPr>
      </p:sp>
      <p:sp>
        <p:nvSpPr>
          <p:cNvPr id="11" name="Text 9"/>
          <p:cNvSpPr/>
          <p:nvPr/>
        </p:nvSpPr>
        <p:spPr>
          <a:xfrm>
            <a:off x="952500" y="5330651"/>
            <a:ext cx="1504950" cy="443805"/>
          </a:xfrm>
          <a:prstGeom prst="rect">
            <a:avLst/>
          </a:prstGeom>
          <a:noFill/>
          <a:ln/>
        </p:spPr>
        <p:txBody>
          <a:bodyPr wrap="square" lIns="25400" tIns="25400" rIns="25400" bIns="25400" rtlCol="0" anchor="t">
            <a:normAutofit/>
          </a:bodyPr>
          <a:lstStyle/>
          <a:p>
            <a:pPr algn="l" indent="0" marL="0">
              <a:buNone/>
            </a:pPr>
            <a:r>
              <a:rPr lang="en-US" sz="1950" dirty="0">
                <a:solidFill>
                  <a:srgbClr val="1F3A5F"/>
                </a:solidFill>
                <a:latin typeface="Courier New" pitchFamily="34" charset="0"/>
                <a:ea typeface="Courier New" pitchFamily="34" charset="-122"/>
                <a:cs typeface="Courier New" pitchFamily="34" charset="-120"/>
              </a:rPr>
              <a:t>RN-10</a:t>
            </a:r>
            <a:endParaRPr lang="en-US" sz="1950" dirty="0"/>
          </a:p>
        </p:txBody>
      </p:sp>
      <p:sp>
        <p:nvSpPr>
          <p:cNvPr id="12" name="Text 10"/>
          <p:cNvSpPr/>
          <p:nvPr/>
        </p:nvSpPr>
        <p:spPr>
          <a:xfrm>
            <a:off x="2724150" y="5330651"/>
            <a:ext cx="16072485" cy="443805"/>
          </a:xfrm>
          <a:prstGeom prst="rect">
            <a:avLst/>
          </a:prstGeom>
          <a:noFill/>
          <a:ln/>
        </p:spPr>
        <p:txBody>
          <a:bodyPr wrap="square" lIns="25400" tIns="25400" rIns="25400" bIns="25400" rtlCol="0" anchor="t">
            <a:normAutofit/>
          </a:bodyPr>
          <a:lstStyle/>
          <a:p>
            <a:pPr algn="l" indent="0" marL="0">
              <a:lnSpc>
                <a:spcPct val="123478"/>
              </a:lnSpc>
              <a:buNone/>
            </a:pPr>
            <a:r>
              <a:rPr lang="en-US" sz="2250" dirty="0">
                <a:solidFill>
                  <a:srgbClr val="16181D"/>
                </a:solidFill>
                <a:latin typeface="Arial" pitchFamily="34" charset="0"/>
                <a:ea typeface="Arial" pitchFamily="34" charset="-122"/>
                <a:cs typeface="Arial" pitchFamily="34" charset="-120"/>
              </a:rPr>
              <a:t>Tres retardos en la misma materia equivalen a una ausencia.</a:t>
            </a:r>
            <a:endParaRPr lang="en-US" sz="2250" dirty="0"/>
          </a:p>
        </p:txBody>
      </p:sp>
      <p:sp>
        <p:nvSpPr>
          <p:cNvPr id="13" name="Shape 11"/>
          <p:cNvSpPr/>
          <p:nvPr/>
        </p:nvSpPr>
        <p:spPr>
          <a:xfrm>
            <a:off x="952500" y="5984007"/>
            <a:ext cx="16383000" cy="9525"/>
          </a:xfrm>
          <a:prstGeom prst="rect">
            <a:avLst/>
          </a:prstGeom>
          <a:solidFill>
            <a:srgbClr val="D5D9E0"/>
          </a:solidFill>
          <a:ln/>
        </p:spPr>
      </p:sp>
      <p:sp>
        <p:nvSpPr>
          <p:cNvPr id="14" name="Text 12"/>
          <p:cNvSpPr/>
          <p:nvPr/>
        </p:nvSpPr>
        <p:spPr>
          <a:xfrm>
            <a:off x="952500" y="6222132"/>
            <a:ext cx="1504950" cy="443805"/>
          </a:xfrm>
          <a:prstGeom prst="rect">
            <a:avLst/>
          </a:prstGeom>
          <a:noFill/>
          <a:ln/>
        </p:spPr>
        <p:txBody>
          <a:bodyPr wrap="square" lIns="25400" tIns="25400" rIns="25400" bIns="25400" rtlCol="0" anchor="t">
            <a:normAutofit/>
          </a:bodyPr>
          <a:lstStyle/>
          <a:p>
            <a:pPr algn="l" indent="0" marL="0">
              <a:buNone/>
            </a:pPr>
            <a:r>
              <a:rPr lang="en-US" sz="1950" dirty="0">
                <a:solidFill>
                  <a:srgbClr val="1F3A5F"/>
                </a:solidFill>
                <a:latin typeface="Courier New" pitchFamily="34" charset="0"/>
                <a:ea typeface="Courier New" pitchFamily="34" charset="-122"/>
                <a:cs typeface="Courier New" pitchFamily="34" charset="-120"/>
              </a:rPr>
              <a:t>RN-11</a:t>
            </a:r>
            <a:endParaRPr lang="en-US" sz="1950" dirty="0"/>
          </a:p>
        </p:txBody>
      </p:sp>
      <p:sp>
        <p:nvSpPr>
          <p:cNvPr id="15" name="Text 13"/>
          <p:cNvSpPr/>
          <p:nvPr/>
        </p:nvSpPr>
        <p:spPr>
          <a:xfrm>
            <a:off x="2724150" y="6222132"/>
            <a:ext cx="16072485" cy="443805"/>
          </a:xfrm>
          <a:prstGeom prst="rect">
            <a:avLst/>
          </a:prstGeom>
          <a:noFill/>
          <a:ln/>
        </p:spPr>
        <p:txBody>
          <a:bodyPr wrap="square" lIns="25400" tIns="25400" rIns="25400" bIns="25400" rtlCol="0" anchor="t">
            <a:normAutofit/>
          </a:bodyPr>
          <a:lstStyle/>
          <a:p>
            <a:pPr algn="l" indent="0" marL="0">
              <a:lnSpc>
                <a:spcPct val="123478"/>
              </a:lnSpc>
              <a:buNone/>
            </a:pPr>
            <a:r>
              <a:rPr lang="en-US" sz="2250" dirty="0">
                <a:solidFill>
                  <a:srgbClr val="16181D"/>
                </a:solidFill>
                <a:latin typeface="Arial" pitchFamily="34" charset="0"/>
                <a:ea typeface="Arial" pitchFamily="34" charset="-122"/>
                <a:cs typeface="Arial" pitchFamily="34" charset="-120"/>
              </a:rPr>
              <a:t>Al superar el 20 % de ausencias en el periodo, el alumno pierde derecho a examen y el sistema notifica al docente.</a:t>
            </a:r>
            <a:endParaRPr lang="en-US" sz="2250" dirty="0"/>
          </a:p>
        </p:txBody>
      </p:sp>
      <p:sp>
        <p:nvSpPr>
          <p:cNvPr id="16" name="Shape 14"/>
          <p:cNvSpPr/>
          <p:nvPr/>
        </p:nvSpPr>
        <p:spPr>
          <a:xfrm>
            <a:off x="952500" y="6875487"/>
            <a:ext cx="16383000" cy="9525"/>
          </a:xfrm>
          <a:prstGeom prst="rect">
            <a:avLst/>
          </a:prstGeom>
          <a:solidFill>
            <a:srgbClr val="D5D9E0"/>
          </a:solidFill>
          <a:ln/>
        </p:spPr>
      </p:sp>
      <p:sp>
        <p:nvSpPr>
          <p:cNvPr id="17" name="Text 15"/>
          <p:cNvSpPr/>
          <p:nvPr/>
        </p:nvSpPr>
        <p:spPr>
          <a:xfrm>
            <a:off x="952500" y="7113612"/>
            <a:ext cx="1504950" cy="849511"/>
          </a:xfrm>
          <a:prstGeom prst="rect">
            <a:avLst/>
          </a:prstGeom>
          <a:noFill/>
          <a:ln/>
        </p:spPr>
        <p:txBody>
          <a:bodyPr wrap="square" lIns="25400" tIns="25400" rIns="25400" bIns="25400" rtlCol="0" anchor="t">
            <a:normAutofit/>
          </a:bodyPr>
          <a:lstStyle/>
          <a:p>
            <a:pPr algn="l" indent="0" marL="0">
              <a:buNone/>
            </a:pPr>
            <a:r>
              <a:rPr lang="en-US" sz="1950" dirty="0">
                <a:solidFill>
                  <a:srgbClr val="1F3A5F"/>
                </a:solidFill>
                <a:latin typeface="Courier New" pitchFamily="34" charset="0"/>
                <a:ea typeface="Courier New" pitchFamily="34" charset="-122"/>
                <a:cs typeface="Courier New" pitchFamily="34" charset="-120"/>
              </a:rPr>
              <a:t>RN-12</a:t>
            </a:r>
            <a:endParaRPr lang="en-US" sz="1950" dirty="0"/>
          </a:p>
        </p:txBody>
      </p:sp>
      <p:sp>
        <p:nvSpPr>
          <p:cNvPr id="18" name="Text 16"/>
          <p:cNvSpPr/>
          <p:nvPr/>
        </p:nvSpPr>
        <p:spPr>
          <a:xfrm>
            <a:off x="2724150" y="7113612"/>
            <a:ext cx="15049690" cy="849511"/>
          </a:xfrm>
          <a:prstGeom prst="rect">
            <a:avLst/>
          </a:prstGeom>
          <a:noFill/>
          <a:ln/>
        </p:spPr>
        <p:txBody>
          <a:bodyPr wrap="square" lIns="25400" tIns="25400" rIns="25400" bIns="25400" rtlCol="0" anchor="t">
            <a:normAutofit/>
          </a:bodyPr>
          <a:lstStyle/>
          <a:p>
            <a:pPr algn="l" indent="0" marL="0">
              <a:lnSpc>
                <a:spcPct val="123478"/>
              </a:lnSpc>
              <a:buNone/>
            </a:pPr>
            <a:r>
              <a:rPr lang="en-US" sz="2250" dirty="0">
                <a:solidFill>
                  <a:srgbClr val="16181D"/>
                </a:solidFill>
                <a:latin typeface="Arial" pitchFamily="34" charset="0"/>
                <a:ea typeface="Arial" pitchFamily="34" charset="-122"/>
                <a:cs typeface="Arial" pitchFamily="34" charset="-120"/>
              </a:rPr>
              <a:t>Cada alumno mantiene una sola plantilla activa; al dar de alta una nueva, la anterior se archiva y el índice FAISS se reconstruye con una versión nueva.</a:t>
            </a:r>
            <a:endParaRPr lang="en-US" sz="2250" dirty="0"/>
          </a:p>
        </p:txBody>
      </p:sp>
      <p:sp>
        <p:nvSpPr>
          <p:cNvPr id="19" name="Shape 17"/>
          <p:cNvSpPr/>
          <p:nvPr/>
        </p:nvSpPr>
        <p:spPr>
          <a:xfrm>
            <a:off x="952500" y="8172673"/>
            <a:ext cx="16383000" cy="9525"/>
          </a:xfrm>
          <a:prstGeom prst="rect">
            <a:avLst/>
          </a:prstGeom>
          <a:solidFill>
            <a:srgbClr val="D5D9E0"/>
          </a:solidFill>
          <a:ln/>
        </p:spPr>
      </p:sp>
      <p:sp>
        <p:nvSpPr>
          <p:cNvPr id="20" name="Text 18"/>
          <p:cNvSpPr/>
          <p:nvPr/>
        </p:nvSpPr>
        <p:spPr>
          <a:xfrm>
            <a:off x="952500" y="8410798"/>
            <a:ext cx="1504950" cy="443805"/>
          </a:xfrm>
          <a:prstGeom prst="rect">
            <a:avLst/>
          </a:prstGeom>
          <a:noFill/>
          <a:ln/>
        </p:spPr>
        <p:txBody>
          <a:bodyPr wrap="square" lIns="25400" tIns="25400" rIns="25400" bIns="25400" rtlCol="0" anchor="t">
            <a:normAutofit/>
          </a:bodyPr>
          <a:lstStyle/>
          <a:p>
            <a:pPr algn="l" indent="0" marL="0">
              <a:buNone/>
            </a:pPr>
            <a:r>
              <a:rPr lang="en-US" sz="1950" dirty="0">
                <a:solidFill>
                  <a:srgbClr val="1F3A5F"/>
                </a:solidFill>
                <a:latin typeface="Courier New" pitchFamily="34" charset="0"/>
                <a:ea typeface="Courier New" pitchFamily="34" charset="-122"/>
                <a:cs typeface="Courier New" pitchFamily="34" charset="-120"/>
              </a:rPr>
              <a:t>RN-13</a:t>
            </a:r>
            <a:endParaRPr lang="en-US" sz="1950" dirty="0"/>
          </a:p>
        </p:txBody>
      </p:sp>
      <p:sp>
        <p:nvSpPr>
          <p:cNvPr id="21" name="Text 19"/>
          <p:cNvSpPr/>
          <p:nvPr/>
        </p:nvSpPr>
        <p:spPr>
          <a:xfrm>
            <a:off x="2724150" y="8410798"/>
            <a:ext cx="16072485" cy="443805"/>
          </a:xfrm>
          <a:prstGeom prst="rect">
            <a:avLst/>
          </a:prstGeom>
          <a:noFill/>
          <a:ln/>
        </p:spPr>
        <p:txBody>
          <a:bodyPr wrap="square" lIns="25400" tIns="25400" rIns="25400" bIns="25400" rtlCol="0" anchor="t">
            <a:normAutofit/>
          </a:bodyPr>
          <a:lstStyle/>
          <a:p>
            <a:pPr algn="l" indent="0" marL="0">
              <a:lnSpc>
                <a:spcPct val="123478"/>
              </a:lnSpc>
              <a:buNone/>
            </a:pPr>
            <a:r>
              <a:rPr lang="en-US" sz="2250" dirty="0">
                <a:solidFill>
                  <a:srgbClr val="16181D"/>
                </a:solidFill>
                <a:latin typeface="Arial" pitchFamily="34" charset="0"/>
                <a:ea typeface="Arial" pitchFamily="34" charset="-122"/>
                <a:cs typeface="Arial" pitchFamily="34" charset="-120"/>
              </a:rPr>
              <a:t>No se registra la plantilla facial de un alumno sin consentimiento firmado y vigente.</a:t>
            </a:r>
            <a:endParaRPr lang="en-US" sz="2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F3A5F"/>
        </a:solidFill>
      </p:bgPr>
    </p:bg>
    <p:spTree>
      <p:nvGrpSpPr>
        <p:cNvPr id="1" name=""/>
        <p:cNvGrpSpPr/>
        <p:nvPr/>
      </p:nvGrpSpPr>
      <p:grpSpPr>
        <a:xfrm>
          <a:off x="0" y="0"/>
          <a:ext cx="0" cy="0"/>
          <a:chOff x="0" y="0"/>
          <a:chExt cx="0" cy="0"/>
        </a:xfrm>
      </p:grpSpPr>
      <p:sp>
        <p:nvSpPr>
          <p:cNvPr id="2" name="Text 0"/>
          <p:cNvSpPr/>
          <p:nvPr/>
        </p:nvSpPr>
        <p:spPr>
          <a:xfrm>
            <a:off x="952500" y="952500"/>
            <a:ext cx="18021300" cy="3333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A8BBD6"/>
                </a:solidFill>
                <a:latin typeface="Courier New" pitchFamily="34" charset="0"/>
                <a:ea typeface="Courier New" pitchFamily="34" charset="-122"/>
                <a:cs typeface="Courier New" pitchFamily="34" charset="-120"/>
              </a:rPr>
              <a:t>PRIVACIDAD DEL DATO BIOMÉTRICO</a:t>
            </a:r>
            <a:endParaRPr lang="en-US" sz="1800" dirty="0"/>
          </a:p>
        </p:txBody>
      </p:sp>
      <p:sp>
        <p:nvSpPr>
          <p:cNvPr id="3" name="Text 1"/>
          <p:cNvSpPr/>
          <p:nvPr/>
        </p:nvSpPr>
        <p:spPr>
          <a:xfrm>
            <a:off x="952500" y="1476375"/>
            <a:ext cx="13735050" cy="1341090"/>
          </a:xfrm>
          <a:prstGeom prst="rect">
            <a:avLst/>
          </a:prstGeom>
          <a:noFill/>
          <a:ln/>
        </p:spPr>
        <p:txBody>
          <a:bodyPr wrap="square" lIns="25400" tIns="25400" rIns="25400" bIns="25400" rtlCol="0" anchor="t">
            <a:normAutofit/>
          </a:bodyPr>
          <a:lstStyle/>
          <a:p>
            <a:pPr algn="l" indent="0" marL="0">
              <a:lnSpc>
                <a:spcPct val="100588"/>
              </a:lnSpc>
              <a:buNone/>
            </a:pPr>
            <a:r>
              <a:rPr lang="en-US" sz="4500" b="1" spc="-67" kern="0" dirty="0">
                <a:solidFill>
                  <a:srgbClr val="F7F8FA"/>
                </a:solidFill>
                <a:latin typeface="Georgia" pitchFamily="34" charset="0"/>
                <a:ea typeface="Georgia" pitchFamily="34" charset="-122"/>
                <a:cs typeface="Georgia" pitchFamily="34" charset="-120"/>
              </a:rPr>
              <a:t>El dato facial es dato personal sensible y el modelo lo trata como tal</a:t>
            </a:r>
            <a:endParaRPr lang="en-US" sz="4500" dirty="0"/>
          </a:p>
        </p:txBody>
      </p:sp>
      <p:sp>
        <p:nvSpPr>
          <p:cNvPr id="4" name="Shape 2"/>
          <p:cNvSpPr/>
          <p:nvPr/>
        </p:nvSpPr>
        <p:spPr>
          <a:xfrm>
            <a:off x="952500" y="3541365"/>
            <a:ext cx="5105400" cy="19050"/>
          </a:xfrm>
          <a:prstGeom prst="rect">
            <a:avLst/>
          </a:prstGeom>
          <a:solidFill>
            <a:srgbClr val="6B87AD"/>
          </a:solidFill>
          <a:ln/>
        </p:spPr>
      </p:sp>
      <p:sp>
        <p:nvSpPr>
          <p:cNvPr id="5" name="Text 3"/>
          <p:cNvSpPr/>
          <p:nvPr/>
        </p:nvSpPr>
        <p:spPr>
          <a:xfrm>
            <a:off x="952500" y="3827115"/>
            <a:ext cx="5615940" cy="459060"/>
          </a:xfrm>
          <a:prstGeom prst="rect">
            <a:avLst/>
          </a:prstGeom>
          <a:noFill/>
          <a:ln/>
        </p:spPr>
        <p:txBody>
          <a:bodyPr wrap="square" lIns="25400" tIns="25400" rIns="25400" bIns="25400" rtlCol="0" anchor="t">
            <a:normAutofit/>
          </a:bodyPr>
          <a:lstStyle/>
          <a:p>
            <a:pPr algn="l" indent="0" marL="0">
              <a:lnSpc>
                <a:spcPct val="113333"/>
              </a:lnSpc>
              <a:buNone/>
            </a:pPr>
            <a:r>
              <a:rPr lang="en-US" sz="2550" dirty="0">
                <a:solidFill>
                  <a:srgbClr val="F7F8FA"/>
                </a:solidFill>
                <a:latin typeface="Arial" pitchFamily="34" charset="0"/>
                <a:ea typeface="Arial" pitchFamily="34" charset="-122"/>
                <a:cs typeface="Arial" pitchFamily="34" charset="-120"/>
              </a:rPr>
              <a:t>La base guarda referencias</a:t>
            </a:r>
            <a:endParaRPr lang="en-US" sz="2550" dirty="0"/>
          </a:p>
        </p:txBody>
      </p:sp>
      <p:sp>
        <p:nvSpPr>
          <p:cNvPr id="6" name="Text 4"/>
          <p:cNvSpPr/>
          <p:nvPr/>
        </p:nvSpPr>
        <p:spPr>
          <a:xfrm>
            <a:off x="952500" y="4419526"/>
            <a:ext cx="5258562" cy="1584722"/>
          </a:xfrm>
          <a:prstGeom prst="rect">
            <a:avLst/>
          </a:prstGeom>
          <a:noFill/>
          <a:ln/>
        </p:spPr>
        <p:txBody>
          <a:bodyPr wrap="square" lIns="25400" tIns="25400" rIns="25400" bIns="25400" rtlCol="0" anchor="t">
            <a:normAutofit/>
          </a:bodyPr>
          <a:lstStyle/>
          <a:p>
            <a:pPr algn="l" indent="0" marL="0">
              <a:lnSpc>
                <a:spcPct val="124923"/>
              </a:lnSpc>
              <a:buNone/>
            </a:pPr>
            <a:r>
              <a:rPr lang="en-US" sz="2100" dirty="0">
                <a:solidFill>
                  <a:srgbClr val="C6D3E5"/>
                </a:solidFill>
                <a:latin typeface="Arial" pitchFamily="34" charset="0"/>
                <a:ea typeface="Arial" pitchFamily="34" charset="-122"/>
                <a:cs typeface="Arial" pitchFamily="34" charset="-120"/>
              </a:rPr>
              <a:t>Ningún vector ni imagen se almacena en las tablas: solo el faiss_id y la ruta del objeto. El índice puede reconstruirse sin tocar el resto del modelo.</a:t>
            </a:r>
            <a:endParaRPr lang="en-US" sz="2100" dirty="0"/>
          </a:p>
        </p:txBody>
      </p:sp>
      <p:sp>
        <p:nvSpPr>
          <p:cNvPr id="7" name="Shape 5"/>
          <p:cNvSpPr/>
          <p:nvPr/>
        </p:nvSpPr>
        <p:spPr>
          <a:xfrm>
            <a:off x="6591300" y="3541365"/>
            <a:ext cx="5105400" cy="19050"/>
          </a:xfrm>
          <a:prstGeom prst="rect">
            <a:avLst/>
          </a:prstGeom>
          <a:solidFill>
            <a:srgbClr val="6B87AD"/>
          </a:solidFill>
          <a:ln/>
        </p:spPr>
      </p:sp>
      <p:sp>
        <p:nvSpPr>
          <p:cNvPr id="8" name="Text 6"/>
          <p:cNvSpPr/>
          <p:nvPr/>
        </p:nvSpPr>
        <p:spPr>
          <a:xfrm>
            <a:off x="6591300" y="3827115"/>
            <a:ext cx="5615940" cy="459060"/>
          </a:xfrm>
          <a:prstGeom prst="rect">
            <a:avLst/>
          </a:prstGeom>
          <a:noFill/>
          <a:ln/>
        </p:spPr>
        <p:txBody>
          <a:bodyPr wrap="square" lIns="25400" tIns="25400" rIns="25400" bIns="25400" rtlCol="0" anchor="t">
            <a:normAutofit/>
          </a:bodyPr>
          <a:lstStyle/>
          <a:p>
            <a:pPr algn="l" indent="0" marL="0">
              <a:lnSpc>
                <a:spcPct val="113333"/>
              </a:lnSpc>
              <a:buNone/>
            </a:pPr>
            <a:r>
              <a:rPr lang="en-US" sz="2550" dirty="0">
                <a:solidFill>
                  <a:srgbClr val="F7F8FA"/>
                </a:solidFill>
                <a:latin typeface="Arial" pitchFamily="34" charset="0"/>
                <a:ea typeface="Arial" pitchFamily="34" charset="-122"/>
                <a:cs typeface="Arial" pitchFamily="34" charset="-120"/>
              </a:rPr>
              <a:t>Bucket privado</a:t>
            </a:r>
            <a:endParaRPr lang="en-US" sz="2550" dirty="0"/>
          </a:p>
        </p:txBody>
      </p:sp>
      <p:sp>
        <p:nvSpPr>
          <p:cNvPr id="9" name="Text 7"/>
          <p:cNvSpPr/>
          <p:nvPr/>
        </p:nvSpPr>
        <p:spPr>
          <a:xfrm>
            <a:off x="6591300" y="4419526"/>
            <a:ext cx="5258562" cy="1584722"/>
          </a:xfrm>
          <a:prstGeom prst="rect">
            <a:avLst/>
          </a:prstGeom>
          <a:noFill/>
          <a:ln/>
        </p:spPr>
        <p:txBody>
          <a:bodyPr wrap="square" lIns="25400" tIns="25400" rIns="25400" bIns="25400" rtlCol="0" anchor="t">
            <a:normAutofit/>
          </a:bodyPr>
          <a:lstStyle/>
          <a:p>
            <a:pPr algn="l" indent="0" marL="0">
              <a:lnSpc>
                <a:spcPct val="124923"/>
              </a:lnSpc>
              <a:buNone/>
            </a:pPr>
            <a:r>
              <a:rPr lang="en-US" sz="2100" dirty="0">
                <a:solidFill>
                  <a:srgbClr val="C6D3E5"/>
                </a:solidFill>
                <a:latin typeface="Arial" pitchFamily="34" charset="0"/>
                <a:ea typeface="Arial" pitchFamily="34" charset="-122"/>
                <a:cs typeface="Arial" pitchFamily="34" charset="-120"/>
              </a:rPr>
              <a:t>Ningún objeto es público: el acceso es por URL firmada de vigencia corta y los recortes de rostro se eliminan al cumplir su retención.</a:t>
            </a:r>
            <a:endParaRPr lang="en-US" sz="2100" dirty="0"/>
          </a:p>
        </p:txBody>
      </p:sp>
      <p:sp>
        <p:nvSpPr>
          <p:cNvPr id="10" name="Shape 8"/>
          <p:cNvSpPr/>
          <p:nvPr/>
        </p:nvSpPr>
        <p:spPr>
          <a:xfrm>
            <a:off x="12230100" y="3541365"/>
            <a:ext cx="5105400" cy="19050"/>
          </a:xfrm>
          <a:prstGeom prst="rect">
            <a:avLst/>
          </a:prstGeom>
          <a:solidFill>
            <a:srgbClr val="6B87AD"/>
          </a:solidFill>
          <a:ln/>
        </p:spPr>
      </p:sp>
      <p:sp>
        <p:nvSpPr>
          <p:cNvPr id="11" name="Text 9"/>
          <p:cNvSpPr/>
          <p:nvPr/>
        </p:nvSpPr>
        <p:spPr>
          <a:xfrm>
            <a:off x="12230100" y="3827115"/>
            <a:ext cx="5615940" cy="459060"/>
          </a:xfrm>
          <a:prstGeom prst="rect">
            <a:avLst/>
          </a:prstGeom>
          <a:noFill/>
          <a:ln/>
        </p:spPr>
        <p:txBody>
          <a:bodyPr wrap="square" lIns="25400" tIns="25400" rIns="25400" bIns="25400" rtlCol="0" anchor="t">
            <a:normAutofit/>
          </a:bodyPr>
          <a:lstStyle/>
          <a:p>
            <a:pPr algn="l" indent="0" marL="0">
              <a:lnSpc>
                <a:spcPct val="113333"/>
              </a:lnSpc>
              <a:buNone/>
            </a:pPr>
            <a:r>
              <a:rPr lang="en-US" sz="2550" dirty="0">
                <a:solidFill>
                  <a:srgbClr val="F7F8FA"/>
                </a:solidFill>
                <a:latin typeface="Arial" pitchFamily="34" charset="0"/>
                <a:ea typeface="Arial" pitchFamily="34" charset="-122"/>
                <a:cs typeface="Arial" pitchFamily="34" charset="-120"/>
              </a:rPr>
              <a:t>Consentimiento y rol</a:t>
            </a:r>
            <a:endParaRPr lang="en-US" sz="2550" dirty="0"/>
          </a:p>
        </p:txBody>
      </p:sp>
      <p:sp>
        <p:nvSpPr>
          <p:cNvPr id="12" name="Text 10"/>
          <p:cNvSpPr/>
          <p:nvPr/>
        </p:nvSpPr>
        <p:spPr>
          <a:xfrm>
            <a:off x="12230100" y="4419526"/>
            <a:ext cx="5258562" cy="1584722"/>
          </a:xfrm>
          <a:prstGeom prst="rect">
            <a:avLst/>
          </a:prstGeom>
          <a:noFill/>
          <a:ln/>
        </p:spPr>
        <p:txBody>
          <a:bodyPr wrap="square" lIns="25400" tIns="25400" rIns="25400" bIns="25400" rtlCol="0" anchor="t">
            <a:normAutofit/>
          </a:bodyPr>
          <a:lstStyle/>
          <a:p>
            <a:pPr algn="l" indent="0" marL="0">
              <a:lnSpc>
                <a:spcPct val="124923"/>
              </a:lnSpc>
              <a:buNone/>
            </a:pPr>
            <a:r>
              <a:rPr lang="en-US" sz="2100" dirty="0">
                <a:solidFill>
                  <a:srgbClr val="C6D3E5"/>
                </a:solidFill>
                <a:latin typeface="Arial" pitchFamily="34" charset="0"/>
                <a:ea typeface="Arial" pitchFamily="34" charset="-122"/>
                <a:cs typeface="Arial" pitchFamily="34" charset="-120"/>
              </a:rPr>
              <a:t>Sin consentimiento vigente el alumno usa el pase de lista manual. El docente ve solo sus grupos y la bitácora registra cada consulta.</a:t>
            </a:r>
            <a:endParaRPr lang="en-US" sz="2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952500" y="952500"/>
            <a:ext cx="18021300" cy="333375"/>
          </a:xfrm>
          <a:prstGeom prst="rect">
            <a:avLst/>
          </a:prstGeom>
          <a:noFill/>
          <a:ln/>
        </p:spPr>
        <p:txBody>
          <a:bodyPr wrap="square" lIns="25400" tIns="25400" rIns="25400" bIns="25400" rtlCol="0" anchor="t">
            <a:normAutofit/>
          </a:bodyPr>
          <a:lstStyle/>
          <a:p>
            <a:pPr algn="l" indent="0" marL="0">
              <a:buNone/>
            </a:pPr>
            <a:r>
              <a:rPr lang="en-US" sz="1800" spc="288" kern="0" dirty="0">
                <a:solidFill>
                  <a:srgbClr val="1F3A5F"/>
                </a:solidFill>
                <a:latin typeface="Courier New" pitchFamily="34" charset="0"/>
                <a:ea typeface="Courier New" pitchFamily="34" charset="-122"/>
                <a:cs typeface="Courier New" pitchFamily="34" charset="-120"/>
              </a:rPr>
              <a:t>SIGUIENTES PASOS</a:t>
            </a:r>
            <a:endParaRPr lang="en-US" sz="1800" dirty="0"/>
          </a:p>
        </p:txBody>
      </p:sp>
      <p:sp>
        <p:nvSpPr>
          <p:cNvPr id="3" name="Text 1"/>
          <p:cNvSpPr/>
          <p:nvPr/>
        </p:nvSpPr>
        <p:spPr>
          <a:xfrm>
            <a:off x="952500" y="1476375"/>
            <a:ext cx="14668500" cy="689595"/>
          </a:xfrm>
          <a:prstGeom prst="rect">
            <a:avLst/>
          </a:prstGeom>
          <a:noFill/>
          <a:ln/>
        </p:spPr>
        <p:txBody>
          <a:bodyPr wrap="square" lIns="25400" tIns="25400" rIns="25400" bIns="25400" rtlCol="0" anchor="t">
            <a:normAutofit/>
          </a:bodyPr>
          <a:lstStyle/>
          <a:p>
            <a:pPr algn="l" indent="0" marL="0">
              <a:lnSpc>
                <a:spcPct val="100588"/>
              </a:lnSpc>
              <a:buNone/>
            </a:pPr>
            <a:r>
              <a:rPr lang="en-US" sz="4500" b="1" spc="-67" kern="0" dirty="0">
                <a:solidFill>
                  <a:srgbClr val="16181D"/>
                </a:solidFill>
                <a:latin typeface="Georgia" pitchFamily="34" charset="0"/>
                <a:ea typeface="Georgia" pitchFamily="34" charset="-122"/>
                <a:cs typeface="Georgia" pitchFamily="34" charset="-120"/>
              </a:rPr>
              <a:t>De este modelo conceptual al esquema físico</a:t>
            </a:r>
            <a:endParaRPr lang="en-US" sz="4500" dirty="0"/>
          </a:p>
        </p:txBody>
      </p:sp>
      <p:sp>
        <p:nvSpPr>
          <p:cNvPr id="4" name="Shape 2"/>
          <p:cNvSpPr/>
          <p:nvPr/>
        </p:nvSpPr>
        <p:spPr>
          <a:xfrm>
            <a:off x="952500" y="2927970"/>
            <a:ext cx="3810000" cy="19050"/>
          </a:xfrm>
          <a:prstGeom prst="rect">
            <a:avLst/>
          </a:prstGeom>
          <a:solidFill>
            <a:srgbClr val="1F3A5F"/>
          </a:solidFill>
          <a:ln/>
        </p:spPr>
      </p:sp>
      <p:sp>
        <p:nvSpPr>
          <p:cNvPr id="5" name="Text 3"/>
          <p:cNvSpPr/>
          <p:nvPr/>
        </p:nvSpPr>
        <p:spPr>
          <a:xfrm>
            <a:off x="952500" y="3213720"/>
            <a:ext cx="4191000" cy="571500"/>
          </a:xfrm>
          <a:prstGeom prst="rect">
            <a:avLst/>
          </a:prstGeom>
          <a:noFill/>
          <a:ln/>
        </p:spPr>
        <p:txBody>
          <a:bodyPr wrap="square" lIns="25400" tIns="25400" rIns="25400" bIns="25400" rtlCol="0" anchor="t">
            <a:normAutofit/>
          </a:bodyPr>
          <a:lstStyle/>
          <a:p>
            <a:pPr algn="l" indent="0" marL="0">
              <a:lnSpc>
                <a:spcPct val="87500"/>
              </a:lnSpc>
              <a:buNone/>
            </a:pPr>
            <a:r>
              <a:rPr lang="en-US" sz="4200" b="1" dirty="0">
                <a:solidFill>
                  <a:srgbClr val="1F3A5F"/>
                </a:solidFill>
                <a:latin typeface="Georgia" pitchFamily="34" charset="0"/>
                <a:ea typeface="Georgia" pitchFamily="34" charset="-122"/>
                <a:cs typeface="Georgia" pitchFamily="34" charset="-120"/>
              </a:rPr>
              <a:t>1</a:t>
            </a:r>
            <a:endParaRPr lang="en-US" sz="4200" dirty="0"/>
          </a:p>
        </p:txBody>
      </p:sp>
      <p:sp>
        <p:nvSpPr>
          <p:cNvPr id="6" name="Text 4"/>
          <p:cNvSpPr/>
          <p:nvPr/>
        </p:nvSpPr>
        <p:spPr>
          <a:xfrm>
            <a:off x="952500" y="3918570"/>
            <a:ext cx="4191000" cy="423863"/>
          </a:xfrm>
          <a:prstGeom prst="rect">
            <a:avLst/>
          </a:prstGeom>
          <a:noFill/>
          <a:ln/>
        </p:spPr>
        <p:txBody>
          <a:bodyPr wrap="square" lIns="25400" tIns="25400" rIns="25400" bIns="25400" rtlCol="0" anchor="t">
            <a:normAutofit/>
          </a:bodyPr>
          <a:lstStyle/>
          <a:p>
            <a:pPr algn="l" indent="0" marL="0">
              <a:lnSpc>
                <a:spcPct val="117391"/>
              </a:lnSpc>
              <a:buNone/>
            </a:pPr>
            <a:r>
              <a:rPr lang="en-US" sz="2250" dirty="0">
                <a:solidFill>
                  <a:srgbClr val="16181D"/>
                </a:solidFill>
                <a:latin typeface="Arial" pitchFamily="34" charset="0"/>
                <a:ea typeface="Arial" pitchFamily="34" charset="-122"/>
                <a:cs typeface="Arial" pitchFamily="34" charset="-120"/>
              </a:rPr>
              <a:t>Normalización</a:t>
            </a:r>
            <a:endParaRPr lang="en-US" sz="2250" dirty="0"/>
          </a:p>
        </p:txBody>
      </p:sp>
      <p:sp>
        <p:nvSpPr>
          <p:cNvPr id="7" name="Text 5"/>
          <p:cNvSpPr/>
          <p:nvPr/>
        </p:nvSpPr>
        <p:spPr>
          <a:xfrm>
            <a:off x="952500" y="4475783"/>
            <a:ext cx="3924300" cy="1115244"/>
          </a:xfrm>
          <a:prstGeom prst="rect">
            <a:avLst/>
          </a:prstGeom>
          <a:noFill/>
          <a:ln/>
        </p:spPr>
        <p:txBody>
          <a:bodyPr wrap="square" lIns="25400" tIns="25400" rIns="25400" bIns="25400" rtlCol="0" anchor="t">
            <a:normAutofit/>
          </a:bodyPr>
          <a:lstStyle/>
          <a:p>
            <a:pPr algn="l" indent="0" marL="0">
              <a:lnSpc>
                <a:spcPct val="125667"/>
              </a:lnSpc>
              <a:buNone/>
            </a:pPr>
            <a:r>
              <a:rPr lang="en-US" sz="1950" dirty="0">
                <a:solidFill>
                  <a:srgbClr val="5A6070"/>
                </a:solidFill>
                <a:latin typeface="Arial" pitchFamily="34" charset="0"/>
                <a:ea typeface="Arial" pitchFamily="34" charset="-122"/>
                <a:cs typeface="Arial" pitchFamily="34" charset="-120"/>
              </a:rPr>
              <a:t>Revisar el modelo hasta tercera forma normal y cerrar los dominios de cada ENUM.</a:t>
            </a:r>
            <a:endParaRPr lang="en-US" sz="1950" dirty="0"/>
          </a:p>
        </p:txBody>
      </p:sp>
      <p:sp>
        <p:nvSpPr>
          <p:cNvPr id="8" name="Shape 6"/>
          <p:cNvSpPr/>
          <p:nvPr/>
        </p:nvSpPr>
        <p:spPr>
          <a:xfrm>
            <a:off x="5143500" y="2927970"/>
            <a:ext cx="3810000" cy="19050"/>
          </a:xfrm>
          <a:prstGeom prst="rect">
            <a:avLst/>
          </a:prstGeom>
          <a:solidFill>
            <a:srgbClr val="1F3A5F"/>
          </a:solidFill>
          <a:ln/>
        </p:spPr>
      </p:sp>
      <p:sp>
        <p:nvSpPr>
          <p:cNvPr id="9" name="Text 7"/>
          <p:cNvSpPr/>
          <p:nvPr/>
        </p:nvSpPr>
        <p:spPr>
          <a:xfrm>
            <a:off x="5143500" y="3213720"/>
            <a:ext cx="4191000" cy="571500"/>
          </a:xfrm>
          <a:prstGeom prst="rect">
            <a:avLst/>
          </a:prstGeom>
          <a:noFill/>
          <a:ln/>
        </p:spPr>
        <p:txBody>
          <a:bodyPr wrap="square" lIns="25400" tIns="25400" rIns="25400" bIns="25400" rtlCol="0" anchor="t">
            <a:normAutofit/>
          </a:bodyPr>
          <a:lstStyle/>
          <a:p>
            <a:pPr algn="l" indent="0" marL="0">
              <a:lnSpc>
                <a:spcPct val="87500"/>
              </a:lnSpc>
              <a:buNone/>
            </a:pPr>
            <a:r>
              <a:rPr lang="en-US" sz="4200" b="1" dirty="0">
                <a:solidFill>
                  <a:srgbClr val="1F3A5F"/>
                </a:solidFill>
                <a:latin typeface="Georgia" pitchFamily="34" charset="0"/>
                <a:ea typeface="Georgia" pitchFamily="34" charset="-122"/>
                <a:cs typeface="Georgia" pitchFamily="34" charset="-120"/>
              </a:rPr>
              <a:t>2</a:t>
            </a:r>
            <a:endParaRPr lang="en-US" sz="4200" dirty="0"/>
          </a:p>
        </p:txBody>
      </p:sp>
      <p:sp>
        <p:nvSpPr>
          <p:cNvPr id="10" name="Text 8"/>
          <p:cNvSpPr/>
          <p:nvPr/>
        </p:nvSpPr>
        <p:spPr>
          <a:xfrm>
            <a:off x="5143500" y="3918570"/>
            <a:ext cx="4191000" cy="423863"/>
          </a:xfrm>
          <a:prstGeom prst="rect">
            <a:avLst/>
          </a:prstGeom>
          <a:noFill/>
          <a:ln/>
        </p:spPr>
        <p:txBody>
          <a:bodyPr wrap="square" lIns="25400" tIns="25400" rIns="25400" bIns="25400" rtlCol="0" anchor="t">
            <a:normAutofit/>
          </a:bodyPr>
          <a:lstStyle/>
          <a:p>
            <a:pPr algn="l" indent="0" marL="0">
              <a:lnSpc>
                <a:spcPct val="117391"/>
              </a:lnSpc>
              <a:buNone/>
            </a:pPr>
            <a:r>
              <a:rPr lang="en-US" sz="2250" dirty="0">
                <a:solidFill>
                  <a:srgbClr val="16181D"/>
                </a:solidFill>
                <a:latin typeface="Arial" pitchFamily="34" charset="0"/>
                <a:ea typeface="Arial" pitchFamily="34" charset="-122"/>
                <a:cs typeface="Arial" pitchFamily="34" charset="-120"/>
              </a:rPr>
              <a:t>Esquema físico</a:t>
            </a:r>
            <a:endParaRPr lang="en-US" sz="2250" dirty="0"/>
          </a:p>
        </p:txBody>
      </p:sp>
      <p:sp>
        <p:nvSpPr>
          <p:cNvPr id="11" name="Text 9"/>
          <p:cNvSpPr/>
          <p:nvPr/>
        </p:nvSpPr>
        <p:spPr>
          <a:xfrm>
            <a:off x="5143500" y="4475783"/>
            <a:ext cx="3924300" cy="1115244"/>
          </a:xfrm>
          <a:prstGeom prst="rect">
            <a:avLst/>
          </a:prstGeom>
          <a:noFill/>
          <a:ln/>
        </p:spPr>
        <p:txBody>
          <a:bodyPr wrap="square" lIns="25400" tIns="25400" rIns="25400" bIns="25400" rtlCol="0" anchor="t">
            <a:normAutofit/>
          </a:bodyPr>
          <a:lstStyle/>
          <a:p>
            <a:pPr algn="l" indent="0" marL="0">
              <a:lnSpc>
                <a:spcPct val="125667"/>
              </a:lnSpc>
              <a:buNone/>
            </a:pPr>
            <a:r>
              <a:rPr lang="en-US" sz="1950" dirty="0">
                <a:solidFill>
                  <a:srgbClr val="5A6070"/>
                </a:solidFill>
                <a:latin typeface="Arial" pitchFamily="34" charset="0"/>
                <a:ea typeface="Arial" pitchFamily="34" charset="-122"/>
                <a:cs typeface="Arial" pitchFamily="34" charset="-120"/>
              </a:rPr>
              <a:t>Escribir el script de creación con llaves, índices y restricciones de integridad.</a:t>
            </a:r>
            <a:endParaRPr lang="en-US" sz="1950" dirty="0"/>
          </a:p>
        </p:txBody>
      </p:sp>
      <p:sp>
        <p:nvSpPr>
          <p:cNvPr id="12" name="Shape 10"/>
          <p:cNvSpPr/>
          <p:nvPr/>
        </p:nvSpPr>
        <p:spPr>
          <a:xfrm>
            <a:off x="9334500" y="2927970"/>
            <a:ext cx="3810000" cy="19050"/>
          </a:xfrm>
          <a:prstGeom prst="rect">
            <a:avLst/>
          </a:prstGeom>
          <a:solidFill>
            <a:srgbClr val="1F3A5F"/>
          </a:solidFill>
          <a:ln/>
        </p:spPr>
      </p:sp>
      <p:sp>
        <p:nvSpPr>
          <p:cNvPr id="13" name="Text 11"/>
          <p:cNvSpPr/>
          <p:nvPr/>
        </p:nvSpPr>
        <p:spPr>
          <a:xfrm>
            <a:off x="9334500" y="3213720"/>
            <a:ext cx="4191000" cy="571500"/>
          </a:xfrm>
          <a:prstGeom prst="rect">
            <a:avLst/>
          </a:prstGeom>
          <a:noFill/>
          <a:ln/>
        </p:spPr>
        <p:txBody>
          <a:bodyPr wrap="square" lIns="25400" tIns="25400" rIns="25400" bIns="25400" rtlCol="0" anchor="t">
            <a:normAutofit/>
          </a:bodyPr>
          <a:lstStyle/>
          <a:p>
            <a:pPr algn="l" indent="0" marL="0">
              <a:lnSpc>
                <a:spcPct val="87500"/>
              </a:lnSpc>
              <a:buNone/>
            </a:pPr>
            <a:r>
              <a:rPr lang="en-US" sz="4200" b="1" dirty="0">
                <a:solidFill>
                  <a:srgbClr val="1F3A5F"/>
                </a:solidFill>
                <a:latin typeface="Georgia" pitchFamily="34" charset="0"/>
                <a:ea typeface="Georgia" pitchFamily="34" charset="-122"/>
                <a:cs typeface="Georgia" pitchFamily="34" charset="-120"/>
              </a:rPr>
              <a:t>3</a:t>
            </a:r>
            <a:endParaRPr lang="en-US" sz="4200" dirty="0"/>
          </a:p>
        </p:txBody>
      </p:sp>
      <p:sp>
        <p:nvSpPr>
          <p:cNvPr id="14" name="Text 12"/>
          <p:cNvSpPr/>
          <p:nvPr/>
        </p:nvSpPr>
        <p:spPr>
          <a:xfrm>
            <a:off x="9334500" y="3918570"/>
            <a:ext cx="4191000" cy="423863"/>
          </a:xfrm>
          <a:prstGeom prst="rect">
            <a:avLst/>
          </a:prstGeom>
          <a:noFill/>
          <a:ln/>
        </p:spPr>
        <p:txBody>
          <a:bodyPr wrap="square" lIns="25400" tIns="25400" rIns="25400" bIns="25400" rtlCol="0" anchor="t">
            <a:normAutofit/>
          </a:bodyPr>
          <a:lstStyle/>
          <a:p>
            <a:pPr algn="l" indent="0" marL="0">
              <a:lnSpc>
                <a:spcPct val="117391"/>
              </a:lnSpc>
              <a:buNone/>
            </a:pPr>
            <a:r>
              <a:rPr lang="en-US" sz="2250" dirty="0">
                <a:solidFill>
                  <a:srgbClr val="16181D"/>
                </a:solidFill>
                <a:latin typeface="Arial" pitchFamily="34" charset="0"/>
                <a:ea typeface="Arial" pitchFamily="34" charset="-122"/>
                <a:cs typeface="Arial" pitchFamily="34" charset="-120"/>
              </a:rPr>
              <a:t>Calibración</a:t>
            </a:r>
            <a:endParaRPr lang="en-US" sz="2250" dirty="0"/>
          </a:p>
        </p:txBody>
      </p:sp>
      <p:sp>
        <p:nvSpPr>
          <p:cNvPr id="15" name="Text 13"/>
          <p:cNvSpPr/>
          <p:nvPr/>
        </p:nvSpPr>
        <p:spPr>
          <a:xfrm>
            <a:off x="9334500" y="4475783"/>
            <a:ext cx="3924300" cy="1115244"/>
          </a:xfrm>
          <a:prstGeom prst="rect">
            <a:avLst/>
          </a:prstGeom>
          <a:noFill/>
          <a:ln/>
        </p:spPr>
        <p:txBody>
          <a:bodyPr wrap="square" lIns="25400" tIns="25400" rIns="25400" bIns="25400" rtlCol="0" anchor="t">
            <a:normAutofit/>
          </a:bodyPr>
          <a:lstStyle/>
          <a:p>
            <a:pPr algn="l" indent="0" marL="0">
              <a:lnSpc>
                <a:spcPct val="125667"/>
              </a:lnSpc>
              <a:buNone/>
            </a:pPr>
            <a:r>
              <a:rPr lang="en-US" sz="1950" dirty="0">
                <a:solidFill>
                  <a:srgbClr val="5A6070"/>
                </a:solidFill>
                <a:latin typeface="Arial" pitchFamily="34" charset="0"/>
                <a:ea typeface="Arial" pitchFamily="34" charset="-122"/>
                <a:cs typeface="Arial" pitchFamily="34" charset="-120"/>
              </a:rPr>
              <a:t>Ajustar intervalo de muestreo, umbral de similitud y mínimo de detecciones con datos reales.</a:t>
            </a:r>
            <a:endParaRPr lang="en-US" sz="1950" dirty="0"/>
          </a:p>
        </p:txBody>
      </p:sp>
      <p:sp>
        <p:nvSpPr>
          <p:cNvPr id="16" name="Shape 14"/>
          <p:cNvSpPr/>
          <p:nvPr/>
        </p:nvSpPr>
        <p:spPr>
          <a:xfrm>
            <a:off x="13525500" y="2927970"/>
            <a:ext cx="3810000" cy="19050"/>
          </a:xfrm>
          <a:prstGeom prst="rect">
            <a:avLst/>
          </a:prstGeom>
          <a:solidFill>
            <a:srgbClr val="1F3A5F"/>
          </a:solidFill>
          <a:ln/>
        </p:spPr>
      </p:sp>
      <p:sp>
        <p:nvSpPr>
          <p:cNvPr id="17" name="Text 15"/>
          <p:cNvSpPr/>
          <p:nvPr/>
        </p:nvSpPr>
        <p:spPr>
          <a:xfrm>
            <a:off x="13525500" y="3213720"/>
            <a:ext cx="4191000" cy="571500"/>
          </a:xfrm>
          <a:prstGeom prst="rect">
            <a:avLst/>
          </a:prstGeom>
          <a:noFill/>
          <a:ln/>
        </p:spPr>
        <p:txBody>
          <a:bodyPr wrap="square" lIns="25400" tIns="25400" rIns="25400" bIns="25400" rtlCol="0" anchor="t">
            <a:normAutofit/>
          </a:bodyPr>
          <a:lstStyle/>
          <a:p>
            <a:pPr algn="l" indent="0" marL="0">
              <a:lnSpc>
                <a:spcPct val="87500"/>
              </a:lnSpc>
              <a:buNone/>
            </a:pPr>
            <a:r>
              <a:rPr lang="en-US" sz="4200" b="1" dirty="0">
                <a:solidFill>
                  <a:srgbClr val="1F3A5F"/>
                </a:solidFill>
                <a:latin typeface="Georgia" pitchFamily="34" charset="0"/>
                <a:ea typeface="Georgia" pitchFamily="34" charset="-122"/>
                <a:cs typeface="Georgia" pitchFamily="34" charset="-120"/>
              </a:rPr>
              <a:t>4</a:t>
            </a:r>
            <a:endParaRPr lang="en-US" sz="4200" dirty="0"/>
          </a:p>
        </p:txBody>
      </p:sp>
      <p:sp>
        <p:nvSpPr>
          <p:cNvPr id="18" name="Text 16"/>
          <p:cNvSpPr/>
          <p:nvPr/>
        </p:nvSpPr>
        <p:spPr>
          <a:xfrm>
            <a:off x="13525500" y="3918570"/>
            <a:ext cx="4191000" cy="423863"/>
          </a:xfrm>
          <a:prstGeom prst="rect">
            <a:avLst/>
          </a:prstGeom>
          <a:noFill/>
          <a:ln/>
        </p:spPr>
        <p:txBody>
          <a:bodyPr wrap="square" lIns="25400" tIns="25400" rIns="25400" bIns="25400" rtlCol="0" anchor="t">
            <a:normAutofit/>
          </a:bodyPr>
          <a:lstStyle/>
          <a:p>
            <a:pPr algn="l" indent="0" marL="0">
              <a:lnSpc>
                <a:spcPct val="117391"/>
              </a:lnSpc>
              <a:buNone/>
            </a:pPr>
            <a:r>
              <a:rPr lang="en-US" sz="2250" dirty="0">
                <a:solidFill>
                  <a:srgbClr val="16181D"/>
                </a:solidFill>
                <a:latin typeface="Arial" pitchFamily="34" charset="0"/>
                <a:ea typeface="Arial" pitchFamily="34" charset="-122"/>
                <a:cs typeface="Arial" pitchFamily="34" charset="-120"/>
              </a:rPr>
              <a:t>Servicio y lenguaje</a:t>
            </a:r>
            <a:endParaRPr lang="en-US" sz="2250" dirty="0"/>
          </a:p>
        </p:txBody>
      </p:sp>
      <p:sp>
        <p:nvSpPr>
          <p:cNvPr id="19" name="Text 17"/>
          <p:cNvSpPr/>
          <p:nvPr/>
        </p:nvSpPr>
        <p:spPr>
          <a:xfrm>
            <a:off x="13525500" y="4475783"/>
            <a:ext cx="3924300" cy="1115244"/>
          </a:xfrm>
          <a:prstGeom prst="rect">
            <a:avLst/>
          </a:prstGeom>
          <a:noFill/>
          <a:ln/>
        </p:spPr>
        <p:txBody>
          <a:bodyPr wrap="square" lIns="25400" tIns="25400" rIns="25400" bIns="25400" rtlCol="0" anchor="t">
            <a:normAutofit/>
          </a:bodyPr>
          <a:lstStyle/>
          <a:p>
            <a:pPr algn="l" indent="0" marL="0">
              <a:lnSpc>
                <a:spcPct val="125667"/>
              </a:lnSpc>
              <a:buNone/>
            </a:pPr>
            <a:r>
              <a:rPr lang="en-US" sz="1950" dirty="0">
                <a:solidFill>
                  <a:srgbClr val="5A6070"/>
                </a:solidFill>
                <a:latin typeface="Arial" pitchFamily="34" charset="0"/>
                <a:ea typeface="Arial" pitchFamily="34" charset="-122"/>
                <a:cs typeface="Arial" pitchFamily="34" charset="-120"/>
              </a:rPr>
              <a:t>Elegir el lenguaje del servicio de reconocimiento y probar la carga del índice.</a:t>
            </a:r>
            <a:endParaRPr lang="en-US" sz="1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2026-08-25T14:16:07Z</dcterms:created>
  <dcterms:modified xsi:type="dcterms:W3CDTF">2026-08-25T14:16:07Z</dcterms:modified>
</cp:coreProperties>
</file>